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6"/>
  </p:notesMasterIdLst>
  <p:sldIdLst>
    <p:sldId id="256" r:id="rId2"/>
    <p:sldId id="326" r:id="rId3"/>
    <p:sldId id="270" r:id="rId4"/>
    <p:sldId id="311" r:id="rId5"/>
    <p:sldId id="343" r:id="rId6"/>
    <p:sldId id="348" r:id="rId7"/>
    <p:sldId id="342" r:id="rId8"/>
    <p:sldId id="258" r:id="rId9"/>
    <p:sldId id="350" r:id="rId10"/>
    <p:sldId id="340" r:id="rId11"/>
    <p:sldId id="313" r:id="rId12"/>
    <p:sldId id="339" r:id="rId13"/>
    <p:sldId id="329" r:id="rId14"/>
    <p:sldId id="338" r:id="rId15"/>
    <p:sldId id="308" r:id="rId16"/>
    <p:sldId id="333" r:id="rId17"/>
    <p:sldId id="334" r:id="rId18"/>
    <p:sldId id="335" r:id="rId19"/>
    <p:sldId id="336" r:id="rId20"/>
    <p:sldId id="337" r:id="rId21"/>
    <p:sldId id="269" r:id="rId22"/>
    <p:sldId id="346" r:id="rId23"/>
    <p:sldId id="301" r:id="rId24"/>
    <p:sldId id="275" r:id="rId25"/>
  </p:sldIdLst>
  <p:sldSz cx="9144000" cy="5143500" type="screen16x9"/>
  <p:notesSz cx="6858000" cy="9144000"/>
  <p:embeddedFontLst>
    <p:embeddedFont>
      <p:font typeface="Anaheim" panose="02000503000000000000" pitchFamily="2" charset="77"/>
      <p:regular r:id="rId27"/>
    </p:embeddedFont>
    <p:embeddedFont>
      <p:font typeface="Bebas Neue" panose="020B0606020202050201" pitchFamily="34" charset="77"/>
      <p:regular r:id="rId28"/>
    </p:embeddedFont>
    <p:embeddedFont>
      <p:font typeface="Nunito Light" panose="020F0302020204030204" pitchFamily="34" charset="0"/>
      <p:regular r:id="rId29"/>
      <p:italic r:id="rId30"/>
    </p:embeddedFont>
    <p:embeddedFont>
      <p:font typeface="Poppins Medium" panose="020B0604020202020204" pitchFamily="34" charset="0"/>
      <p:regular r:id="rId31"/>
      <p:bold r:id="rId32"/>
      <p:italic r:id="rId33"/>
      <p:boldItalic r:id="rId34"/>
    </p:embeddedFont>
    <p:embeddedFont>
      <p:font typeface="Quicksand" pitchFamily="2" charset="77"/>
      <p:regular r:id="rId35"/>
      <p:bold r:id="rId36"/>
    </p:embeddedFont>
    <p:embeddedFont>
      <p:font typeface="Quicksand Medium" pitchFamily="2" charset="77"/>
      <p:regular r:id="rId37"/>
      <p:bold r:id="rId38"/>
    </p:embeddedFont>
    <p:embeddedFont>
      <p:font typeface="Quicksand SemiBold" pitchFamily="2" charset="77"/>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100"/>
    <a:srgbClr val="53CFA2"/>
    <a:srgbClr val="00B0F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E1990F-7493-410F-B343-7341C0AC1395}">
  <a:tblStyle styleId="{A0E1990F-7493-410F-B343-7341C0AC13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26"/>
    <p:restoredTop sz="95928"/>
  </p:normalViewPr>
  <p:slideViewPr>
    <p:cSldViewPr snapToGrid="0">
      <p:cViewPr>
        <p:scale>
          <a:sx n="120" d="100"/>
          <a:sy n="120" d="100"/>
        </p:scale>
        <p:origin x="1176" y="720"/>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seattle.gov/dataset/2020-Building-Energy-Benchmarking/auez-gz8p/data"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kaggle.com/datasets/city-of-seattle/sea-building-energy-benchmarkin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localhost:8843/lab/tree/Desktop/%F0%9F%9F%A6/Alternance_Openclassrooms/Projet4/final/final/Agrech_Laure_1_notebook_exploratoire_032023.ipynb#suppression-des-colonnes-vides-a-plus-de-80%"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R="0" algn="l" rtl="0" fontAlgn="ctr">
              <a:spcBef>
                <a:spcPts val="0"/>
              </a:spcBef>
              <a:spcAft>
                <a:spcPts val="0"/>
              </a:spcAft>
            </a:pPr>
            <a:r>
              <a:rPr lang="fr-FR" sz="1800" b="0" i="0" u="none" strike="noStrike" dirty="0">
                <a:solidFill>
                  <a:srgbClr val="C57863"/>
                </a:solidFill>
                <a:effectLst/>
                <a:latin typeface="Quicksand Medium" pitchFamily="2" charset="77"/>
                <a:ea typeface="Arial" panose="020B0604020202020204" pitchFamily="34" charset="0"/>
                <a:cs typeface="Arial" panose="020B0604020202020204" pitchFamily="34" charset="0"/>
              </a:rPr>
              <a:t>présentation de l’objectif</a:t>
            </a:r>
          </a:p>
          <a:p>
            <a:pPr marR="0" algn="l" rtl="0" fontAlgn="ctr">
              <a:spcBef>
                <a:spcPts val="0"/>
              </a:spcBef>
              <a:spcAft>
                <a:spcPts val="0"/>
              </a:spcAft>
            </a:pPr>
            <a:endParaRPr lang="fr-FR" sz="1800" b="0" i="0" u="none" strike="noStrike" dirty="0">
              <a:solidFill>
                <a:srgbClr val="C57863"/>
              </a:solidFill>
              <a:effectLst/>
              <a:latin typeface="Quicksand Medium" pitchFamily="2" charset="77"/>
              <a:cs typeface="Arial" panose="020B0604020202020204" pitchFamily="34" charset="0"/>
            </a:endParaRPr>
          </a:p>
          <a:p>
            <a:pPr marL="285750" indent="-285750">
              <a:buFont typeface="Wingdings" panose="05000000000000000000" pitchFamily="2" charset="2"/>
              <a:buChar char="ü"/>
            </a:pPr>
            <a:r>
              <a:rPr lang="fr-FR" sz="3200" dirty="0"/>
              <a:t> </a:t>
            </a:r>
            <a:r>
              <a:rPr lang="fr-FR" sz="1800" dirty="0"/>
              <a:t>Prédire la Consommation d’énergie et les émissions de bâtiments de la ville de Seattle (USA)</a:t>
            </a:r>
          </a:p>
          <a:p>
            <a:pPr marL="285750" indent="-285750">
              <a:buFont typeface="Wingdings" panose="05000000000000000000" pitchFamily="2" charset="2"/>
              <a:buChar char="ü"/>
            </a:pPr>
            <a:endParaRPr lang="fr-FR" sz="1800" dirty="0"/>
          </a:p>
          <a:p>
            <a:pPr marR="0" algn="l" rtl="0" fontAlgn="ctr">
              <a:spcBef>
                <a:spcPts val="0"/>
              </a:spcBef>
              <a:spcAft>
                <a:spcPts val="0"/>
              </a:spcAft>
            </a:pPr>
            <a:endParaRPr lang="en-FR" sz="1800" b="0" i="0" u="none" strike="noStrike" dirty="0">
              <a:effectLst/>
              <a:latin typeface="Arial" panose="020B0604020202020204" pitchFamily="34" charset="0"/>
            </a:endParaRPr>
          </a:p>
          <a:p>
            <a:endParaRPr lang="en-GB" b="0" i="0" u="none" strike="noStrike" dirty="0">
              <a:solidFill>
                <a:srgbClr val="D1D5DB"/>
              </a:solidFill>
              <a:effectLst/>
              <a:latin typeface="Söhne"/>
            </a:endParaRPr>
          </a:p>
          <a:p>
            <a:r>
              <a:rPr lang="en-GB" b="0" i="0" u="none" strike="noStrike" dirty="0">
                <a:solidFill>
                  <a:srgbClr val="D1D5DB"/>
                </a:solidFill>
                <a:effectLst/>
                <a:latin typeface="Söhne"/>
              </a:rPr>
              <a:t>Explication de </a:t>
            </a:r>
            <a:r>
              <a:rPr lang="en-GB" b="0" i="0" u="none" strike="noStrike" dirty="0" err="1">
                <a:solidFill>
                  <a:srgbClr val="D1D5DB"/>
                </a:solidFill>
                <a:effectLst/>
                <a:latin typeface="Söhne"/>
              </a:rPr>
              <a:t>l'importance</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bâtiments</a:t>
            </a:r>
            <a:r>
              <a:rPr lang="en-GB" b="0" i="0" u="none" strike="noStrike" dirty="0">
                <a:solidFill>
                  <a:srgbClr val="D1D5DB"/>
                </a:solidFill>
                <a:effectLst/>
                <a:latin typeface="Söhne"/>
              </a:rPr>
              <a:t> non </a:t>
            </a:r>
            <a:r>
              <a:rPr lang="en-GB" b="0" i="0" u="none" strike="noStrike" dirty="0" err="1">
                <a:solidFill>
                  <a:srgbClr val="D1D5DB"/>
                </a:solidFill>
                <a:effectLst/>
                <a:latin typeface="Söhne"/>
              </a:rPr>
              <a:t>résidentiels</a:t>
            </a:r>
            <a:r>
              <a:rPr lang="en-GB" b="0" i="0" u="none" strike="noStrike" dirty="0">
                <a:solidFill>
                  <a:srgbClr val="D1D5DB"/>
                </a:solidFill>
                <a:effectLst/>
                <a:latin typeface="Söhne"/>
              </a:rPr>
              <a:t> dans la </a:t>
            </a:r>
            <a:r>
              <a:rPr lang="en-GB" b="0" i="0" u="none" strike="noStrike" dirty="0" err="1">
                <a:solidFill>
                  <a:srgbClr val="D1D5DB"/>
                </a:solidFill>
                <a:effectLst/>
                <a:latin typeface="Söhne"/>
              </a:rPr>
              <a:t>consommation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d'énergie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totale</a:t>
            </a:r>
            <a:r>
              <a:rPr lang="en-GB" b="0" i="0" u="none" strike="noStrike" dirty="0">
                <a:solidFill>
                  <a:srgbClr val="D1D5DB"/>
                </a:solidFill>
                <a:effectLst/>
                <a:latin typeface="Söhne"/>
              </a:rPr>
              <a:t> et les </a:t>
            </a:r>
            <a:r>
              <a:rPr lang="en-GB" b="0" i="0" u="none" strike="noStrike" dirty="0" err="1">
                <a:solidFill>
                  <a:srgbClr val="D1D5DB"/>
                </a:solidFill>
                <a:effectLst/>
                <a:latin typeface="Söhne"/>
              </a:rPr>
              <a:t>émissions</a:t>
            </a:r>
            <a:r>
              <a:rPr lang="en-GB" b="0" i="0" u="none" strike="noStrike" dirty="0">
                <a:solidFill>
                  <a:srgbClr val="D1D5DB"/>
                </a:solidFill>
                <a:effectLst/>
                <a:latin typeface="Söhne"/>
              </a:rPr>
              <a:t> de CO2</a:t>
            </a:r>
          </a:p>
          <a:p>
            <a:endParaRPr lang="en-GB" b="0" i="0" u="none" strike="noStrike" dirty="0">
              <a:solidFill>
                <a:srgbClr val="D1D5DB"/>
              </a:solidFill>
              <a:effectLst/>
              <a:latin typeface="Söhne"/>
            </a:endParaRPr>
          </a:p>
          <a:p>
            <a:r>
              <a:rPr lang="en-US" b="0" i="0" dirty="0">
                <a:effectLst/>
                <a:latin typeface="-apple-system"/>
                <a:hlinkClick r:id="rId3"/>
              </a:rPr>
              <a:t>The SEA Building Energy Benchmarking project is a program in Seattle that requires owners of non-residential and multifamily buildings (20,000 square feet or larger) to track energy performance and annually report to the City of Seattle</a:t>
            </a:r>
            <a:r>
              <a:rPr lang="en-US" b="0" i="0" u="none" strike="noStrike" baseline="30000" dirty="0">
                <a:effectLst/>
                <a:latin typeface="-apple-system"/>
                <a:hlinkClick r:id="rId3"/>
              </a:rPr>
              <a:t>1</a:t>
            </a:r>
            <a:r>
              <a:rPr lang="en-US" b="0" i="0" dirty="0">
                <a:solidFill>
                  <a:srgbClr val="111111"/>
                </a:solidFill>
                <a:effectLst/>
                <a:latin typeface="-apple-system"/>
              </a:rPr>
              <a:t>. </a:t>
            </a:r>
            <a:r>
              <a:rPr lang="en-US" b="0" i="0" dirty="0">
                <a:effectLst/>
                <a:latin typeface="-apple-system"/>
                <a:hlinkClick r:id="rId4"/>
              </a:rPr>
              <a:t>The project is part of the City of Seattle Open Data portal</a:t>
            </a:r>
            <a:r>
              <a:rPr lang="en-US" b="0" i="0" u="none" strike="noStrike" baseline="30000" dirty="0">
                <a:effectLst/>
                <a:latin typeface="-apple-system"/>
                <a:hlinkClick r:id="rId4"/>
              </a:rPr>
              <a:t>2</a:t>
            </a:r>
            <a:r>
              <a:rPr lang="en-US" b="0" i="0" dirty="0">
                <a:solidFill>
                  <a:srgbClr val="111111"/>
                </a:solidFill>
                <a:effectLst/>
                <a:latin typeface="-apple-system"/>
              </a:rPr>
              <a:t>. You can find more information about the project by visiting the links I provided.</a:t>
            </a:r>
            <a:endParaRPr lang="en-GB" b="0" i="0" u="none" strike="noStrike" dirty="0">
              <a:solidFill>
                <a:srgbClr val="D1D5DB"/>
              </a:solidFill>
              <a:effectLst/>
              <a:latin typeface="Söhne"/>
            </a:endParaRPr>
          </a:p>
          <a:p>
            <a:endParaRPr lang="en-GB" b="0" i="0" u="none" strike="noStrike" dirty="0">
              <a:solidFill>
                <a:srgbClr val="D1D5DB"/>
              </a:solidFill>
              <a:effectLst/>
              <a:latin typeface="Söhne"/>
            </a:endParaRPr>
          </a:p>
          <a:p>
            <a:r>
              <a:rPr lang="en-US" b="0" i="0" dirty="0">
                <a:solidFill>
                  <a:srgbClr val="111111"/>
                </a:solidFill>
                <a:effectLst/>
                <a:latin typeface="-apple-system"/>
              </a:rPr>
              <a:t>Energy benchmarking is the process of comparing a building’s energy use to that of similar buildings. The purpose of energy benchmarking is to identify opportunities for energy savings and to track the progress of energy efficiency improvements over time. Energy benchmarking can also help building owners and managers make informed decisions about energy efficiency investments and can help tenants make informed decisions about which buildings to lease.</a:t>
            </a:r>
            <a:endParaRPr lang="en-FR" dirty="0"/>
          </a:p>
        </p:txBody>
      </p:sp>
    </p:spTree>
    <p:extLst>
      <p:ext uri="{BB962C8B-B14F-4D97-AF65-F5344CB8AC3E}">
        <p14:creationId xmlns:p14="http://schemas.microsoft.com/office/powerpoint/2010/main" val="3072864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GB" b="0" i="0" u="none" strike="noStrike" dirty="0" err="1">
                <a:solidFill>
                  <a:srgbClr val="D1D5DB"/>
                </a:solidFill>
                <a:effectLst/>
                <a:latin typeface="Söhne"/>
              </a:rPr>
              <a:t>Séparation</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caractéristiques</a:t>
            </a:r>
            <a:r>
              <a:rPr lang="en-GB" b="0" i="0" u="none" strike="noStrike" dirty="0">
                <a:solidFill>
                  <a:srgbClr val="D1D5DB"/>
                </a:solidFill>
                <a:effectLst/>
                <a:latin typeface="Söhne"/>
              </a:rPr>
              <a:t> (X) et </a:t>
            </a:r>
            <a:r>
              <a:rPr lang="en-GB" b="0" i="0" u="none" strike="noStrike" dirty="0" err="1">
                <a:solidFill>
                  <a:srgbClr val="D1D5DB"/>
                </a:solidFill>
                <a:effectLst/>
                <a:latin typeface="Söhne"/>
              </a:rPr>
              <a:t>cible</a:t>
            </a:r>
            <a:r>
              <a:rPr lang="en-GB" b="0" i="0" u="none" strike="noStrike" dirty="0">
                <a:solidFill>
                  <a:srgbClr val="D1D5DB"/>
                </a:solidFill>
                <a:effectLst/>
                <a:latin typeface="Söhne"/>
              </a:rPr>
              <a:t> (y) pour la </a:t>
            </a:r>
            <a:r>
              <a:rPr lang="en-GB" b="0" i="0" u="none" strike="noStrike" dirty="0" err="1">
                <a:solidFill>
                  <a:srgbClr val="D1D5DB"/>
                </a:solidFill>
                <a:effectLst/>
                <a:latin typeface="Söhne"/>
              </a:rPr>
              <a:t>modélisation</a:t>
            </a:r>
            <a:endParaRPr lang="en-GB" b="0" i="0" u="none" strike="noStrike" dirty="0">
              <a:solidFill>
                <a:srgbClr val="D1D5DB"/>
              </a:solidFill>
              <a:effectLst/>
              <a:latin typeface="Söhne"/>
            </a:endParaRPr>
          </a:p>
          <a:p>
            <a:pPr algn="l"/>
            <a:r>
              <a:rPr lang="en-GB" b="0" i="0" u="none" strike="noStrike" dirty="0">
                <a:solidFill>
                  <a:srgbClr val="D1D5DB"/>
                </a:solidFill>
                <a:effectLst/>
                <a:latin typeface="Söhne"/>
              </a:rPr>
              <a:t>Division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ensembles </a:t>
            </a:r>
            <a:r>
              <a:rPr lang="en-GB" b="0" i="0" u="none" strike="noStrike" dirty="0" err="1">
                <a:solidFill>
                  <a:srgbClr val="D1D5DB"/>
                </a:solidFill>
                <a:effectLst/>
                <a:latin typeface="Söhne"/>
              </a:rPr>
              <a:t>d'entraînement</a:t>
            </a:r>
            <a:r>
              <a:rPr lang="en-GB" b="0" i="0" u="none" strike="noStrike" dirty="0">
                <a:solidFill>
                  <a:srgbClr val="D1D5DB"/>
                </a:solidFill>
                <a:effectLst/>
                <a:latin typeface="Söhne"/>
              </a:rPr>
              <a:t> et de test</a:t>
            </a:r>
          </a:p>
          <a:p>
            <a:pPr algn="l"/>
            <a:endParaRPr lang="en-GB" b="0" i="0" u="none" strike="noStrike" dirty="0">
              <a:solidFill>
                <a:srgbClr val="D1D5DB"/>
              </a:solidFill>
              <a:effectLst/>
              <a:latin typeface="Söhne"/>
            </a:endParaRPr>
          </a:p>
          <a:p>
            <a:pPr algn="l"/>
            <a:endParaRPr lang="en-GB" b="0" i="0" u="none" strike="noStrike" dirty="0">
              <a:solidFill>
                <a:srgbClr val="D1D5DB"/>
              </a:solidFill>
              <a:effectLst/>
              <a:latin typeface="Söhne"/>
            </a:endParaRPr>
          </a:p>
          <a:p>
            <a:pPr algn="l">
              <a:buFont typeface="+mj-lt"/>
              <a:buAutoNum type="arabicPeriod"/>
            </a:pPr>
            <a:r>
              <a:rPr lang="en-GB" b="1" i="0" u="none" strike="noStrike" dirty="0" err="1">
                <a:solidFill>
                  <a:srgbClr val="D1D5DB"/>
                </a:solidFill>
                <a:effectLst/>
                <a:latin typeface="Söhne"/>
              </a:rPr>
              <a:t>Nettoyage</a:t>
            </a:r>
            <a:r>
              <a:rPr lang="en-GB" b="1" i="0" u="none" strike="noStrike" dirty="0">
                <a:solidFill>
                  <a:srgbClr val="D1D5DB"/>
                </a:solidFill>
                <a:effectLst/>
                <a:latin typeface="Söhne"/>
              </a:rPr>
              <a:t> des </a:t>
            </a:r>
            <a:r>
              <a:rPr lang="en-GB" b="1" i="0" u="none" strike="noStrike" dirty="0" err="1">
                <a:solidFill>
                  <a:srgbClr val="D1D5DB"/>
                </a:solidFill>
                <a:effectLst/>
                <a:latin typeface="Söhne"/>
              </a:rPr>
              <a:t>données</a:t>
            </a:r>
            <a:r>
              <a:rPr lang="en-GB" b="1" i="0" u="none" strike="noStrike" dirty="0">
                <a:solidFill>
                  <a:srgbClr val="D1D5DB"/>
                </a:solidFill>
                <a:effectLst/>
                <a:latin typeface="Söhne"/>
              </a:rPr>
              <a:t> et </a:t>
            </a:r>
            <a:r>
              <a:rPr lang="en-GB" b="1" i="0" u="none" strike="noStrike" dirty="0" err="1">
                <a:solidFill>
                  <a:srgbClr val="D1D5DB"/>
                </a:solidFill>
                <a:effectLst/>
                <a:latin typeface="Söhne"/>
              </a:rPr>
              <a:t>traitement</a:t>
            </a:r>
            <a:r>
              <a:rPr lang="en-GB" b="1" i="0" u="none" strike="noStrike" dirty="0">
                <a:solidFill>
                  <a:srgbClr val="D1D5DB"/>
                </a:solidFill>
                <a:effectLst/>
                <a:latin typeface="Söhne"/>
              </a:rPr>
              <a:t> des </a:t>
            </a:r>
            <a:r>
              <a:rPr lang="en-GB" b="1" i="0" u="none" strike="noStrike" dirty="0" err="1">
                <a:solidFill>
                  <a:srgbClr val="D1D5DB"/>
                </a:solidFill>
                <a:effectLst/>
                <a:latin typeface="Söhne"/>
              </a:rPr>
              <a:t>valeurs</a:t>
            </a:r>
            <a:r>
              <a:rPr lang="en-GB" b="1" i="0" u="none" strike="noStrike" dirty="0">
                <a:solidFill>
                  <a:srgbClr val="D1D5DB"/>
                </a:solidFill>
                <a:effectLst/>
                <a:latin typeface="Söhne"/>
              </a:rPr>
              <a:t> </a:t>
            </a:r>
            <a:r>
              <a:rPr lang="en-GB" b="1" i="0" u="none" strike="noStrike" dirty="0" err="1">
                <a:solidFill>
                  <a:srgbClr val="D1D5DB"/>
                </a:solidFill>
                <a:effectLst/>
                <a:latin typeface="Söhne"/>
              </a:rPr>
              <a:t>manquantes</a:t>
            </a:r>
            <a:r>
              <a:rPr lang="en-GB" b="1" i="0" u="none" strike="noStrike" dirty="0">
                <a:solidFill>
                  <a:srgbClr val="D1D5DB"/>
                </a:solidFill>
                <a:effectLst/>
                <a:latin typeface="Söhne"/>
              </a:rPr>
              <a:t> :</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premier lieu, </a:t>
            </a:r>
            <a:r>
              <a:rPr lang="en-GB" b="0" i="0" u="none" strike="noStrike" dirty="0" err="1">
                <a:solidFill>
                  <a:srgbClr val="D1D5DB"/>
                </a:solidFill>
                <a:effectLst/>
                <a:latin typeface="Söhne"/>
              </a:rPr>
              <a:t>examinez</a:t>
            </a:r>
            <a:r>
              <a:rPr lang="en-GB" b="0" i="0" u="none" strike="noStrike" dirty="0">
                <a:solidFill>
                  <a:srgbClr val="D1D5DB"/>
                </a:solidFill>
                <a:effectLst/>
                <a:latin typeface="Söhne"/>
              </a:rPr>
              <a:t> le dataset pour </a:t>
            </a:r>
            <a:r>
              <a:rPr lang="en-GB" b="0" i="0" u="none" strike="noStrike" dirty="0" err="1">
                <a:solidFill>
                  <a:srgbClr val="D1D5DB"/>
                </a:solidFill>
                <a:effectLst/>
                <a:latin typeface="Söhne"/>
              </a:rPr>
              <a:t>détecter</a:t>
            </a:r>
            <a:r>
              <a:rPr lang="en-GB" b="0" i="0" u="none" strike="noStrike" dirty="0">
                <a:solidFill>
                  <a:srgbClr val="D1D5DB"/>
                </a:solidFill>
                <a:effectLst/>
                <a:latin typeface="Söhne"/>
              </a:rPr>
              <a:t> les </a:t>
            </a:r>
            <a:r>
              <a:rPr lang="en-GB" b="0" i="0" u="none" strike="noStrike" dirty="0" err="1">
                <a:solidFill>
                  <a:srgbClr val="D1D5DB"/>
                </a:solidFill>
                <a:effectLst/>
                <a:latin typeface="Söhne"/>
              </a:rPr>
              <a:t>valeurs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manquantes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Selon</a:t>
            </a:r>
            <a:r>
              <a:rPr lang="en-GB" b="0" i="0" u="none" strike="noStrike" dirty="0">
                <a:solidFill>
                  <a:srgbClr val="D1D5DB"/>
                </a:solidFill>
                <a:effectLst/>
                <a:latin typeface="Söhne"/>
              </a:rPr>
              <a:t> la nature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vous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pouvez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choisir</a:t>
            </a:r>
            <a:r>
              <a:rPr lang="en-GB" b="0" i="0" u="none" strike="noStrike" dirty="0">
                <a:solidFill>
                  <a:srgbClr val="D1D5DB"/>
                </a:solidFill>
                <a:effectLst/>
                <a:latin typeface="Söhne"/>
              </a:rPr>
              <a:t> de les </a:t>
            </a:r>
            <a:r>
              <a:rPr lang="en-GB" b="0" i="0" u="none" strike="noStrike" dirty="0" err="1">
                <a:solidFill>
                  <a:srgbClr val="D1D5DB"/>
                </a:solidFill>
                <a:effectLst/>
                <a:latin typeface="Söhne"/>
              </a:rPr>
              <a:t>remplacer</a:t>
            </a:r>
            <a:r>
              <a:rPr lang="en-GB" b="0" i="0" u="none" strike="noStrike" dirty="0">
                <a:solidFill>
                  <a:srgbClr val="D1D5DB"/>
                </a:solidFill>
                <a:effectLst/>
                <a:latin typeface="Söhne"/>
              </a:rPr>
              <a:t> par la </a:t>
            </a:r>
            <a:r>
              <a:rPr lang="en-GB" b="0" i="0" u="none" strike="noStrike" dirty="0" err="1">
                <a:solidFill>
                  <a:srgbClr val="D1D5DB"/>
                </a:solidFill>
                <a:effectLst/>
                <a:latin typeface="Söhne"/>
              </a:rPr>
              <a:t>moyenne</a:t>
            </a:r>
            <a:r>
              <a:rPr lang="en-GB" b="0" i="0" u="none" strike="noStrike" dirty="0">
                <a:solidFill>
                  <a:srgbClr val="D1D5DB"/>
                </a:solidFill>
                <a:effectLst/>
                <a:latin typeface="Söhne"/>
              </a:rPr>
              <a:t>, la </a:t>
            </a:r>
            <a:r>
              <a:rPr lang="en-GB" b="0" i="0" u="none" strike="noStrike" dirty="0" err="1">
                <a:solidFill>
                  <a:srgbClr val="D1D5DB"/>
                </a:solidFill>
                <a:effectLst/>
                <a:latin typeface="Söhne"/>
              </a:rPr>
              <a:t>médiane</a:t>
            </a:r>
            <a:r>
              <a:rPr lang="en-GB" b="0" i="0" u="none" strike="noStrike" dirty="0">
                <a:solidFill>
                  <a:srgbClr val="D1D5DB"/>
                </a:solidFill>
                <a:effectLst/>
                <a:latin typeface="Söhne"/>
              </a:rPr>
              <a:t>, la </a:t>
            </a:r>
            <a:r>
              <a:rPr lang="en-GB" b="0" i="0" u="none" strike="noStrike" dirty="0" err="1">
                <a:solidFill>
                  <a:srgbClr val="D1D5DB"/>
                </a:solidFill>
                <a:effectLst/>
                <a:latin typeface="Söhne"/>
              </a:rPr>
              <a:t>valeur</a:t>
            </a:r>
            <a:r>
              <a:rPr lang="en-GB" b="0" i="0" u="none" strike="noStrike" dirty="0">
                <a:solidFill>
                  <a:srgbClr val="D1D5DB"/>
                </a:solidFill>
                <a:effectLst/>
                <a:latin typeface="Söhne"/>
              </a:rPr>
              <a:t> la plus </a:t>
            </a:r>
            <a:r>
              <a:rPr lang="en-GB" b="0" i="0" u="none" strike="noStrike" dirty="0" err="1">
                <a:solidFill>
                  <a:srgbClr val="D1D5DB"/>
                </a:solidFill>
                <a:effectLst/>
                <a:latin typeface="Söhne"/>
              </a:rPr>
              <a:t>fréquente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utilisant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une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approche</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prédiction</a:t>
            </a:r>
            <a:r>
              <a:rPr lang="en-GB" b="0" i="0" u="none" strike="noStrike" dirty="0">
                <a:solidFill>
                  <a:srgbClr val="D1D5DB"/>
                </a:solidFill>
                <a:effectLst/>
                <a:latin typeface="Söhne"/>
              </a:rPr>
              <a:t> (par </a:t>
            </a:r>
            <a:r>
              <a:rPr lang="en-GB" b="0" i="0" u="none" strike="noStrike" dirty="0" err="1">
                <a:solidFill>
                  <a:srgbClr val="D1D5DB"/>
                </a:solidFill>
                <a:effectLst/>
                <a:latin typeface="Söhne"/>
              </a:rPr>
              <a:t>exemple</a:t>
            </a:r>
            <a:r>
              <a:rPr lang="en-GB" b="0" i="0" u="none" strike="noStrike" dirty="0">
                <a:solidFill>
                  <a:srgbClr val="D1D5DB"/>
                </a:solidFill>
                <a:effectLst/>
                <a:latin typeface="Söhne"/>
              </a:rPr>
              <a:t>, KNN Imputation). </a:t>
            </a:r>
            <a:r>
              <a:rPr lang="en-GB" b="0" i="0" u="none" strike="noStrike" dirty="0" err="1">
                <a:solidFill>
                  <a:srgbClr val="D1D5DB"/>
                </a:solidFill>
                <a:effectLst/>
                <a:latin typeface="Söhne"/>
              </a:rPr>
              <a:t>Supprimez</a:t>
            </a:r>
            <a:r>
              <a:rPr lang="en-GB" b="0" i="0" u="none" strike="noStrike" dirty="0">
                <a:solidFill>
                  <a:srgbClr val="D1D5DB"/>
                </a:solidFill>
                <a:effectLst/>
                <a:latin typeface="Söhne"/>
              </a:rPr>
              <a:t> les </a:t>
            </a:r>
            <a:r>
              <a:rPr lang="en-GB" b="0" i="0" u="none" strike="noStrike" dirty="0" err="1">
                <a:solidFill>
                  <a:srgbClr val="D1D5DB"/>
                </a:solidFill>
                <a:effectLst/>
                <a:latin typeface="Söhne"/>
              </a:rPr>
              <a:t>lignes</a:t>
            </a:r>
            <a:r>
              <a:rPr lang="en-GB" b="0" i="0" u="none" strike="noStrike" dirty="0">
                <a:solidFill>
                  <a:srgbClr val="D1D5DB"/>
                </a:solidFill>
                <a:effectLst/>
                <a:latin typeface="Söhne"/>
              </a:rPr>
              <a:t> avec des </a:t>
            </a:r>
            <a:r>
              <a:rPr lang="en-GB" b="0" i="0" u="none" strike="noStrike" dirty="0" err="1">
                <a:solidFill>
                  <a:srgbClr val="D1D5DB"/>
                </a:solidFill>
                <a:effectLst/>
                <a:latin typeface="Söhne"/>
              </a:rPr>
              <a:t>valeurs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manquantes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si</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leur</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nombre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est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insignifiant</a:t>
            </a:r>
            <a:r>
              <a:rPr lang="en-GB" b="0" i="0" u="none" strike="noStrike" dirty="0">
                <a:solidFill>
                  <a:srgbClr val="D1D5DB"/>
                </a:solidFill>
                <a:effectLst/>
                <a:latin typeface="Söhne"/>
              </a:rPr>
              <a:t>.</a:t>
            </a:r>
          </a:p>
          <a:p>
            <a:pPr algn="l">
              <a:buFont typeface="+mj-lt"/>
              <a:buAutoNum type="arabicPeriod"/>
            </a:pPr>
            <a:r>
              <a:rPr lang="en-GB" b="1" i="0" u="none" strike="noStrike" dirty="0" err="1">
                <a:solidFill>
                  <a:srgbClr val="D1D5DB"/>
                </a:solidFill>
                <a:effectLst/>
                <a:latin typeface="Söhne"/>
              </a:rPr>
              <a:t>Prétraitement</a:t>
            </a:r>
            <a:r>
              <a:rPr lang="en-GB" b="1" i="0" u="none" strike="noStrike" dirty="0">
                <a:solidFill>
                  <a:srgbClr val="D1D5DB"/>
                </a:solidFill>
                <a:effectLst/>
                <a:latin typeface="Söhne"/>
              </a:rPr>
              <a:t> des </a:t>
            </a:r>
            <a:r>
              <a:rPr lang="en-GB" b="1" i="0" u="none" strike="noStrike" dirty="0" err="1">
                <a:solidFill>
                  <a:srgbClr val="D1D5DB"/>
                </a:solidFill>
                <a:effectLst/>
                <a:latin typeface="Söhne"/>
              </a:rPr>
              <a:t>données</a:t>
            </a:r>
            <a:r>
              <a:rPr lang="en-GB" b="1" i="0" u="none" strike="noStrike" dirty="0">
                <a:solidFill>
                  <a:srgbClr val="D1D5DB"/>
                </a:solidFill>
                <a:effectLst/>
                <a:latin typeface="Söhne"/>
              </a:rPr>
              <a:t> </a:t>
            </a:r>
            <a:r>
              <a:rPr lang="en-GB" b="1" i="0" u="none" strike="noStrike" dirty="0" err="1">
                <a:solidFill>
                  <a:srgbClr val="D1D5DB"/>
                </a:solidFill>
                <a:effectLst/>
                <a:latin typeface="Söhne"/>
              </a:rPr>
              <a:t>catégorielles</a:t>
            </a:r>
            <a:r>
              <a:rPr lang="en-GB" b="1" i="0" u="none" strike="noStrike" dirty="0">
                <a:solidFill>
                  <a:srgbClr val="D1D5DB"/>
                </a:solidFill>
                <a:effectLst/>
                <a:latin typeface="Söhne"/>
              </a:rPr>
              <a:t> :</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Transformez</a:t>
            </a:r>
            <a:r>
              <a:rPr lang="en-GB" b="0" i="0" u="none" strike="noStrike" dirty="0">
                <a:solidFill>
                  <a:srgbClr val="D1D5DB"/>
                </a:solidFill>
                <a:effectLst/>
                <a:latin typeface="Söhne"/>
              </a:rPr>
              <a:t> les variables </a:t>
            </a:r>
            <a:r>
              <a:rPr lang="en-GB" b="0" i="0" u="none" strike="noStrike" dirty="0" err="1">
                <a:solidFill>
                  <a:srgbClr val="D1D5DB"/>
                </a:solidFill>
                <a:effectLst/>
                <a:latin typeface="Söhne"/>
              </a:rPr>
              <a:t>catégorielles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variables </a:t>
            </a:r>
            <a:r>
              <a:rPr lang="en-GB" b="0" i="0" u="none" strike="noStrike" dirty="0" err="1">
                <a:solidFill>
                  <a:srgbClr val="D1D5DB"/>
                </a:solidFill>
                <a:effectLst/>
                <a:latin typeface="Söhne"/>
              </a:rPr>
              <a:t>numériques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utilisant</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méthodes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comme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l'encodage</a:t>
            </a:r>
            <a:r>
              <a:rPr lang="en-GB" b="0" i="0" u="none" strike="noStrike" dirty="0">
                <a:solidFill>
                  <a:srgbClr val="D1D5DB"/>
                </a:solidFill>
                <a:effectLst/>
                <a:latin typeface="Söhne"/>
              </a:rPr>
              <a:t> One-Hot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l'encodage</a:t>
            </a:r>
            <a:r>
              <a:rPr lang="en-GB" b="0" i="0" u="none" strike="noStrike" dirty="0">
                <a:solidFill>
                  <a:srgbClr val="D1D5DB"/>
                </a:solidFill>
                <a:effectLst/>
                <a:latin typeface="Söhne"/>
              </a:rPr>
              <a:t> par </a:t>
            </a:r>
            <a:r>
              <a:rPr lang="en-GB" b="0" i="0" u="none" strike="noStrike" dirty="0" err="1">
                <a:solidFill>
                  <a:srgbClr val="D1D5DB"/>
                </a:solidFill>
                <a:effectLst/>
                <a:latin typeface="Söhne"/>
              </a:rPr>
              <a:t>étiquette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Cela</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dépend</a:t>
            </a:r>
            <a:r>
              <a:rPr lang="en-GB" b="0" i="0" u="none" strike="noStrike" dirty="0">
                <a:solidFill>
                  <a:srgbClr val="D1D5DB"/>
                </a:solidFill>
                <a:effectLst/>
                <a:latin typeface="Söhne"/>
              </a:rPr>
              <a:t> du type de la variable </a:t>
            </a:r>
            <a:r>
              <a:rPr lang="en-GB" b="0" i="0" u="none" strike="noStrike" dirty="0" err="1">
                <a:solidFill>
                  <a:srgbClr val="D1D5DB"/>
                </a:solidFill>
                <a:effectLst/>
                <a:latin typeface="Söhne"/>
              </a:rPr>
              <a:t>catégorielle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nominale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ordinale</a:t>
            </a:r>
            <a:r>
              <a:rPr lang="en-GB" b="0" i="0" u="none" strike="noStrike" dirty="0">
                <a:solidFill>
                  <a:srgbClr val="D1D5DB"/>
                </a:solidFill>
                <a:effectLst/>
                <a:latin typeface="Söhne"/>
              </a:rPr>
              <a:t>) et du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que </a:t>
            </a:r>
            <a:r>
              <a:rPr lang="en-GB" b="0" i="0" u="none" strike="noStrike" dirty="0" err="1">
                <a:solidFill>
                  <a:srgbClr val="D1D5DB"/>
                </a:solidFill>
                <a:effectLst/>
                <a:latin typeface="Söhne"/>
              </a:rPr>
              <a:t>vous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prévoyez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d'utiliser</a:t>
            </a:r>
            <a:r>
              <a:rPr lang="en-GB" b="0" i="0" u="none" strike="noStrike" dirty="0">
                <a:solidFill>
                  <a:srgbClr val="D1D5DB"/>
                </a:solidFill>
                <a:effectLst/>
                <a:latin typeface="Söhne"/>
              </a:rPr>
              <a:t>.</a:t>
            </a:r>
          </a:p>
          <a:p>
            <a:pPr algn="l">
              <a:buFont typeface="+mj-lt"/>
              <a:buAutoNum type="arabicPeriod"/>
            </a:pPr>
            <a:r>
              <a:rPr lang="en-GB" b="1" i="0" u="none" strike="noStrike" dirty="0" err="1">
                <a:solidFill>
                  <a:srgbClr val="D1D5DB"/>
                </a:solidFill>
                <a:effectLst/>
                <a:latin typeface="Söhne"/>
              </a:rPr>
              <a:t>Sélection</a:t>
            </a:r>
            <a:r>
              <a:rPr lang="en-GB" b="1" i="0" u="none" strike="noStrike" dirty="0">
                <a:solidFill>
                  <a:srgbClr val="D1D5DB"/>
                </a:solidFill>
                <a:effectLst/>
                <a:latin typeface="Söhne"/>
              </a:rPr>
              <a:t> des </a:t>
            </a:r>
            <a:r>
              <a:rPr lang="en-GB" b="1" i="0" u="none" strike="noStrike" dirty="0" err="1">
                <a:solidFill>
                  <a:srgbClr val="D1D5DB"/>
                </a:solidFill>
                <a:effectLst/>
                <a:latin typeface="Söhne"/>
              </a:rPr>
              <a:t>fonctionnalités</a:t>
            </a:r>
            <a:r>
              <a:rPr lang="en-GB" b="1" i="0" u="none" strike="noStrike" dirty="0">
                <a:solidFill>
                  <a:srgbClr val="D1D5DB"/>
                </a:solidFill>
                <a:effectLst/>
                <a:latin typeface="Söhne"/>
              </a:rPr>
              <a:t> :</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Effectuez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une</a:t>
            </a:r>
            <a:r>
              <a:rPr lang="en-GB" b="0" i="0" u="none" strike="noStrike" dirty="0">
                <a:solidFill>
                  <a:srgbClr val="D1D5DB"/>
                </a:solidFill>
                <a:effectLst/>
                <a:latin typeface="Söhne"/>
              </a:rPr>
              <a:t> analyse </a:t>
            </a:r>
            <a:r>
              <a:rPr lang="en-GB" b="0" i="0" u="none" strike="noStrike" dirty="0" err="1">
                <a:solidFill>
                  <a:srgbClr val="D1D5DB"/>
                </a:solidFill>
                <a:effectLst/>
                <a:latin typeface="Söhne"/>
              </a:rPr>
              <a:t>exploratoire</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comprendre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quelles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fonctionnalités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sont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pertinentes</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votre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cible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Utilisez</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méthodes</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sélection</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fonctionnalités</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réduire</a:t>
            </a:r>
            <a:r>
              <a:rPr lang="en-GB" b="0" i="0" u="none" strike="noStrike" dirty="0">
                <a:solidFill>
                  <a:srgbClr val="D1D5DB"/>
                </a:solidFill>
                <a:effectLst/>
                <a:latin typeface="Söhne"/>
              </a:rPr>
              <a:t> la </a:t>
            </a:r>
            <a:r>
              <a:rPr lang="en-GB" b="0" i="0" u="none" strike="noStrike" dirty="0" err="1">
                <a:solidFill>
                  <a:srgbClr val="D1D5DB"/>
                </a:solidFill>
                <a:effectLst/>
                <a:latin typeface="Söhne"/>
              </a:rPr>
              <a:t>dimensionnalité</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si</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nécessaire</a:t>
            </a:r>
            <a:r>
              <a:rPr lang="en-GB" b="0" i="0" u="none" strike="noStrike" dirty="0">
                <a:solidFill>
                  <a:srgbClr val="D1D5DB"/>
                </a:solidFill>
                <a:effectLst/>
                <a:latin typeface="Söhne"/>
              </a:rPr>
              <a:t>.</a:t>
            </a:r>
          </a:p>
          <a:p>
            <a:pPr algn="l">
              <a:buFont typeface="+mj-lt"/>
              <a:buAutoNum type="arabicPeriod"/>
            </a:pPr>
            <a:r>
              <a:rPr lang="en-GB" b="1" i="0" u="none" strike="noStrike" dirty="0" err="1">
                <a:solidFill>
                  <a:srgbClr val="D1D5DB"/>
                </a:solidFill>
                <a:effectLst/>
                <a:latin typeface="Söhne"/>
              </a:rPr>
              <a:t>Création</a:t>
            </a:r>
            <a:r>
              <a:rPr lang="en-GB" b="1" i="0" u="none" strike="noStrike" dirty="0">
                <a:solidFill>
                  <a:srgbClr val="D1D5DB"/>
                </a:solidFill>
                <a:effectLst/>
                <a:latin typeface="Söhne"/>
              </a:rPr>
              <a:t> d'un </a:t>
            </a:r>
            <a:r>
              <a:rPr lang="en-GB" b="1" i="0" u="none" strike="noStrike" dirty="0" err="1">
                <a:solidFill>
                  <a:srgbClr val="D1D5DB"/>
                </a:solidFill>
                <a:effectLst/>
                <a:latin typeface="Söhne"/>
              </a:rPr>
              <a:t>modèle</a:t>
            </a:r>
            <a:r>
              <a:rPr lang="en-GB" b="1" i="0" u="none" strike="noStrike" dirty="0">
                <a:solidFill>
                  <a:srgbClr val="D1D5DB"/>
                </a:solidFill>
                <a:effectLst/>
                <a:latin typeface="Söhne"/>
              </a:rPr>
              <a:t> de base :</a:t>
            </a:r>
            <a:r>
              <a:rPr lang="en-GB" b="0" i="0" u="none" strike="noStrike" dirty="0">
                <a:solidFill>
                  <a:srgbClr val="D1D5DB"/>
                </a:solidFill>
                <a:effectLst/>
                <a:latin typeface="Söhne"/>
              </a:rPr>
              <a:t> Avant de faire des suppositions, </a:t>
            </a:r>
            <a:r>
              <a:rPr lang="en-GB" b="0" i="0" u="none" strike="noStrike" dirty="0" err="1">
                <a:solidFill>
                  <a:srgbClr val="D1D5DB"/>
                </a:solidFill>
                <a:effectLst/>
                <a:latin typeface="Söhne"/>
              </a:rPr>
              <a:t>créez</a:t>
            </a:r>
            <a:r>
              <a:rPr lang="en-GB" b="0" i="0" u="none" strike="noStrike" dirty="0">
                <a:solidFill>
                  <a:srgbClr val="D1D5DB"/>
                </a:solidFill>
                <a:effectLst/>
                <a:latin typeface="Söhne"/>
              </a:rPr>
              <a:t> un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de base pour </a:t>
            </a:r>
            <a:r>
              <a:rPr lang="en-GB" b="0" i="0" u="none" strike="noStrike" dirty="0" err="1">
                <a:solidFill>
                  <a:srgbClr val="D1D5DB"/>
                </a:solidFill>
                <a:effectLst/>
                <a:latin typeface="Söhne"/>
              </a:rPr>
              <a:t>avoir</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une</a:t>
            </a:r>
            <a:r>
              <a:rPr lang="en-GB" b="0" i="0" u="none" strike="noStrike" dirty="0">
                <a:solidFill>
                  <a:srgbClr val="D1D5DB"/>
                </a:solidFill>
                <a:effectLst/>
                <a:latin typeface="Söhne"/>
              </a:rPr>
              <a:t> idée de la performance de base. Il </a:t>
            </a:r>
            <a:r>
              <a:rPr lang="en-GB" b="0" i="0" u="none" strike="noStrike" dirty="0" err="1">
                <a:solidFill>
                  <a:srgbClr val="D1D5DB"/>
                </a:solidFill>
                <a:effectLst/>
                <a:latin typeface="Söhne"/>
              </a:rPr>
              <a:t>peut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s'agir</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modèles</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régression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linéaire</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forêts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aléatoires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de boosting du gradient.</a:t>
            </a:r>
          </a:p>
          <a:p>
            <a:pPr algn="l">
              <a:buFont typeface="+mj-lt"/>
              <a:buAutoNum type="arabicPeriod"/>
            </a:pPr>
            <a:r>
              <a:rPr lang="en-GB" b="1" i="0" u="none" strike="noStrike" dirty="0" err="1">
                <a:solidFill>
                  <a:srgbClr val="D1D5DB"/>
                </a:solidFill>
                <a:effectLst/>
                <a:latin typeface="Söhne"/>
              </a:rPr>
              <a:t>Création</a:t>
            </a:r>
            <a:r>
              <a:rPr lang="en-GB" b="1" i="0" u="none" strike="noStrike" dirty="0">
                <a:solidFill>
                  <a:srgbClr val="D1D5DB"/>
                </a:solidFill>
                <a:effectLst/>
                <a:latin typeface="Söhne"/>
              </a:rPr>
              <a:t> de </a:t>
            </a:r>
            <a:r>
              <a:rPr lang="en-GB" b="1" i="0" u="none" strike="noStrike" dirty="0" err="1">
                <a:solidFill>
                  <a:srgbClr val="D1D5DB"/>
                </a:solidFill>
                <a:effectLst/>
                <a:latin typeface="Söhne"/>
              </a:rPr>
              <a:t>modèles</a:t>
            </a:r>
            <a:r>
              <a:rPr lang="en-GB" b="1" i="0" u="none" strike="noStrike" dirty="0">
                <a:solidFill>
                  <a:srgbClr val="D1D5DB"/>
                </a:solidFill>
                <a:effectLst/>
                <a:latin typeface="Söhne"/>
              </a:rPr>
              <a:t> et </a:t>
            </a:r>
            <a:r>
              <a:rPr lang="en-GB" b="1" i="0" u="none" strike="noStrike" dirty="0" err="1">
                <a:solidFill>
                  <a:srgbClr val="D1D5DB"/>
                </a:solidFill>
                <a:effectLst/>
                <a:latin typeface="Söhne"/>
              </a:rPr>
              <a:t>ajustement</a:t>
            </a:r>
            <a:r>
              <a:rPr lang="en-GB" b="1" i="0" u="none" strike="noStrike" dirty="0">
                <a:solidFill>
                  <a:srgbClr val="D1D5DB"/>
                </a:solidFill>
                <a:effectLst/>
                <a:latin typeface="Söhne"/>
              </a:rPr>
              <a:t> des </a:t>
            </a:r>
            <a:r>
              <a:rPr lang="en-GB" b="1" i="0" u="none" strike="noStrike" dirty="0" err="1">
                <a:solidFill>
                  <a:srgbClr val="D1D5DB"/>
                </a:solidFill>
                <a:effectLst/>
                <a:latin typeface="Söhne"/>
              </a:rPr>
              <a:t>hyperparamètres</a:t>
            </a:r>
            <a:r>
              <a:rPr lang="en-GB" b="1" i="0" u="none" strike="noStrike" dirty="0">
                <a:solidFill>
                  <a:srgbClr val="D1D5DB"/>
                </a:solidFill>
                <a:effectLst/>
                <a:latin typeface="Söhne"/>
              </a:rPr>
              <a:t> :</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Créez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plusieurs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modèles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notamment</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modèles</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régression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linéaire</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forêts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aléatoires</a:t>
            </a:r>
            <a:r>
              <a:rPr lang="en-GB" b="0" i="0" u="none" strike="noStrike" dirty="0">
                <a:solidFill>
                  <a:srgbClr val="D1D5DB"/>
                </a:solidFill>
                <a:effectLst/>
                <a:latin typeface="Söhne"/>
              </a:rPr>
              <a:t> et des </a:t>
            </a:r>
            <a:r>
              <a:rPr lang="en-GB" b="0" i="0" u="none" strike="noStrike" dirty="0" err="1">
                <a:solidFill>
                  <a:srgbClr val="D1D5DB"/>
                </a:solidFill>
                <a:effectLst/>
                <a:latin typeface="Söhne"/>
              </a:rPr>
              <a:t>modèles</a:t>
            </a:r>
            <a:r>
              <a:rPr lang="en-GB" b="0" i="0" u="none" strike="noStrike" dirty="0">
                <a:solidFill>
                  <a:srgbClr val="D1D5DB"/>
                </a:solidFill>
                <a:effectLst/>
                <a:latin typeface="Söhne"/>
              </a:rPr>
              <a:t> de boosting du gradient. Pour </a:t>
            </a:r>
            <a:r>
              <a:rPr lang="en-GB" b="0" i="0" u="none" strike="noStrike" dirty="0" err="1">
                <a:solidFill>
                  <a:srgbClr val="D1D5DB"/>
                </a:solidFill>
                <a:effectLst/>
                <a:latin typeface="Söhne"/>
              </a:rPr>
              <a:t>chaque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une</a:t>
            </a:r>
            <a:r>
              <a:rPr lang="en-GB" b="0" i="0" u="none" strike="noStrike" dirty="0">
                <a:solidFill>
                  <a:srgbClr val="D1D5DB"/>
                </a:solidFill>
                <a:effectLst/>
                <a:latin typeface="Söhne"/>
              </a:rPr>
              <a:t> validation </a:t>
            </a:r>
            <a:r>
              <a:rPr lang="en-GB" b="0" i="0" u="none" strike="noStrike" dirty="0" err="1">
                <a:solidFill>
                  <a:srgbClr val="D1D5DB"/>
                </a:solidFill>
                <a:effectLst/>
                <a:latin typeface="Söhne"/>
              </a:rPr>
              <a:t>croisée</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évaluer</a:t>
            </a:r>
            <a:r>
              <a:rPr lang="en-GB" b="0" i="0" u="none" strike="noStrike" dirty="0">
                <a:solidFill>
                  <a:srgbClr val="D1D5DB"/>
                </a:solidFill>
                <a:effectLst/>
                <a:latin typeface="Söhne"/>
              </a:rPr>
              <a:t> les performances et </a:t>
            </a:r>
            <a:r>
              <a:rPr lang="en-GB" b="0" i="0" u="none" strike="noStrike" dirty="0" err="1">
                <a:solidFill>
                  <a:srgbClr val="D1D5DB"/>
                </a:solidFill>
                <a:effectLst/>
                <a:latin typeface="Söhne"/>
              </a:rPr>
              <a:t>ajustez</a:t>
            </a:r>
            <a:r>
              <a:rPr lang="en-GB" b="0" i="0" u="none" strike="noStrike" dirty="0">
                <a:solidFill>
                  <a:srgbClr val="D1D5DB"/>
                </a:solidFill>
                <a:effectLst/>
                <a:latin typeface="Söhne"/>
              </a:rPr>
              <a:t> les </a:t>
            </a:r>
            <a:r>
              <a:rPr lang="en-GB" b="0" i="0" u="none" strike="noStrike" dirty="0" err="1">
                <a:solidFill>
                  <a:srgbClr val="D1D5DB"/>
                </a:solidFill>
                <a:effectLst/>
                <a:latin typeface="Söhne"/>
              </a:rPr>
              <a:t>hyperparamètres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conséquence</a:t>
            </a:r>
            <a:r>
              <a:rPr lang="en-GB" b="0" i="0" u="none" strike="noStrike" dirty="0">
                <a:solidFill>
                  <a:srgbClr val="D1D5DB"/>
                </a:solidFill>
                <a:effectLst/>
                <a:latin typeface="Söhne"/>
              </a:rPr>
              <a:t>.</a:t>
            </a:r>
          </a:p>
          <a:p>
            <a:pPr algn="l">
              <a:buFont typeface="+mj-lt"/>
              <a:buAutoNum type="arabicPeriod"/>
            </a:pPr>
            <a:r>
              <a:rPr lang="en-GB" b="1" i="0" u="none" strike="noStrike" dirty="0" err="1">
                <a:solidFill>
                  <a:srgbClr val="D1D5DB"/>
                </a:solidFill>
                <a:effectLst/>
                <a:latin typeface="Söhne"/>
              </a:rPr>
              <a:t>Évaluation</a:t>
            </a:r>
            <a:r>
              <a:rPr lang="en-GB" b="1" i="0" u="none" strike="noStrike" dirty="0">
                <a:solidFill>
                  <a:srgbClr val="D1D5DB"/>
                </a:solidFill>
                <a:effectLst/>
                <a:latin typeface="Söhne"/>
              </a:rPr>
              <a:t> de </a:t>
            </a:r>
            <a:r>
              <a:rPr lang="en-GB" b="1" i="0" u="none" strike="noStrike" dirty="0" err="1">
                <a:solidFill>
                  <a:srgbClr val="D1D5DB"/>
                </a:solidFill>
                <a:effectLst/>
                <a:latin typeface="Söhne"/>
              </a:rPr>
              <a:t>l'ENERGY</a:t>
            </a:r>
            <a:r>
              <a:rPr lang="en-GB" b="1" i="0" u="none" strike="noStrike" dirty="0">
                <a:solidFill>
                  <a:srgbClr val="D1D5DB"/>
                </a:solidFill>
                <a:effectLst/>
                <a:latin typeface="Söhne"/>
              </a:rPr>
              <a:t> STAR Score :</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Intégrez</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l'ENERGY</a:t>
            </a:r>
            <a:r>
              <a:rPr lang="en-GB" b="0" i="0" u="none" strike="noStrike" dirty="0">
                <a:solidFill>
                  <a:srgbClr val="D1D5DB"/>
                </a:solidFill>
                <a:effectLst/>
                <a:latin typeface="Söhne"/>
              </a:rPr>
              <a:t> STAR Score dans </a:t>
            </a:r>
            <a:r>
              <a:rPr lang="en-GB" b="0" i="0" u="none" strike="noStrike" dirty="0" err="1">
                <a:solidFill>
                  <a:srgbClr val="D1D5DB"/>
                </a:solidFill>
                <a:effectLst/>
                <a:latin typeface="Söhne"/>
              </a:rPr>
              <a:t>vos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modèles</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voir</a:t>
            </a:r>
            <a:r>
              <a:rPr lang="en-GB" b="0" i="0" u="none" strike="noStrike" dirty="0">
                <a:solidFill>
                  <a:srgbClr val="D1D5DB"/>
                </a:solidFill>
                <a:effectLst/>
                <a:latin typeface="Söhne"/>
              </a:rPr>
              <a:t> comment </a:t>
            </a:r>
            <a:r>
              <a:rPr lang="en-GB" b="0" i="0" u="none" strike="noStrike" dirty="0" err="1">
                <a:solidFill>
                  <a:srgbClr val="D1D5DB"/>
                </a:solidFill>
                <a:effectLst/>
                <a:latin typeface="Söhne"/>
              </a:rPr>
              <a:t>cela</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affecte</a:t>
            </a:r>
            <a:r>
              <a:rPr lang="en-GB" b="0" i="0" u="none" strike="noStrike" dirty="0">
                <a:solidFill>
                  <a:srgbClr val="D1D5DB"/>
                </a:solidFill>
                <a:effectLst/>
                <a:latin typeface="Söhne"/>
              </a:rPr>
              <a:t> la performance. </a:t>
            </a:r>
            <a:r>
              <a:rPr lang="en-GB" b="0" i="0" u="none" strike="noStrike" dirty="0" err="1">
                <a:solidFill>
                  <a:srgbClr val="D1D5DB"/>
                </a:solidFill>
                <a:effectLst/>
                <a:latin typeface="Söhne"/>
              </a:rPr>
              <a:t>Comparez</a:t>
            </a:r>
            <a:r>
              <a:rPr lang="en-GB" b="0" i="0" u="none" strike="noStrike" dirty="0">
                <a:solidFill>
                  <a:srgbClr val="D1D5DB"/>
                </a:solidFill>
                <a:effectLst/>
                <a:latin typeface="Söhne"/>
              </a:rPr>
              <a:t> les performances du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avec et sans </a:t>
            </a:r>
            <a:r>
              <a:rPr lang="en-GB" b="0" i="0" u="none" strike="noStrike" dirty="0" err="1">
                <a:solidFill>
                  <a:srgbClr val="D1D5DB"/>
                </a:solidFill>
                <a:effectLst/>
                <a:latin typeface="Söhne"/>
              </a:rPr>
              <a:t>cette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caractéristique</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évaluer</a:t>
            </a:r>
            <a:r>
              <a:rPr lang="en-GB" b="0" i="0" u="none" strike="noStrike" dirty="0">
                <a:solidFill>
                  <a:srgbClr val="D1D5DB"/>
                </a:solidFill>
                <a:effectLst/>
                <a:latin typeface="Söhne"/>
              </a:rPr>
              <a:t> son </a:t>
            </a:r>
            <a:r>
              <a:rPr lang="en-GB" b="0" i="0" u="none" strike="noStrike" dirty="0" err="1">
                <a:solidFill>
                  <a:srgbClr val="D1D5DB"/>
                </a:solidFill>
                <a:effectLst/>
                <a:latin typeface="Söhne"/>
              </a:rPr>
              <a:t>utilité</a:t>
            </a:r>
            <a:r>
              <a:rPr lang="en-GB" b="0" i="0" u="none" strike="noStrike" dirty="0">
                <a:solidFill>
                  <a:srgbClr val="D1D5DB"/>
                </a:solidFill>
                <a:effectLst/>
                <a:latin typeface="Söhne"/>
              </a:rPr>
              <a:t>.</a:t>
            </a:r>
          </a:p>
          <a:p>
            <a:pPr algn="l">
              <a:buFont typeface="+mj-lt"/>
              <a:buAutoNum type="arabicPeriod"/>
            </a:pPr>
            <a:r>
              <a:rPr lang="en-GB" b="1" i="0" u="none" strike="noStrike" dirty="0" err="1">
                <a:solidFill>
                  <a:srgbClr val="D1D5DB"/>
                </a:solidFill>
                <a:effectLst/>
                <a:latin typeface="Söhne"/>
              </a:rPr>
              <a:t>Prédiction</a:t>
            </a:r>
            <a:r>
              <a:rPr lang="en-GB" b="1" i="0" u="none" strike="noStrike" dirty="0">
                <a:solidFill>
                  <a:srgbClr val="D1D5DB"/>
                </a:solidFill>
                <a:effectLst/>
                <a:latin typeface="Söhne"/>
              </a:rPr>
              <a:t> et </a:t>
            </a:r>
            <a:r>
              <a:rPr lang="en-GB" b="1" i="0" u="none" strike="noStrike" dirty="0" err="1">
                <a:solidFill>
                  <a:srgbClr val="D1D5DB"/>
                </a:solidFill>
                <a:effectLst/>
                <a:latin typeface="Söhne"/>
              </a:rPr>
              <a:t>évaluation</a:t>
            </a:r>
            <a:r>
              <a:rPr lang="en-GB" b="1" i="0" u="none" strike="noStrike" dirty="0">
                <a:solidFill>
                  <a:srgbClr val="D1D5DB"/>
                </a:solidFill>
                <a:effectLst/>
                <a:latin typeface="Söhne"/>
              </a:rPr>
              <a:t> :</a:t>
            </a:r>
            <a:r>
              <a:rPr lang="en-GB" b="0" i="0" u="none" strike="noStrike" dirty="0">
                <a:solidFill>
                  <a:srgbClr val="D1D5DB"/>
                </a:solidFill>
                <a:effectLst/>
                <a:latin typeface="Söhne"/>
              </a:rPr>
              <a:t> Après </a:t>
            </a:r>
            <a:r>
              <a:rPr lang="en-GB" b="0" i="0" u="none" strike="noStrike" dirty="0" err="1">
                <a:solidFill>
                  <a:srgbClr val="D1D5DB"/>
                </a:solidFill>
                <a:effectLst/>
                <a:latin typeface="Söhne"/>
              </a:rPr>
              <a:t>avoir</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choisi</a:t>
            </a:r>
            <a:r>
              <a:rPr lang="en-GB" b="0" i="0" u="none" strike="noStrike" dirty="0">
                <a:solidFill>
                  <a:srgbClr val="D1D5DB"/>
                </a:solidFill>
                <a:effectLst/>
                <a:latin typeface="Söhne"/>
              </a:rPr>
              <a:t> le </a:t>
            </a:r>
            <a:r>
              <a:rPr lang="en-GB" b="0" i="0" u="none" strike="noStrike" dirty="0" err="1">
                <a:solidFill>
                  <a:srgbClr val="D1D5DB"/>
                </a:solidFill>
                <a:effectLst/>
                <a:latin typeface="Söhne"/>
              </a:rPr>
              <a:t>meilleur</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fonction</a:t>
            </a:r>
            <a:r>
              <a:rPr lang="en-GB" b="0" i="0" u="none" strike="noStrike" dirty="0">
                <a:solidFill>
                  <a:srgbClr val="D1D5DB"/>
                </a:solidFill>
                <a:effectLst/>
                <a:latin typeface="Söhne"/>
              </a:rPr>
              <a:t> de la performance de validation </a:t>
            </a:r>
            <a:r>
              <a:rPr lang="en-GB" b="0" i="0" u="none" strike="noStrike" dirty="0" err="1">
                <a:solidFill>
                  <a:srgbClr val="D1D5DB"/>
                </a:solidFill>
                <a:effectLst/>
                <a:latin typeface="Söhne"/>
              </a:rPr>
              <a:t>croisée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faites</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prédictions</a:t>
            </a:r>
            <a:r>
              <a:rPr lang="en-GB" b="0" i="0" u="none" strike="noStrike" dirty="0">
                <a:solidFill>
                  <a:srgbClr val="D1D5DB"/>
                </a:solidFill>
                <a:effectLst/>
                <a:latin typeface="Söhne"/>
              </a:rPr>
              <a:t> sur le dataset de test et </a:t>
            </a:r>
            <a:r>
              <a:rPr lang="en-GB" b="0" i="0" u="none" strike="noStrike" dirty="0" err="1">
                <a:solidFill>
                  <a:srgbClr val="D1D5DB"/>
                </a:solidFill>
                <a:effectLst/>
                <a:latin typeface="Söhne"/>
              </a:rPr>
              <a:t>évaluez</a:t>
            </a:r>
            <a:r>
              <a:rPr lang="en-GB" b="0" i="0" u="none" strike="noStrike" dirty="0">
                <a:solidFill>
                  <a:srgbClr val="D1D5DB"/>
                </a:solidFill>
                <a:effectLst/>
                <a:latin typeface="Söhne"/>
              </a:rPr>
              <a:t> la performance du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Utilisez</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métriques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appropriées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telles</a:t>
            </a:r>
            <a:r>
              <a:rPr lang="en-GB" b="0" i="0" u="none" strike="noStrike" dirty="0">
                <a:solidFill>
                  <a:srgbClr val="D1D5DB"/>
                </a:solidFill>
                <a:effectLst/>
                <a:latin typeface="Söhne"/>
              </a:rPr>
              <a:t> que le R-</a:t>
            </a:r>
            <a:r>
              <a:rPr lang="en-GB" b="0" i="0" u="none" strike="noStrike" dirty="0" err="1">
                <a:solidFill>
                  <a:srgbClr val="D1D5DB"/>
                </a:solidFill>
                <a:effectLst/>
                <a:latin typeface="Söhne"/>
              </a:rPr>
              <a:t>carré</a:t>
            </a:r>
            <a:r>
              <a:rPr lang="en-GB" b="0" i="0" u="none" strike="noStrike" dirty="0">
                <a:solidFill>
                  <a:srgbClr val="D1D5DB"/>
                </a:solidFill>
                <a:effectLst/>
                <a:latin typeface="Söhne"/>
              </a:rPr>
              <a:t>, le RMSE (Root Mean Square Error)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le MAE (Mean Absolute Error). </a:t>
            </a:r>
            <a:r>
              <a:rPr lang="en-GB" b="0" i="0" u="none" strike="noStrike" dirty="0" err="1">
                <a:solidFill>
                  <a:srgbClr val="D1D5DB"/>
                </a:solidFill>
                <a:effectLst/>
                <a:latin typeface="Söhne"/>
              </a:rPr>
              <a:t>Cette</a:t>
            </a:r>
            <a:r>
              <a:rPr lang="en-GB" b="0" i="0" u="none" strike="noStrike" dirty="0">
                <a:solidFill>
                  <a:srgbClr val="D1D5DB"/>
                </a:solidFill>
                <a:effectLst/>
                <a:latin typeface="Söhne"/>
              </a:rPr>
              <a:t> étape </a:t>
            </a:r>
            <a:r>
              <a:rPr lang="en-GB" b="0" i="0" u="none" strike="noStrike" dirty="0" err="1">
                <a:solidFill>
                  <a:srgbClr val="D1D5DB"/>
                </a:solidFill>
                <a:effectLst/>
                <a:latin typeface="Söhne"/>
              </a:rPr>
              <a:t>vous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aidera</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à</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comprendre</a:t>
            </a:r>
            <a:r>
              <a:rPr lang="en-GB" b="0" i="0" u="none" strike="noStrike" dirty="0">
                <a:solidFill>
                  <a:srgbClr val="D1D5DB"/>
                </a:solidFill>
                <a:effectLst/>
                <a:latin typeface="Söhne"/>
              </a:rPr>
              <a:t> comment le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se </a:t>
            </a:r>
            <a:r>
              <a:rPr lang="en-GB" b="0" i="0" u="none" strike="noStrike" dirty="0" err="1">
                <a:solidFill>
                  <a:srgbClr val="D1D5DB"/>
                </a:solidFill>
                <a:effectLst/>
                <a:latin typeface="Söhne"/>
              </a:rPr>
              <a:t>comportera</a:t>
            </a:r>
            <a:r>
              <a:rPr lang="en-GB" b="0" i="0" u="none" strike="noStrike" dirty="0">
                <a:solidFill>
                  <a:srgbClr val="D1D5DB"/>
                </a:solidFill>
                <a:effectLst/>
                <a:latin typeface="Söhne"/>
              </a:rPr>
              <a:t> sur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non </a:t>
            </a:r>
            <a:r>
              <a:rPr lang="en-GB" b="0" i="0" u="none" strike="noStrike" dirty="0" err="1">
                <a:solidFill>
                  <a:srgbClr val="D1D5DB"/>
                </a:solidFill>
                <a:effectLst/>
                <a:latin typeface="Söhne"/>
              </a:rPr>
              <a:t>vues</a:t>
            </a:r>
            <a:r>
              <a:rPr lang="en-GB" b="0" i="0" u="none" strike="noStrike" dirty="0">
                <a:solidFill>
                  <a:srgbClr val="D1D5DB"/>
                </a:solidFill>
                <a:effectLst/>
                <a:latin typeface="Söhne"/>
              </a:rPr>
              <a:t>.</a:t>
            </a:r>
          </a:p>
          <a:p>
            <a:pPr algn="l"/>
            <a:endParaRPr lang="en-GB" b="0" i="0" u="none" strike="noStrike" dirty="0">
              <a:solidFill>
                <a:srgbClr val="D1D5DB"/>
              </a:solidFill>
              <a:effectLst/>
              <a:latin typeface="Söhne"/>
            </a:endParaRP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t>analyse</a:t>
            </a:r>
            <a:r>
              <a:rPr lang="en-US" dirty="0"/>
              <a:t> des </a:t>
            </a:r>
            <a:r>
              <a:rPr lang="en-US" dirty="0" err="1"/>
              <a:t>données</a:t>
            </a:r>
            <a:r>
              <a:rPr lang="en-US" dirty="0"/>
              <a:t> et le </a:t>
            </a:r>
            <a:r>
              <a:rPr lang="en-US" dirty="0" err="1"/>
              <a:t>nettoyage</a:t>
            </a:r>
            <a:r>
              <a:rPr lang="en-US" dirty="0"/>
              <a:t> </a:t>
            </a:r>
            <a:r>
              <a:rPr lang="en-US" dirty="0" err="1"/>
              <a:t>afin</a:t>
            </a:r>
            <a:r>
              <a:rPr lang="en-US" dirty="0"/>
              <a:t> de </a:t>
            </a:r>
            <a:r>
              <a:rPr lang="en-US" dirty="0" err="1"/>
              <a:t>déterminer</a:t>
            </a:r>
            <a:r>
              <a:rPr lang="en-US" dirty="0"/>
              <a:t> </a:t>
            </a:r>
            <a:r>
              <a:rPr lang="en-US" dirty="0" err="1"/>
              <a:t>quelles</a:t>
            </a:r>
            <a:r>
              <a:rPr lang="en-US" dirty="0"/>
              <a:t> </a:t>
            </a:r>
            <a:r>
              <a:rPr lang="en-US" dirty="0" err="1"/>
              <a:t>colonnes</a:t>
            </a:r>
            <a:r>
              <a:rPr lang="en-US" dirty="0"/>
              <a:t> </a:t>
            </a:r>
            <a:r>
              <a:rPr lang="en-US" dirty="0" err="1"/>
              <a:t>sont</a:t>
            </a:r>
            <a:r>
              <a:rPr lang="en-US" dirty="0"/>
              <a:t> </a:t>
            </a:r>
            <a:r>
              <a:rPr lang="en-US" dirty="0" err="1"/>
              <a:t>à</a:t>
            </a:r>
            <a:r>
              <a:rPr lang="en-US" dirty="0"/>
              <a:t> </a:t>
            </a:r>
            <a:r>
              <a:rPr lang="en-US" dirty="0" err="1"/>
              <a:t>garder</a:t>
            </a:r>
            <a:endParaRPr lang="fr-FR" sz="1100" b="0" i="0" u="none" strike="noStrike" cap="none" dirty="0">
              <a:solidFill>
                <a:schemeClr val="dk1"/>
              </a:solidFill>
              <a:latin typeface="Quicksand Medium"/>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sz="1100" b="0" i="0" u="none" strike="noStrike" cap="none" dirty="0">
              <a:solidFill>
                <a:schemeClr val="dk1"/>
              </a:solidFill>
              <a:latin typeface="Quicksand Medium"/>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100" b="0" i="0" u="none" strike="noStrike" cap="none" dirty="0">
                <a:solidFill>
                  <a:schemeClr val="dk1"/>
                </a:solidFill>
                <a:latin typeface="Quicksand Medium"/>
                <a:ea typeface="Arial"/>
                <a:cs typeface="Arial"/>
                <a:sym typeface="Arial"/>
              </a:rPr>
              <a:t>Source des données, EDA, description statistiques, matrice de corrélation, gestion des valeurs aberrante, </a:t>
            </a:r>
            <a:r>
              <a:rPr lang="fr-FR" sz="1100" b="0" i="0" u="none" strike="noStrike" cap="none" dirty="0" err="1">
                <a:solidFill>
                  <a:schemeClr val="dk1"/>
                </a:solidFill>
                <a:latin typeface="Quicksand Medium"/>
                <a:ea typeface="Arial"/>
                <a:cs typeface="Arial"/>
                <a:sym typeface="Arial"/>
              </a:rPr>
              <a:t>outliers</a:t>
            </a:r>
            <a:r>
              <a:rPr lang="fr-FR" sz="1100" b="0" i="0" u="none" strike="noStrike" cap="none" dirty="0">
                <a:solidFill>
                  <a:schemeClr val="dk1"/>
                </a:solidFill>
                <a:latin typeface="Quicksand Medium"/>
                <a:ea typeface="Arial"/>
                <a:cs typeface="Arial"/>
                <a:sym typeface="Arial"/>
              </a:rPr>
              <a:t> et valeurs manquantes</a:t>
            </a:r>
          </a:p>
          <a:p>
            <a:endParaRPr lang="fr-FR" dirty="0"/>
          </a:p>
          <a:p>
            <a:r>
              <a:rPr lang="fr-FR" dirty="0"/>
              <a:t>*Numériques dont certaines quantitatives et d’autres ordinales</a:t>
            </a:r>
          </a:p>
          <a:p>
            <a:endParaRPr lang="fr-FR" dirty="0"/>
          </a:p>
          <a:p>
            <a:r>
              <a:rPr lang="en-GB" b="0" i="0" u="none" strike="noStrike" dirty="0" err="1">
                <a:solidFill>
                  <a:srgbClr val="D1D5DB"/>
                </a:solidFill>
                <a:effectLst/>
                <a:latin typeface="Söhne"/>
              </a:rPr>
              <a:t>Cette</a:t>
            </a:r>
            <a:r>
              <a:rPr lang="en-GB" b="0" i="0" u="none" strike="noStrike" dirty="0">
                <a:solidFill>
                  <a:srgbClr val="D1D5DB"/>
                </a:solidFill>
                <a:effectLst/>
                <a:latin typeface="Söhne"/>
              </a:rPr>
              <a:t> étape </a:t>
            </a:r>
            <a:r>
              <a:rPr lang="en-GB" b="0" i="0" u="none" strike="noStrike" dirty="0" err="1">
                <a:solidFill>
                  <a:srgbClr val="D1D5DB"/>
                </a:solidFill>
                <a:effectLst/>
                <a:latin typeface="Söhne"/>
              </a:rPr>
              <a:t>consiste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à</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sélectionner</a:t>
            </a:r>
            <a:r>
              <a:rPr lang="en-GB" b="0" i="0" u="none" strike="noStrike" dirty="0">
                <a:solidFill>
                  <a:srgbClr val="D1D5DB"/>
                </a:solidFill>
                <a:effectLst/>
                <a:latin typeface="Söhne"/>
              </a:rPr>
              <a:t> les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qui </a:t>
            </a:r>
            <a:r>
              <a:rPr lang="en-GB" b="0" i="0" u="none" strike="noStrike" dirty="0" err="1">
                <a:solidFill>
                  <a:srgbClr val="D1D5DB"/>
                </a:solidFill>
                <a:effectLst/>
                <a:latin typeface="Söhne"/>
              </a:rPr>
              <a:t>seront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utiles</a:t>
            </a:r>
            <a:r>
              <a:rPr lang="en-GB" b="0" i="0" u="none" strike="noStrike" dirty="0">
                <a:solidFill>
                  <a:srgbClr val="D1D5DB"/>
                </a:solidFill>
                <a:effectLst/>
                <a:latin typeface="Söhne"/>
              </a:rPr>
              <a:t> pour la </a:t>
            </a:r>
            <a:r>
              <a:rPr lang="en-GB" b="0" i="0" u="none" strike="noStrike" dirty="0" err="1">
                <a:solidFill>
                  <a:srgbClr val="D1D5DB"/>
                </a:solidFill>
                <a:effectLst/>
                <a:latin typeface="Söhne"/>
              </a:rPr>
              <a:t>modélisation</a:t>
            </a:r>
            <a:r>
              <a:rPr lang="en-GB" b="0" i="0" u="none" strike="noStrike" dirty="0">
                <a:solidFill>
                  <a:srgbClr val="D1D5DB"/>
                </a:solidFill>
                <a:effectLst/>
                <a:latin typeface="Söhne"/>
              </a:rPr>
              <a:t>. Il </a:t>
            </a:r>
            <a:r>
              <a:rPr lang="en-GB" b="0" i="0" u="none" strike="noStrike" dirty="0" err="1">
                <a:solidFill>
                  <a:srgbClr val="D1D5DB"/>
                </a:solidFill>
                <a:effectLst/>
                <a:latin typeface="Söhne"/>
              </a:rPr>
              <a:t>s'agit</a:t>
            </a:r>
            <a:r>
              <a:rPr lang="en-GB" b="0" i="0" u="none" strike="noStrike" dirty="0">
                <a:solidFill>
                  <a:srgbClr val="D1D5DB"/>
                </a:solidFill>
                <a:effectLst/>
                <a:latin typeface="Söhne"/>
              </a:rPr>
              <a:t> d'un </a:t>
            </a:r>
            <a:r>
              <a:rPr lang="en-GB" b="0" i="0" u="none" strike="noStrike" dirty="0" err="1">
                <a:solidFill>
                  <a:srgbClr val="D1D5DB"/>
                </a:solidFill>
                <a:effectLst/>
                <a:latin typeface="Söhne"/>
              </a:rPr>
              <a:t>processus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d'exploration</a:t>
            </a:r>
            <a:r>
              <a:rPr lang="en-GB" b="0" i="0" u="none" strike="noStrike" dirty="0">
                <a:solidFill>
                  <a:srgbClr val="D1D5DB"/>
                </a:solidFill>
                <a:effectLst/>
                <a:latin typeface="Söhne"/>
              </a:rPr>
              <a:t> et </a:t>
            </a:r>
            <a:r>
              <a:rPr lang="en-GB" b="0" i="0" u="none" strike="noStrike" dirty="0" err="1">
                <a:solidFill>
                  <a:srgbClr val="D1D5DB"/>
                </a:solidFill>
                <a:effectLst/>
                <a:latin typeface="Söhne"/>
              </a:rPr>
              <a:t>d'analyse</a:t>
            </a:r>
            <a:r>
              <a:rPr lang="en-GB" b="0" i="0" u="none" strike="noStrike" dirty="0">
                <a:solidFill>
                  <a:srgbClr val="D1D5DB"/>
                </a:solidFill>
                <a:effectLst/>
                <a:latin typeface="Söhne"/>
              </a:rPr>
              <a:t> des </a:t>
            </a:r>
            <a:r>
              <a:rPr lang="en-GB" b="0" i="0" u="none" strike="noStrike" dirty="0" err="1">
                <a:solidFill>
                  <a:srgbClr val="D1D5DB"/>
                </a:solidFill>
                <a:effectLst/>
                <a:latin typeface="Söhne"/>
              </a:rPr>
              <a:t>données</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comprendre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quels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attributs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sont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pertinents</a:t>
            </a:r>
            <a:r>
              <a:rPr lang="en-GB" b="0" i="0" u="none" strike="noStrike" dirty="0">
                <a:solidFill>
                  <a:srgbClr val="D1D5DB"/>
                </a:solidFill>
                <a:effectLst/>
                <a:latin typeface="Söhne"/>
              </a:rPr>
              <a:t> pour la </a:t>
            </a:r>
            <a:r>
              <a:rPr lang="en-GB" b="0" i="0" u="none" strike="noStrike" dirty="0" err="1">
                <a:solidFill>
                  <a:srgbClr val="D1D5DB"/>
                </a:solidFill>
                <a:effectLst/>
                <a:latin typeface="Söhne"/>
              </a:rPr>
              <a:t>prédiction</a:t>
            </a:r>
            <a:r>
              <a:rPr lang="en-GB" b="0" i="0" u="none" strike="noStrike" dirty="0">
                <a:solidFill>
                  <a:srgbClr val="D1D5DB"/>
                </a:solidFill>
                <a:effectLst/>
                <a:latin typeface="Söhne"/>
              </a:rPr>
              <a:t> des variables </a:t>
            </a:r>
            <a:r>
              <a:rPr lang="en-GB" b="0" i="0" u="none" strike="noStrike" dirty="0" err="1">
                <a:solidFill>
                  <a:srgbClr val="D1D5DB"/>
                </a:solidFill>
                <a:effectLst/>
                <a:latin typeface="Söhne"/>
              </a:rPr>
              <a:t>cibles</a:t>
            </a:r>
            <a:r>
              <a:rPr lang="en-GB" b="0" i="0" u="none" strike="noStrike" dirty="0">
                <a:solidFill>
                  <a:srgbClr val="D1D5DB"/>
                </a:solidFill>
                <a:effectLst/>
                <a:latin typeface="Söhne"/>
              </a:rPr>
              <a:t>.</a:t>
            </a:r>
            <a:endParaRPr lang="fr-FR" dirty="0"/>
          </a:p>
        </p:txBody>
      </p:sp>
    </p:spTree>
    <p:extLst>
      <p:ext uri="{BB962C8B-B14F-4D97-AF65-F5344CB8AC3E}">
        <p14:creationId xmlns:p14="http://schemas.microsoft.com/office/powerpoint/2010/main" val="39329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buFont typeface="+mj-lt"/>
              <a:buAutoNum type="arabicPeriod"/>
            </a:pPr>
            <a:r>
              <a:rPr lang="en-US" b="1" i="0" dirty="0" err="1">
                <a:solidFill>
                  <a:srgbClr val="374151"/>
                </a:solidFill>
                <a:effectLst/>
                <a:latin typeface="Söhne"/>
              </a:rPr>
              <a:t>Réduction</a:t>
            </a:r>
            <a:r>
              <a:rPr lang="en-US" b="1" i="0" dirty="0">
                <a:solidFill>
                  <a:srgbClr val="374151"/>
                </a:solidFill>
                <a:effectLst/>
                <a:latin typeface="Söhne"/>
              </a:rPr>
              <a:t> de la skewness :</a:t>
            </a:r>
            <a:r>
              <a:rPr lang="en-US" b="0" i="0" dirty="0">
                <a:solidFill>
                  <a:srgbClr val="374151"/>
                </a:solidFill>
                <a:effectLst/>
                <a:latin typeface="Söhne"/>
              </a:rPr>
              <a:t> De </a:t>
            </a:r>
            <a:r>
              <a:rPr lang="en-US" b="0" i="0" dirty="0" err="1">
                <a:solidFill>
                  <a:srgbClr val="374151"/>
                </a:solidFill>
                <a:effectLst/>
                <a:latin typeface="Söhne"/>
              </a:rPr>
              <a:t>nombreuses</a:t>
            </a:r>
            <a:r>
              <a:rPr lang="en-US" b="0" i="0" dirty="0">
                <a:solidFill>
                  <a:srgbClr val="374151"/>
                </a:solidFill>
                <a:effectLst/>
                <a:latin typeface="Söhne"/>
              </a:rPr>
              <a:t> techniques </a:t>
            </a:r>
            <a:r>
              <a:rPr lang="en-US" b="0" i="0" dirty="0" err="1">
                <a:solidFill>
                  <a:srgbClr val="374151"/>
                </a:solidFill>
                <a:effectLst/>
                <a:latin typeface="Söhne"/>
              </a:rPr>
              <a:t>statistiques</a:t>
            </a:r>
            <a:r>
              <a:rPr lang="en-US" b="0" i="0" dirty="0">
                <a:solidFill>
                  <a:srgbClr val="374151"/>
                </a:solidFill>
                <a:effectLst/>
                <a:latin typeface="Söhne"/>
              </a:rPr>
              <a:t> </a:t>
            </a:r>
            <a:r>
              <a:rPr lang="en-US" b="0" i="0" dirty="0" err="1">
                <a:solidFill>
                  <a:srgbClr val="374151"/>
                </a:solidFill>
                <a:effectLst/>
                <a:latin typeface="Söhne"/>
              </a:rPr>
              <a:t>supposent</a:t>
            </a:r>
            <a:r>
              <a:rPr lang="en-US" b="0" i="0" dirty="0">
                <a:solidFill>
                  <a:srgbClr val="374151"/>
                </a:solidFill>
                <a:effectLst/>
                <a:latin typeface="Söhne"/>
              </a:rPr>
              <a:t> (</a:t>
            </a:r>
            <a:r>
              <a:rPr lang="en-US" b="0" i="0" dirty="0" err="1">
                <a:solidFill>
                  <a:srgbClr val="374151"/>
                </a:solidFill>
                <a:effectLst/>
                <a:latin typeface="Söhne"/>
              </a:rPr>
              <a:t>ou</a:t>
            </a:r>
            <a:r>
              <a:rPr lang="en-US" b="0" i="0" dirty="0">
                <a:solidFill>
                  <a:srgbClr val="374151"/>
                </a:solidFill>
                <a:effectLst/>
                <a:latin typeface="Söhne"/>
              </a:rPr>
              <a:t> </a:t>
            </a:r>
            <a:r>
              <a:rPr lang="en-US" b="0" i="0" dirty="0" err="1">
                <a:solidFill>
                  <a:srgbClr val="374151"/>
                </a:solidFill>
                <a:effectLst/>
                <a:latin typeface="Söhne"/>
              </a:rPr>
              <a:t>fonctionnent</a:t>
            </a:r>
            <a:r>
              <a:rPr lang="en-US" b="0" i="0" dirty="0">
                <a:solidFill>
                  <a:srgbClr val="374151"/>
                </a:solidFill>
                <a:effectLst/>
                <a:latin typeface="Söhne"/>
              </a:rPr>
              <a:t> </a:t>
            </a:r>
            <a:r>
              <a:rPr lang="en-US" b="0" i="0" dirty="0" err="1">
                <a:solidFill>
                  <a:srgbClr val="374151"/>
                </a:solidFill>
                <a:effectLst/>
                <a:latin typeface="Söhne"/>
              </a:rPr>
              <a:t>mieux</a:t>
            </a:r>
            <a:r>
              <a:rPr lang="en-US" b="0" i="0" dirty="0">
                <a:solidFill>
                  <a:srgbClr val="374151"/>
                </a:solidFill>
                <a:effectLst/>
                <a:latin typeface="Söhne"/>
              </a:rPr>
              <a:t>) </a:t>
            </a:r>
            <a:r>
              <a:rPr lang="en-US" b="0" i="0" dirty="0" err="1">
                <a:solidFill>
                  <a:srgbClr val="374151"/>
                </a:solidFill>
                <a:effectLst/>
                <a:latin typeface="Söhne"/>
              </a:rPr>
              <a:t>lorsque</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sont</a:t>
            </a:r>
            <a:r>
              <a:rPr lang="en-US" b="0" i="0" dirty="0">
                <a:solidFill>
                  <a:srgbClr val="374151"/>
                </a:solidFill>
                <a:effectLst/>
                <a:latin typeface="Söhne"/>
              </a:rPr>
              <a:t> </a:t>
            </a:r>
            <a:r>
              <a:rPr lang="en-US" b="0" i="0" dirty="0" err="1">
                <a:solidFill>
                  <a:srgbClr val="374151"/>
                </a:solidFill>
                <a:effectLst/>
                <a:latin typeface="Söhne"/>
              </a:rPr>
              <a:t>normalement</a:t>
            </a:r>
            <a:r>
              <a:rPr lang="en-US" b="0" i="0" dirty="0">
                <a:solidFill>
                  <a:srgbClr val="374151"/>
                </a:solidFill>
                <a:effectLst/>
                <a:latin typeface="Söhne"/>
              </a:rPr>
              <a:t> </a:t>
            </a:r>
            <a:r>
              <a:rPr lang="en-US" b="0" i="0" dirty="0" err="1">
                <a:solidFill>
                  <a:srgbClr val="374151"/>
                </a:solidFill>
                <a:effectLst/>
                <a:latin typeface="Söhne"/>
              </a:rPr>
              <a:t>distribuées</a:t>
            </a:r>
            <a:r>
              <a:rPr lang="en-US" b="0" i="0" dirty="0">
                <a:solidFill>
                  <a:srgbClr val="374151"/>
                </a:solidFill>
                <a:effectLst/>
                <a:latin typeface="Söhne"/>
              </a:rPr>
              <a:t>. Or, de </a:t>
            </a:r>
            <a:r>
              <a:rPr lang="en-US" b="0" i="0" dirty="0" err="1">
                <a:solidFill>
                  <a:srgbClr val="374151"/>
                </a:solidFill>
                <a:effectLst/>
                <a:latin typeface="Söhne"/>
              </a:rPr>
              <a:t>nombreuses</a:t>
            </a:r>
            <a:r>
              <a:rPr lang="en-US" b="0" i="0" dirty="0">
                <a:solidFill>
                  <a:srgbClr val="374151"/>
                </a:solidFill>
                <a:effectLst/>
                <a:latin typeface="Söhne"/>
              </a:rPr>
              <a:t> variables </a:t>
            </a:r>
            <a:r>
              <a:rPr lang="en-US" b="0" i="0" dirty="0" err="1">
                <a:solidFill>
                  <a:srgbClr val="374151"/>
                </a:solidFill>
                <a:effectLst/>
                <a:latin typeface="Söhne"/>
              </a:rPr>
              <a:t>numériques</a:t>
            </a:r>
            <a:r>
              <a:rPr lang="en-US" b="0" i="0" dirty="0">
                <a:solidFill>
                  <a:srgbClr val="374151"/>
                </a:solidFill>
                <a:effectLst/>
                <a:latin typeface="Söhne"/>
              </a:rPr>
              <a:t> dans les ensembles de </a:t>
            </a:r>
            <a:r>
              <a:rPr lang="en-US" b="0" i="0" dirty="0" err="1">
                <a:solidFill>
                  <a:srgbClr val="374151"/>
                </a:solidFill>
                <a:effectLst/>
                <a:latin typeface="Söhne"/>
              </a:rPr>
              <a:t>données</a:t>
            </a:r>
            <a:r>
              <a:rPr lang="en-US" b="0" i="0" dirty="0">
                <a:solidFill>
                  <a:srgbClr val="374151"/>
                </a:solidFill>
                <a:effectLst/>
                <a:latin typeface="Söhne"/>
              </a:rPr>
              <a:t> du monde </a:t>
            </a:r>
            <a:r>
              <a:rPr lang="en-US" b="0" i="0" dirty="0" err="1">
                <a:solidFill>
                  <a:srgbClr val="374151"/>
                </a:solidFill>
                <a:effectLst/>
                <a:latin typeface="Söhne"/>
              </a:rPr>
              <a:t>réel</a:t>
            </a:r>
            <a:r>
              <a:rPr lang="en-US" b="0" i="0" dirty="0">
                <a:solidFill>
                  <a:srgbClr val="374151"/>
                </a:solidFill>
                <a:effectLst/>
                <a:latin typeface="Söhne"/>
              </a:rPr>
              <a:t> </a:t>
            </a:r>
            <a:r>
              <a:rPr lang="en-US" b="0" i="0" dirty="0" err="1">
                <a:solidFill>
                  <a:srgbClr val="374151"/>
                </a:solidFill>
                <a:effectLst/>
                <a:latin typeface="Söhne"/>
              </a:rPr>
              <a:t>sont</a:t>
            </a:r>
            <a:r>
              <a:rPr lang="en-US" b="0" i="0" dirty="0">
                <a:solidFill>
                  <a:srgbClr val="374151"/>
                </a:solidFill>
                <a:effectLst/>
                <a:latin typeface="Söhne"/>
              </a:rPr>
              <a:t> </a:t>
            </a:r>
            <a:r>
              <a:rPr lang="en-US" b="0" i="0" dirty="0" err="1">
                <a:solidFill>
                  <a:srgbClr val="374151"/>
                </a:solidFill>
                <a:effectLst/>
                <a:latin typeface="Söhne"/>
              </a:rPr>
              <a:t>souvent</a:t>
            </a:r>
            <a:r>
              <a:rPr lang="en-US" b="0" i="0" dirty="0">
                <a:solidFill>
                  <a:srgbClr val="374151"/>
                </a:solidFill>
                <a:effectLst/>
                <a:latin typeface="Söhne"/>
              </a:rPr>
              <a:t> </a:t>
            </a:r>
            <a:r>
              <a:rPr lang="en-US" b="0" i="0" dirty="0" err="1">
                <a:solidFill>
                  <a:srgbClr val="374151"/>
                </a:solidFill>
                <a:effectLst/>
                <a:latin typeface="Söhne"/>
              </a:rPr>
              <a:t>asymétriques</a:t>
            </a:r>
            <a:r>
              <a:rPr lang="en-US" b="0" i="0" dirty="0">
                <a:solidFill>
                  <a:srgbClr val="374151"/>
                </a:solidFill>
                <a:effectLst/>
                <a:latin typeface="Söhne"/>
              </a:rPr>
              <a:t> (</a:t>
            </a:r>
            <a:r>
              <a:rPr lang="en-US" b="0" i="0" dirty="0" err="1">
                <a:solidFill>
                  <a:srgbClr val="374151"/>
                </a:solidFill>
                <a:effectLst/>
                <a:latin typeface="Söhne"/>
              </a:rPr>
              <a:t>ou</a:t>
            </a:r>
            <a:r>
              <a:rPr lang="en-US" b="0" i="0" dirty="0">
                <a:solidFill>
                  <a:srgbClr val="374151"/>
                </a:solidFill>
                <a:effectLst/>
                <a:latin typeface="Söhne"/>
              </a:rPr>
              <a:t> "skewed"). La transformation </a:t>
            </a:r>
            <a:r>
              <a:rPr lang="en-US" b="0" i="0" dirty="0" err="1">
                <a:solidFill>
                  <a:srgbClr val="374151"/>
                </a:solidFill>
                <a:effectLst/>
                <a:latin typeface="Söhne"/>
              </a:rPr>
              <a:t>logarithmique</a:t>
            </a:r>
            <a:r>
              <a:rPr lang="en-US" b="0" i="0" dirty="0">
                <a:solidFill>
                  <a:srgbClr val="374151"/>
                </a:solidFill>
                <a:effectLst/>
                <a:latin typeface="Söhne"/>
              </a:rPr>
              <a:t> </a:t>
            </a:r>
            <a:r>
              <a:rPr lang="en-US" b="0" i="0" dirty="0" err="1">
                <a:solidFill>
                  <a:srgbClr val="374151"/>
                </a:solidFill>
                <a:effectLst/>
                <a:latin typeface="Söhne"/>
              </a:rPr>
              <a:t>peut</a:t>
            </a:r>
            <a:r>
              <a:rPr lang="en-US" b="0" i="0" dirty="0">
                <a:solidFill>
                  <a:srgbClr val="374151"/>
                </a:solidFill>
                <a:effectLst/>
                <a:latin typeface="Söhne"/>
              </a:rPr>
              <a:t> aider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réduire</a:t>
            </a:r>
            <a:r>
              <a:rPr lang="en-US" b="0" i="0" dirty="0">
                <a:solidFill>
                  <a:srgbClr val="374151"/>
                </a:solidFill>
                <a:effectLst/>
                <a:latin typeface="Söhne"/>
              </a:rPr>
              <a:t> </a:t>
            </a:r>
            <a:r>
              <a:rPr lang="en-US" b="0" i="0" dirty="0" err="1">
                <a:solidFill>
                  <a:srgbClr val="374151"/>
                </a:solidFill>
                <a:effectLst/>
                <a:latin typeface="Söhne"/>
              </a:rPr>
              <a:t>l'asymétrie</a:t>
            </a:r>
            <a:r>
              <a:rPr lang="en-US" b="0" i="0" dirty="0">
                <a:solidFill>
                  <a:srgbClr val="374151"/>
                </a:solidFill>
                <a:effectLst/>
                <a:latin typeface="Söhne"/>
              </a:rPr>
              <a:t> et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rendre</a:t>
            </a:r>
            <a:r>
              <a:rPr lang="en-US" b="0" i="0" dirty="0">
                <a:solidFill>
                  <a:srgbClr val="374151"/>
                </a:solidFill>
                <a:effectLst/>
                <a:latin typeface="Söhne"/>
              </a:rPr>
              <a:t> la distribution plus "</a:t>
            </a:r>
            <a:r>
              <a:rPr lang="en-US" b="0" i="0" dirty="0" err="1">
                <a:solidFill>
                  <a:srgbClr val="374151"/>
                </a:solidFill>
                <a:effectLst/>
                <a:latin typeface="Söhne"/>
              </a:rPr>
              <a:t>normale</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Gestion des </a:t>
            </a:r>
            <a:r>
              <a:rPr lang="en-US" b="1" i="0" dirty="0" err="1">
                <a:solidFill>
                  <a:srgbClr val="374151"/>
                </a:solidFill>
                <a:effectLst/>
                <a:latin typeface="Söhne"/>
              </a:rPr>
              <a:t>valeurs</a:t>
            </a:r>
            <a:r>
              <a:rPr lang="en-US" b="1" i="0" dirty="0">
                <a:solidFill>
                  <a:srgbClr val="374151"/>
                </a:solidFill>
                <a:effectLst/>
                <a:latin typeface="Söhne"/>
              </a:rPr>
              <a:t> </a:t>
            </a:r>
            <a:r>
              <a:rPr lang="en-US" b="1" i="0" dirty="0" err="1">
                <a:solidFill>
                  <a:srgbClr val="374151"/>
                </a:solidFill>
                <a:effectLst/>
                <a:latin typeface="Söhne"/>
              </a:rPr>
              <a:t>extrêmes</a:t>
            </a:r>
            <a:r>
              <a:rPr lang="en-US" b="1" i="0" dirty="0">
                <a:solidFill>
                  <a:srgbClr val="374151"/>
                </a:solidFill>
                <a:effectLst/>
                <a:latin typeface="Söhne"/>
              </a:rPr>
              <a:t> (outliers) :</a:t>
            </a:r>
            <a:r>
              <a:rPr lang="en-US" b="0" i="0" dirty="0">
                <a:solidFill>
                  <a:srgbClr val="374151"/>
                </a:solidFill>
                <a:effectLst/>
                <a:latin typeface="Söhne"/>
              </a:rPr>
              <a:t> La transformation </a:t>
            </a:r>
            <a:r>
              <a:rPr lang="en-US" b="0" i="0" dirty="0" err="1">
                <a:solidFill>
                  <a:srgbClr val="374151"/>
                </a:solidFill>
                <a:effectLst/>
                <a:latin typeface="Söhne"/>
              </a:rPr>
              <a:t>logarithmique</a:t>
            </a:r>
            <a:r>
              <a:rPr lang="en-US" b="0" i="0" dirty="0">
                <a:solidFill>
                  <a:srgbClr val="374151"/>
                </a:solidFill>
                <a:effectLst/>
                <a:latin typeface="Söhne"/>
              </a:rPr>
              <a:t>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façon</a:t>
            </a:r>
            <a:r>
              <a:rPr lang="en-US" b="0" i="0" dirty="0">
                <a:solidFill>
                  <a:srgbClr val="374151"/>
                </a:solidFill>
                <a:effectLst/>
                <a:latin typeface="Söhne"/>
              </a:rPr>
              <a:t> </a:t>
            </a:r>
            <a:r>
              <a:rPr lang="en-US" b="0" i="0" dirty="0" err="1">
                <a:solidFill>
                  <a:srgbClr val="374151"/>
                </a:solidFill>
                <a:effectLst/>
                <a:latin typeface="Söhne"/>
              </a:rPr>
              <a:t>d'atténuer</a:t>
            </a:r>
            <a:r>
              <a:rPr lang="en-US" b="0" i="0" dirty="0">
                <a:solidFill>
                  <a:srgbClr val="374151"/>
                </a:solidFill>
                <a:effectLst/>
                <a:latin typeface="Söhne"/>
              </a:rPr>
              <a:t> </a:t>
            </a:r>
            <a:r>
              <a:rPr lang="en-US" b="0" i="0" dirty="0" err="1">
                <a:solidFill>
                  <a:srgbClr val="374151"/>
                </a:solidFill>
                <a:effectLst/>
                <a:latin typeface="Söhne"/>
              </a:rPr>
              <a:t>l'impact</a:t>
            </a:r>
            <a:r>
              <a:rPr lang="en-US" b="0" i="0" dirty="0">
                <a:solidFill>
                  <a:srgbClr val="374151"/>
                </a:solidFill>
                <a:effectLst/>
                <a:latin typeface="Söhne"/>
              </a:rPr>
              <a:t> des </a:t>
            </a:r>
            <a:r>
              <a:rPr lang="en-US" b="0" i="0" dirty="0" err="1">
                <a:solidFill>
                  <a:srgbClr val="374151"/>
                </a:solidFill>
                <a:effectLst/>
                <a:latin typeface="Söhne"/>
              </a:rPr>
              <a:t>valeurs</a:t>
            </a:r>
            <a:r>
              <a:rPr lang="en-US" b="0" i="0" dirty="0">
                <a:solidFill>
                  <a:srgbClr val="374151"/>
                </a:solidFill>
                <a:effectLst/>
                <a:latin typeface="Söhne"/>
              </a:rPr>
              <a:t> </a:t>
            </a:r>
            <a:r>
              <a:rPr lang="en-US" b="0" i="0" dirty="0" err="1">
                <a:solidFill>
                  <a:srgbClr val="374151"/>
                </a:solidFill>
                <a:effectLst/>
                <a:latin typeface="Söhne"/>
              </a:rPr>
              <a:t>extrêmes</a:t>
            </a:r>
            <a:r>
              <a:rPr lang="en-US" b="0" i="0" dirty="0">
                <a:solidFill>
                  <a:srgbClr val="374151"/>
                </a:solidFill>
                <a:effectLst/>
                <a:latin typeface="Söhne"/>
              </a:rPr>
              <a:t> </a:t>
            </a:r>
            <a:r>
              <a:rPr lang="en-US" b="0" i="0" dirty="0" err="1">
                <a:solidFill>
                  <a:srgbClr val="374151"/>
                </a:solidFill>
                <a:effectLst/>
                <a:latin typeface="Söhne"/>
              </a:rPr>
              <a:t>ou</a:t>
            </a:r>
            <a:r>
              <a:rPr lang="en-US" b="0" i="0" dirty="0">
                <a:solidFill>
                  <a:srgbClr val="374151"/>
                </a:solidFill>
                <a:effectLst/>
                <a:latin typeface="Söhne"/>
              </a:rPr>
              <a:t> des "outliers". </a:t>
            </a:r>
            <a:r>
              <a:rPr lang="en-US" b="0" i="0" dirty="0" err="1">
                <a:solidFill>
                  <a:srgbClr val="374151"/>
                </a:solidFill>
                <a:effectLst/>
                <a:latin typeface="Söhne"/>
              </a:rPr>
              <a:t>Cela</a:t>
            </a:r>
            <a:r>
              <a:rPr lang="en-US" b="0" i="0" dirty="0">
                <a:solidFill>
                  <a:srgbClr val="374151"/>
                </a:solidFill>
                <a:effectLst/>
                <a:latin typeface="Söhne"/>
              </a:rPr>
              <a:t> </a:t>
            </a:r>
            <a:r>
              <a:rPr lang="en-US" b="0" i="0" dirty="0" err="1">
                <a:solidFill>
                  <a:srgbClr val="374151"/>
                </a:solidFill>
                <a:effectLst/>
                <a:latin typeface="Söhne"/>
              </a:rPr>
              <a:t>peut</a:t>
            </a:r>
            <a:r>
              <a:rPr lang="en-US" b="0" i="0" dirty="0">
                <a:solidFill>
                  <a:srgbClr val="374151"/>
                </a:solidFill>
                <a:effectLst/>
                <a:latin typeface="Söhne"/>
              </a:rPr>
              <a:t> </a:t>
            </a:r>
            <a:r>
              <a:rPr lang="en-US" b="0" i="0" dirty="0" err="1">
                <a:solidFill>
                  <a:srgbClr val="374151"/>
                </a:solidFill>
                <a:effectLst/>
                <a:latin typeface="Söhne"/>
              </a:rPr>
              <a:t>être</a:t>
            </a:r>
            <a:r>
              <a:rPr lang="en-US" b="0" i="0" dirty="0">
                <a:solidFill>
                  <a:srgbClr val="374151"/>
                </a:solidFill>
                <a:effectLst/>
                <a:latin typeface="Söhne"/>
              </a:rPr>
              <a:t> utile </a:t>
            </a:r>
            <a:r>
              <a:rPr lang="en-US" b="0" i="0" dirty="0" err="1">
                <a:solidFill>
                  <a:srgbClr val="374151"/>
                </a:solidFill>
                <a:effectLst/>
                <a:latin typeface="Söhne"/>
              </a:rPr>
              <a:t>si</a:t>
            </a:r>
            <a:r>
              <a:rPr lang="en-US" b="0" i="0" dirty="0">
                <a:solidFill>
                  <a:srgbClr val="374151"/>
                </a:solidFill>
                <a:effectLst/>
                <a:latin typeface="Söhne"/>
              </a:rPr>
              <a:t> </a:t>
            </a:r>
            <a:r>
              <a:rPr lang="en-US" b="0" i="0" dirty="0" err="1">
                <a:solidFill>
                  <a:srgbClr val="374151"/>
                </a:solidFill>
                <a:effectLst/>
                <a:latin typeface="Söhne"/>
              </a:rPr>
              <a:t>vous</a:t>
            </a:r>
            <a:r>
              <a:rPr lang="en-US" b="0" i="0" dirty="0">
                <a:solidFill>
                  <a:srgbClr val="374151"/>
                </a:solidFill>
                <a:effectLst/>
                <a:latin typeface="Söhne"/>
              </a:rPr>
              <a:t> </a:t>
            </a:r>
            <a:r>
              <a:rPr lang="en-US" b="0" i="0" dirty="0" err="1">
                <a:solidFill>
                  <a:srgbClr val="374151"/>
                </a:solidFill>
                <a:effectLst/>
                <a:latin typeface="Söhne"/>
              </a:rPr>
              <a:t>avez</a:t>
            </a:r>
            <a:r>
              <a:rPr lang="en-US" b="0" i="0" dirty="0">
                <a:solidFill>
                  <a:srgbClr val="374151"/>
                </a:solidFill>
                <a:effectLst/>
                <a:latin typeface="Söhne"/>
              </a:rPr>
              <a:t> des </a:t>
            </a:r>
            <a:r>
              <a:rPr lang="en-US" b="0" i="0" dirty="0" err="1">
                <a:solidFill>
                  <a:srgbClr val="374151"/>
                </a:solidFill>
                <a:effectLst/>
                <a:latin typeface="Söhne"/>
              </a:rPr>
              <a:t>valeurs</a:t>
            </a:r>
            <a:r>
              <a:rPr lang="en-US" b="0" i="0" dirty="0">
                <a:solidFill>
                  <a:srgbClr val="374151"/>
                </a:solidFill>
                <a:effectLst/>
                <a:latin typeface="Söhne"/>
              </a:rPr>
              <a:t> très </a:t>
            </a:r>
            <a:r>
              <a:rPr lang="en-US" b="0" i="0" dirty="0" err="1">
                <a:solidFill>
                  <a:srgbClr val="374151"/>
                </a:solidFill>
                <a:effectLst/>
                <a:latin typeface="Söhne"/>
              </a:rPr>
              <a:t>grandes</a:t>
            </a:r>
            <a:r>
              <a:rPr lang="en-US" b="0" i="0" dirty="0">
                <a:solidFill>
                  <a:srgbClr val="374151"/>
                </a:solidFill>
                <a:effectLst/>
                <a:latin typeface="Söhne"/>
              </a:rPr>
              <a:t> qui </a:t>
            </a:r>
            <a:r>
              <a:rPr lang="en-US" b="0" i="0" dirty="0" err="1">
                <a:solidFill>
                  <a:srgbClr val="374151"/>
                </a:solidFill>
                <a:effectLst/>
                <a:latin typeface="Söhne"/>
              </a:rPr>
              <a:t>pourraient</a:t>
            </a:r>
            <a:r>
              <a:rPr lang="en-US" b="0" i="0" dirty="0">
                <a:solidFill>
                  <a:srgbClr val="374151"/>
                </a:solidFill>
                <a:effectLst/>
                <a:latin typeface="Söhne"/>
              </a:rPr>
              <a:t> </a:t>
            </a:r>
            <a:r>
              <a:rPr lang="en-US" b="0" i="0" dirty="0" err="1">
                <a:solidFill>
                  <a:srgbClr val="374151"/>
                </a:solidFill>
                <a:effectLst/>
                <a:latin typeface="Söhne"/>
              </a:rPr>
              <a:t>autrement</a:t>
            </a:r>
            <a:r>
              <a:rPr lang="en-US" b="0" i="0" dirty="0">
                <a:solidFill>
                  <a:srgbClr val="374151"/>
                </a:solidFill>
                <a:effectLst/>
                <a:latin typeface="Söhne"/>
              </a:rPr>
              <a:t> </a:t>
            </a:r>
            <a:r>
              <a:rPr lang="en-US" b="0" i="0" dirty="0" err="1">
                <a:solidFill>
                  <a:srgbClr val="374151"/>
                </a:solidFill>
                <a:effectLst/>
                <a:latin typeface="Söhne"/>
              </a:rPr>
              <a:t>avoir</a:t>
            </a:r>
            <a:r>
              <a:rPr lang="en-US" b="0" i="0" dirty="0">
                <a:solidFill>
                  <a:srgbClr val="374151"/>
                </a:solidFill>
                <a:effectLst/>
                <a:latin typeface="Söhne"/>
              </a:rPr>
              <a:t> un impact </a:t>
            </a:r>
            <a:r>
              <a:rPr lang="en-US" b="0" i="0" dirty="0" err="1">
                <a:solidFill>
                  <a:srgbClr val="374151"/>
                </a:solidFill>
                <a:effectLst/>
                <a:latin typeface="Söhne"/>
              </a:rPr>
              <a:t>disproportionné</a:t>
            </a:r>
            <a:r>
              <a:rPr lang="en-US" b="0" i="0" dirty="0">
                <a:solidFill>
                  <a:srgbClr val="374151"/>
                </a:solidFill>
                <a:effectLst/>
                <a:latin typeface="Söhne"/>
              </a:rPr>
              <a:t> sur </a:t>
            </a:r>
            <a:r>
              <a:rPr lang="en-US" b="0" i="0" dirty="0" err="1">
                <a:solidFill>
                  <a:srgbClr val="374151"/>
                </a:solidFill>
                <a:effectLst/>
                <a:latin typeface="Söhne"/>
              </a:rPr>
              <a:t>vos</a:t>
            </a:r>
            <a:r>
              <a:rPr lang="en-US" b="0" i="0" dirty="0">
                <a:solidFill>
                  <a:srgbClr val="374151"/>
                </a:solidFill>
                <a:effectLst/>
                <a:latin typeface="Söhne"/>
              </a:rPr>
              <a:t> </a:t>
            </a:r>
            <a:r>
              <a:rPr lang="en-US" b="0" i="0" dirty="0" err="1">
                <a:solidFill>
                  <a:srgbClr val="374151"/>
                </a:solidFill>
                <a:effectLst/>
                <a:latin typeface="Söhne"/>
              </a:rPr>
              <a:t>modèles</a:t>
            </a:r>
            <a:r>
              <a:rPr lang="en-US" b="0" i="0" dirty="0">
                <a:solidFill>
                  <a:srgbClr val="374151"/>
                </a:solidFill>
                <a:effectLst/>
                <a:latin typeface="Söhne"/>
              </a:rPr>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Le passage au </a:t>
            </a:r>
            <a:r>
              <a:rPr lang="en-US" dirty="0" err="1"/>
              <a:t>logarithme</a:t>
            </a:r>
            <a:r>
              <a:rPr lang="en-US" dirty="0"/>
              <a:t> a </a:t>
            </a:r>
            <a:r>
              <a:rPr lang="en-US" dirty="0" err="1"/>
              <a:t>été</a:t>
            </a:r>
            <a:r>
              <a:rPr lang="en-US" dirty="0"/>
              <a:t> </a:t>
            </a:r>
            <a:r>
              <a:rPr lang="en-US" dirty="0" err="1"/>
              <a:t>effectué</a:t>
            </a:r>
            <a:r>
              <a:rPr lang="en-US" dirty="0"/>
              <a:t> pour </a:t>
            </a:r>
            <a:r>
              <a:rPr lang="en-US" dirty="0" err="1"/>
              <a:t>gérer</a:t>
            </a:r>
            <a:r>
              <a:rPr lang="en-US" dirty="0"/>
              <a:t> le </a:t>
            </a:r>
            <a:r>
              <a:rPr lang="en-US" dirty="0" err="1"/>
              <a:t>biais</a:t>
            </a:r>
            <a:r>
              <a:rPr lang="en-US" dirty="0"/>
              <a:t> </a:t>
            </a:r>
            <a:r>
              <a:rPr lang="en-US" dirty="0" err="1"/>
              <a:t>positif</a:t>
            </a:r>
            <a:r>
              <a:rPr lang="en-US" dirty="0"/>
              <a:t> (</a:t>
            </a:r>
            <a:r>
              <a:rPr lang="en-US" dirty="0" err="1"/>
              <a:t>ou</a:t>
            </a:r>
            <a:r>
              <a:rPr lang="en-US" dirty="0"/>
              <a:t> </a:t>
            </a:r>
            <a:r>
              <a:rPr lang="en-US" dirty="0" err="1"/>
              <a:t>à</a:t>
            </a:r>
            <a:r>
              <a:rPr lang="en-US" dirty="0"/>
              <a:t> droite) des variables </a:t>
            </a:r>
            <a:r>
              <a:rPr lang="en-US" dirty="0" err="1"/>
              <a:t>numériques</a:t>
            </a:r>
            <a:r>
              <a:rPr lang="en-US" dirty="0"/>
              <a:t>. Ce type de transformation </a:t>
            </a:r>
            <a:r>
              <a:rPr lang="en-US" dirty="0" err="1"/>
              <a:t>peut</a:t>
            </a:r>
            <a:r>
              <a:rPr lang="en-US" dirty="0"/>
              <a:t> aider </a:t>
            </a:r>
            <a:r>
              <a:rPr lang="en-US" dirty="0" err="1"/>
              <a:t>à</a:t>
            </a:r>
            <a:r>
              <a:rPr lang="en-US" dirty="0"/>
              <a:t> "</a:t>
            </a:r>
            <a:r>
              <a:rPr lang="en-US" dirty="0" err="1"/>
              <a:t>normaliser</a:t>
            </a:r>
            <a:r>
              <a:rPr lang="en-US" dirty="0"/>
              <a:t>" la distribution, </a:t>
            </a:r>
            <a:r>
              <a:rPr lang="en-US" dirty="0" err="1"/>
              <a:t>rendre</a:t>
            </a:r>
            <a:r>
              <a:rPr lang="en-US" dirty="0"/>
              <a:t> la variance plus stable et </a:t>
            </a:r>
            <a:r>
              <a:rPr lang="en-US" dirty="0" err="1"/>
              <a:t>rendre</a:t>
            </a:r>
            <a:r>
              <a:rPr lang="en-US" dirty="0"/>
              <a:t> la distribution plus </a:t>
            </a:r>
            <a:r>
              <a:rPr lang="en-US" dirty="0" err="1"/>
              <a:t>symétrique</a:t>
            </a:r>
            <a:r>
              <a:rPr lang="en-US" dirty="0"/>
              <a:t>, </a:t>
            </a:r>
            <a:r>
              <a:rPr lang="en-US" dirty="0" err="1"/>
              <a:t>ce</a:t>
            </a:r>
            <a:r>
              <a:rPr lang="en-US" dirty="0"/>
              <a:t> qui </a:t>
            </a:r>
            <a:r>
              <a:rPr lang="en-US" dirty="0" err="1"/>
              <a:t>peut</a:t>
            </a:r>
            <a:r>
              <a:rPr lang="en-US" dirty="0"/>
              <a:t> </a:t>
            </a:r>
            <a:r>
              <a:rPr lang="en-US" dirty="0" err="1"/>
              <a:t>améliorer</a:t>
            </a:r>
            <a:r>
              <a:rPr lang="en-US" dirty="0"/>
              <a:t> les performances de </a:t>
            </a:r>
            <a:r>
              <a:rPr lang="en-US" dirty="0" err="1"/>
              <a:t>nombreux</a:t>
            </a:r>
            <a:r>
              <a:rPr lang="en-US" dirty="0"/>
              <a:t> </a:t>
            </a:r>
            <a:r>
              <a:rPr lang="en-US" dirty="0" err="1"/>
              <a:t>modèles</a:t>
            </a:r>
            <a:r>
              <a:rPr lang="en-US" dirty="0"/>
              <a:t> </a:t>
            </a:r>
            <a:r>
              <a:rPr lang="en-US" dirty="0" err="1"/>
              <a:t>statistiques</a:t>
            </a:r>
            <a:r>
              <a:rPr lang="en-US" dirty="0"/>
              <a:t> et de machine learning.</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t>Conformité</a:t>
            </a:r>
            <a:r>
              <a:rPr lang="en-US" dirty="0"/>
              <a:t> : </a:t>
            </a:r>
            <a:r>
              <a:rPr lang="en-US" b="0" i="0" dirty="0" err="1">
                <a:solidFill>
                  <a:srgbClr val="374151"/>
                </a:solidFill>
                <a:effectLst/>
                <a:latin typeface="Söhne"/>
              </a:rPr>
              <a:t>Indique</a:t>
            </a:r>
            <a:r>
              <a:rPr lang="en-US" b="0" i="0" dirty="0">
                <a:solidFill>
                  <a:srgbClr val="374151"/>
                </a:solidFill>
                <a:effectLst/>
                <a:latin typeface="Söhne"/>
              </a:rPr>
              <a:t> </a:t>
            </a:r>
            <a:r>
              <a:rPr lang="en-US" b="0" i="0" dirty="0" err="1">
                <a:solidFill>
                  <a:srgbClr val="374151"/>
                </a:solidFill>
                <a:effectLst/>
                <a:latin typeface="Söhne"/>
              </a:rPr>
              <a:t>si</a:t>
            </a:r>
            <a:r>
              <a:rPr lang="en-US" b="0" i="0" dirty="0">
                <a:solidFill>
                  <a:srgbClr val="374151"/>
                </a:solidFill>
                <a:effectLst/>
                <a:latin typeface="Söhne"/>
              </a:rPr>
              <a:t> un bien </a:t>
            </a:r>
            <a:r>
              <a:rPr lang="en-US" b="0" i="0" dirty="0" err="1">
                <a:solidFill>
                  <a:srgbClr val="374151"/>
                </a:solidFill>
                <a:effectLst/>
                <a:latin typeface="Söhne"/>
              </a:rPr>
              <a:t>immobilier</a:t>
            </a:r>
            <a:r>
              <a:rPr lang="en-US" b="0" i="0" dirty="0">
                <a:solidFill>
                  <a:srgbClr val="374151"/>
                </a:solidFill>
                <a:effectLst/>
                <a:latin typeface="Söhne"/>
              </a:rPr>
              <a:t> a </a:t>
            </a:r>
            <a:r>
              <a:rPr lang="en-US" b="0" i="0" dirty="0" err="1">
                <a:solidFill>
                  <a:srgbClr val="374151"/>
                </a:solidFill>
                <a:effectLst/>
                <a:latin typeface="Söhne"/>
              </a:rPr>
              <a:t>respecté</a:t>
            </a:r>
            <a:r>
              <a:rPr lang="en-US" b="0" i="0" dirty="0">
                <a:solidFill>
                  <a:srgbClr val="374151"/>
                </a:solidFill>
                <a:effectLst/>
                <a:latin typeface="Söhne"/>
              </a:rPr>
              <a:t> les exigences de </a:t>
            </a:r>
            <a:r>
              <a:rPr lang="en-US" b="0" i="0" dirty="0" err="1">
                <a:solidFill>
                  <a:srgbClr val="374151"/>
                </a:solidFill>
                <a:effectLst/>
                <a:latin typeface="Söhne"/>
              </a:rPr>
              <a:t>référencement</a:t>
            </a:r>
            <a:r>
              <a:rPr lang="en-US" b="0" i="0" dirty="0">
                <a:solidFill>
                  <a:srgbClr val="374151"/>
                </a:solidFill>
                <a:effectLst/>
                <a:latin typeface="Söhne"/>
              </a:rPr>
              <a:t> </a:t>
            </a:r>
            <a:r>
              <a:rPr lang="en-US" b="0" i="0" dirty="0" err="1">
                <a:solidFill>
                  <a:srgbClr val="374151"/>
                </a:solidFill>
                <a:effectLst/>
                <a:latin typeface="Söhne"/>
              </a:rPr>
              <a:t>énergétique</a:t>
            </a:r>
            <a:r>
              <a:rPr lang="en-US" b="0" i="0" dirty="0">
                <a:solidFill>
                  <a:srgbClr val="374151"/>
                </a:solidFill>
                <a:effectLst/>
                <a:latin typeface="Söhne"/>
              </a:rPr>
              <a:t> pour </a:t>
            </a:r>
            <a:r>
              <a:rPr lang="en-US" b="0" i="0" dirty="0" err="1">
                <a:solidFill>
                  <a:srgbClr val="374151"/>
                </a:solidFill>
                <a:effectLst/>
                <a:latin typeface="Söhne"/>
              </a:rPr>
              <a:t>l'année</a:t>
            </a:r>
            <a:r>
              <a:rPr lang="en-US" b="0" i="0" dirty="0">
                <a:solidFill>
                  <a:srgbClr val="374151"/>
                </a:solidFill>
                <a:effectLst/>
                <a:latin typeface="Söhne"/>
              </a:rPr>
              <a:t> de </a:t>
            </a:r>
            <a:r>
              <a:rPr lang="en-US" b="0" i="0" dirty="0" err="1">
                <a:solidFill>
                  <a:srgbClr val="374151"/>
                </a:solidFill>
                <a:effectLst/>
                <a:latin typeface="Söhne"/>
              </a:rPr>
              <a:t>déclaration</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cours</a:t>
            </a:r>
            <a:r>
              <a:rPr lang="en-US" b="0" i="0" dirty="0">
                <a:solidFill>
                  <a:srgbClr val="374151"/>
                </a:solidFill>
                <a:effectLst/>
                <a:latin typeface="Söhne"/>
              </a:rPr>
              <a:t>.</a:t>
            </a:r>
            <a:endParaRPr lang="en-US" dirty="0"/>
          </a:p>
        </p:txBody>
      </p:sp>
    </p:spTree>
    <p:extLst>
      <p:ext uri="{BB962C8B-B14F-4D97-AF65-F5344CB8AC3E}">
        <p14:creationId xmlns:p14="http://schemas.microsoft.com/office/powerpoint/2010/main" val="2939700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Variables </a:t>
            </a:r>
            <a:r>
              <a:rPr lang="en-US" dirty="0" err="1"/>
              <a:t>redondantes</a:t>
            </a:r>
            <a:endParaRPr lang="en-US" dirty="0"/>
          </a:p>
        </p:txBody>
      </p:sp>
    </p:spTree>
    <p:extLst>
      <p:ext uri="{BB962C8B-B14F-4D97-AF65-F5344CB8AC3E}">
        <p14:creationId xmlns:p14="http://schemas.microsoft.com/office/powerpoint/2010/main" val="3415298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100" dirty="0" err="1"/>
              <a:t>Dataleakage</a:t>
            </a:r>
            <a:r>
              <a:rPr lang="fr-FR" sz="1100" dirty="0"/>
              <a:t> </a:t>
            </a:r>
            <a:r>
              <a:rPr lang="en-US" sz="1100" b="1" i="0" dirty="0">
                <a:effectLst/>
                <a:latin typeface="-apple-system"/>
              </a:rPr>
              <a:t># suppressions des variables qui ne nous </a:t>
            </a:r>
            <a:r>
              <a:rPr lang="en-US" sz="1100" b="1" i="0" dirty="0" err="1">
                <a:effectLst/>
                <a:latin typeface="-apple-system"/>
              </a:rPr>
              <a:t>intéressent</a:t>
            </a:r>
            <a:r>
              <a:rPr lang="en-US" sz="1100" b="1" i="0" dirty="0">
                <a:effectLst/>
                <a:latin typeface="-apple-system"/>
              </a:rPr>
              <a:t> pas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data_clean.drop</a:t>
            </a:r>
            <a:r>
              <a:rPr lang="en-US" sz="1100" b="1" i="0" dirty="0">
                <a:effectLst/>
                <a:latin typeface="-apple-system"/>
              </a:rPr>
              <a:t>(['State','Comments','</a:t>
            </a:r>
            <a:r>
              <a:rPr lang="en-US" sz="1100" b="1" i="0" dirty="0" err="1">
                <a:effectLst/>
                <a:latin typeface="-apple-system"/>
              </a:rPr>
              <a:t>ZipCode</a:t>
            </a:r>
            <a:r>
              <a:rPr lang="en-US" sz="1100" b="1" i="0" dirty="0">
                <a:effectLst/>
                <a:latin typeface="-apple-system"/>
              </a:rPr>
              <a:t>','City','</a:t>
            </a:r>
            <a:r>
              <a:rPr lang="en-US" sz="1100" b="1" i="0" dirty="0" err="1">
                <a:effectLst/>
                <a:latin typeface="-apple-system"/>
              </a:rPr>
              <a:t>PropertyName</a:t>
            </a:r>
            <a:r>
              <a:rPr lang="en-US" sz="1100" b="1" i="0" dirty="0">
                <a:effectLst/>
                <a:latin typeface="-apple-system"/>
              </a:rPr>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 'Address','</a:t>
            </a:r>
            <a:r>
              <a:rPr lang="en-US" sz="1100" b="1" i="0" dirty="0" err="1">
                <a:effectLst/>
                <a:latin typeface="-apple-system"/>
              </a:rPr>
              <a:t>TaxParcelIdentificationNumber</a:t>
            </a:r>
            <a:r>
              <a:rPr lang="en-US" sz="1100" b="1" i="0" dirty="0">
                <a:effectLst/>
                <a:latin typeface="-apple-system"/>
              </a:rPr>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 '</a:t>
            </a:r>
            <a:r>
              <a:rPr lang="en-US" sz="1100" b="1" i="0" dirty="0" err="1">
                <a:effectLst/>
                <a:latin typeface="-apple-system"/>
              </a:rPr>
              <a:t>CouncilDistrictCode</a:t>
            </a:r>
            <a:r>
              <a:rPr lang="en-US" sz="1100" b="1" i="0" dirty="0">
                <a:effectLst/>
                <a:latin typeface="-apple-system"/>
              </a:rPr>
              <a:t>'], axis=1, </a:t>
            </a:r>
            <a:r>
              <a:rPr lang="en-US" sz="1100" b="1" i="0" dirty="0" err="1">
                <a:effectLst/>
                <a:latin typeface="-apple-system"/>
              </a:rPr>
              <a:t>inplace</a:t>
            </a:r>
            <a:r>
              <a:rPr lang="en-US" sz="1100" b="1" i="0" dirty="0">
                <a:effectLst/>
                <a:latin typeface="-apple-system"/>
              </a:rPr>
              <a:t>=True)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#Suppression des variables </a:t>
            </a:r>
            <a:r>
              <a:rPr lang="en-US" sz="1100" b="1" i="0" dirty="0" err="1">
                <a:effectLst/>
                <a:latin typeface="-apple-system"/>
              </a:rPr>
              <a:t>redondantes</a:t>
            </a: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redundant_features</a:t>
            </a:r>
            <a:r>
              <a:rPr lang="en-US" sz="1100" b="1" i="0" dirty="0">
                <a:effectLst/>
                <a:latin typeface="-apple-system"/>
              </a:rPr>
              <a:t> = ['</a:t>
            </a:r>
            <a:r>
              <a:rPr lang="en-US" sz="1100" b="1" i="0" dirty="0" err="1">
                <a:effectLst/>
                <a:latin typeface="-apple-system"/>
              </a:rPr>
              <a:t>NaturalGas</a:t>
            </a:r>
            <a:r>
              <a:rPr lang="en-US" sz="1100" b="1" i="0" dirty="0">
                <a:effectLst/>
                <a:latin typeface="-apple-system"/>
              </a:rPr>
              <a:t>(</a:t>
            </a:r>
            <a:r>
              <a:rPr lang="en-US" sz="1100" b="1" i="0" dirty="0" err="1">
                <a:effectLst/>
                <a:latin typeface="-apple-system"/>
              </a:rPr>
              <a:t>therms</a:t>
            </a:r>
            <a:r>
              <a:rPr lang="en-US" sz="1100" b="1" i="0" dirty="0">
                <a:effectLst/>
                <a:latin typeface="-apple-system"/>
              </a:rPr>
              <a:t>)','Electricity(kWh)','</a:t>
            </a:r>
            <a:r>
              <a:rPr lang="en-US" sz="1100" b="1" i="0" dirty="0" err="1">
                <a:effectLst/>
                <a:latin typeface="-apple-system"/>
              </a:rPr>
              <a:t>SiteEUIWN</a:t>
            </a:r>
            <a:r>
              <a:rPr lang="en-US" sz="1100" b="1" i="0" dirty="0">
                <a:effectLst/>
                <a:latin typeface="-apple-system"/>
              </a:rPr>
              <a:t>(</a:t>
            </a:r>
            <a:r>
              <a:rPr lang="en-US" sz="1100" b="1" i="0" dirty="0" err="1">
                <a:effectLst/>
                <a:latin typeface="-apple-system"/>
              </a:rPr>
              <a:t>kBtu</a:t>
            </a:r>
            <a:r>
              <a:rPr lang="en-US" sz="1100" b="1" i="0" dirty="0">
                <a:effectLst/>
                <a:latin typeface="-apple-system"/>
              </a:rPr>
              <a:t>/sf)']</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data_clean.drop</a:t>
            </a:r>
            <a:r>
              <a:rPr lang="en-US" sz="1100" b="1" i="0" dirty="0">
                <a:effectLst/>
                <a:latin typeface="-apple-system"/>
              </a:rPr>
              <a:t>(</a:t>
            </a:r>
            <a:r>
              <a:rPr lang="en-US" sz="1100" b="1" i="0" dirty="0" err="1">
                <a:effectLst/>
                <a:latin typeface="-apple-system"/>
              </a:rPr>
              <a:t>redundant_features</a:t>
            </a:r>
            <a:r>
              <a:rPr lang="en-US" sz="1100" b="1" i="0" dirty="0">
                <a:effectLst/>
                <a:latin typeface="-apple-system"/>
              </a:rPr>
              <a:t>, axis=1, </a:t>
            </a:r>
            <a:r>
              <a:rPr lang="en-US" sz="1100" b="1" i="0" dirty="0" err="1">
                <a:effectLst/>
                <a:latin typeface="-apple-system"/>
              </a:rPr>
              <a:t>inplace</a:t>
            </a:r>
            <a:r>
              <a:rPr lang="en-US" sz="1100" b="1" i="0" dirty="0">
                <a:effectLst/>
                <a:latin typeface="-apple-system"/>
              </a:rPr>
              <a:t>=True)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 Find columns containing 'WN' in their names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columns_to_drop</a:t>
            </a:r>
            <a:r>
              <a:rPr lang="en-US" sz="1100" b="1" i="0" dirty="0">
                <a:effectLst/>
                <a:latin typeface="-apple-system"/>
              </a:rPr>
              <a:t> = [column for column in </a:t>
            </a:r>
            <a:r>
              <a:rPr lang="en-US" sz="1100" b="1" i="0" dirty="0" err="1">
                <a:effectLst/>
                <a:latin typeface="-apple-system"/>
              </a:rPr>
              <a:t>data_clean.columns</a:t>
            </a:r>
            <a:r>
              <a:rPr lang="en-US" sz="1100" b="1" i="0" dirty="0">
                <a:effectLst/>
                <a:latin typeface="-apple-system"/>
              </a:rPr>
              <a:t> if 'WN' in column]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a:t>
            </a:r>
            <a:r>
              <a:rPr lang="en-US" sz="1100" b="1" i="0" dirty="0" err="1">
                <a:effectLst/>
                <a:latin typeface="-apple-system"/>
              </a:rPr>
              <a:t>ENERGYSTARScore</a:t>
            </a: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data_clean.drop</a:t>
            </a:r>
            <a:r>
              <a:rPr lang="en-US" sz="1100" b="1" i="0" dirty="0">
                <a:effectLst/>
                <a:latin typeface="-apple-system"/>
              </a:rPr>
              <a:t>("</a:t>
            </a:r>
            <a:r>
              <a:rPr lang="en-US" sz="1100" b="1" i="0" dirty="0" err="1">
                <a:effectLst/>
                <a:latin typeface="-apple-system"/>
              </a:rPr>
              <a:t>ENERGYSTARScore</a:t>
            </a:r>
            <a:r>
              <a:rPr lang="en-US" sz="1100" b="1" i="0" dirty="0">
                <a:effectLst/>
                <a:latin typeface="-apple-system"/>
              </a:rPr>
              <a:t>", axis=1, </a:t>
            </a:r>
            <a:r>
              <a:rPr lang="en-US" sz="1100" b="1" i="0" dirty="0" err="1">
                <a:effectLst/>
                <a:latin typeface="-apple-system"/>
              </a:rPr>
              <a:t>inplace</a:t>
            </a:r>
            <a:r>
              <a:rPr lang="en-US" sz="1100" b="1" i="0" dirty="0">
                <a:effectLst/>
                <a:latin typeface="-apple-system"/>
              </a:rPr>
              <a:t>=True)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a:effectLst/>
                <a:latin typeface="-apple-system"/>
              </a:rPr>
              <a:t># Drop the columns from </a:t>
            </a:r>
            <a:r>
              <a:rPr lang="en-US" sz="1100" b="1" i="0" dirty="0" err="1">
                <a:effectLst/>
                <a:latin typeface="-apple-system"/>
              </a:rPr>
              <a:t>data_clean</a:t>
            </a:r>
            <a:endParaRPr lang="en-US" sz="1100"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dirty="0" err="1">
                <a:effectLst/>
                <a:latin typeface="-apple-system"/>
              </a:rPr>
              <a:t>data_clean</a:t>
            </a:r>
            <a:r>
              <a:rPr lang="en-US" sz="1100" b="1" i="0" dirty="0">
                <a:effectLst/>
                <a:latin typeface="-apple-system"/>
              </a:rPr>
              <a:t> = </a:t>
            </a:r>
            <a:r>
              <a:rPr lang="en-US" sz="1100" b="1" i="0" dirty="0" err="1">
                <a:effectLst/>
                <a:latin typeface="-apple-system"/>
              </a:rPr>
              <a:t>data_clean.drop</a:t>
            </a:r>
            <a:r>
              <a:rPr lang="en-US" sz="1100" b="1" i="0" dirty="0">
                <a:effectLst/>
                <a:latin typeface="-apple-system"/>
              </a:rPr>
              <a:t>(</a:t>
            </a:r>
            <a:r>
              <a:rPr lang="en-US" sz="1100" b="1" i="0" dirty="0" err="1">
                <a:effectLst/>
                <a:latin typeface="-apple-system"/>
              </a:rPr>
              <a:t>columns_to_drop</a:t>
            </a:r>
            <a:r>
              <a:rPr lang="en-US" sz="1100" b="1" i="0" dirty="0">
                <a:effectLst/>
                <a:latin typeface="-apple-system"/>
              </a:rPr>
              <a:t>, axis=1)</a:t>
            </a:r>
          </a:p>
          <a:p>
            <a:endParaRPr lang="fr-FR" sz="1100"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a:effectLst/>
                <a:latin typeface="-apple-system"/>
              </a:rPr>
              <a:t># Nouvelle </a:t>
            </a:r>
            <a:r>
              <a:rPr lang="en-US" b="1" i="0" dirty="0" err="1">
                <a:effectLst/>
                <a:latin typeface="-apple-system"/>
              </a:rPr>
              <a:t>liste</a:t>
            </a:r>
            <a:r>
              <a:rPr lang="en-US" b="1" i="0" dirty="0">
                <a:effectLst/>
                <a:latin typeface="-apple-system"/>
              </a:rPr>
              <a:t> des </a:t>
            </a:r>
            <a:r>
              <a:rPr lang="en-US" b="1" i="0" dirty="0" err="1">
                <a:effectLst/>
                <a:latin typeface="-apple-system"/>
              </a:rPr>
              <a:t>colonnes</a:t>
            </a:r>
            <a:r>
              <a:rPr lang="en-US" b="1" i="0" dirty="0">
                <a:effectLst/>
                <a:latin typeface="-apple-system"/>
              </a:rPr>
              <a:t> </a:t>
            </a:r>
            <a:r>
              <a:rPr lang="en-US" b="1" i="0" dirty="0" err="1">
                <a:effectLst/>
                <a:latin typeface="-apple-system"/>
              </a:rPr>
              <a:t>numériques</a:t>
            </a:r>
            <a:endParaRPr lang="en-US" b="1" i="0" dirty="0">
              <a:effectLst/>
              <a:latin typeface="-apple-syste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err="1">
                <a:effectLst/>
                <a:latin typeface="-apple-system"/>
              </a:rPr>
              <a:t>num_columns</a:t>
            </a:r>
            <a:r>
              <a:rPr lang="en-US" b="1" i="0" dirty="0">
                <a:effectLst/>
                <a:latin typeface="-apple-system"/>
              </a:rPr>
              <a:t> = list(</a:t>
            </a:r>
            <a:r>
              <a:rPr lang="en-US" b="1" i="0" dirty="0" err="1">
                <a:effectLst/>
                <a:latin typeface="-apple-system"/>
              </a:rPr>
              <a:t>data.select_dtypes</a:t>
            </a:r>
            <a:r>
              <a:rPr lang="en-US" b="1" i="0" dirty="0">
                <a:effectLst/>
                <a:latin typeface="-apple-system"/>
              </a:rPr>
              <a:t>(include='float64').columns)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i="0" dirty="0">
                <a:effectLst/>
                <a:latin typeface="-apple-system"/>
              </a:rPr>
              <a:t> suppression des </a:t>
            </a:r>
            <a:r>
              <a:rPr lang="en-US" b="1" i="0" dirty="0" err="1">
                <a:effectLst/>
                <a:latin typeface="-apple-system"/>
              </a:rPr>
              <a:t>colonnes</a:t>
            </a:r>
            <a:r>
              <a:rPr lang="en-US" b="1" i="0" dirty="0">
                <a:effectLst/>
                <a:latin typeface="-apple-system"/>
              </a:rPr>
              <a:t> vides a plus de 80%</a:t>
            </a:r>
            <a:r>
              <a:rPr lang="en-US" b="1" i="0" u="none" strike="noStrike" dirty="0">
                <a:effectLst/>
                <a:latin typeface="-apple-system"/>
                <a:hlinkClick r:id="rId3"/>
              </a:rPr>
              <a:t>¶</a:t>
            </a:r>
            <a:endParaRPr lang="en-US" b="1" i="0" dirty="0">
              <a:effectLst/>
              <a:latin typeface="-apple-system"/>
            </a:endParaRPr>
          </a:p>
          <a:p>
            <a:endParaRPr lang="en-US" dirty="0"/>
          </a:p>
        </p:txBody>
      </p:sp>
    </p:spTree>
    <p:extLst>
      <p:ext uri="{BB962C8B-B14F-4D97-AF65-F5344CB8AC3E}">
        <p14:creationId xmlns:p14="http://schemas.microsoft.com/office/powerpoint/2010/main" val="579376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600" b="0" i="0" u="none" strike="noStrike" cap="none" dirty="0" err="1">
                <a:solidFill>
                  <a:schemeClr val="lt1"/>
                </a:solidFill>
                <a:latin typeface="Poppins Medium"/>
                <a:ea typeface="Arial"/>
                <a:cs typeface="Poppins Medium"/>
                <a:sym typeface="Arial"/>
              </a:rPr>
              <a:t>Création</a:t>
            </a:r>
            <a:r>
              <a:rPr lang="en-GB" sz="1600" b="0" i="0" u="none" strike="noStrike" cap="none" dirty="0">
                <a:solidFill>
                  <a:schemeClr val="lt1"/>
                </a:solidFill>
                <a:latin typeface="Poppins Medium"/>
                <a:ea typeface="Arial"/>
                <a:cs typeface="Poppins Medium"/>
                <a:sym typeface="Arial"/>
              </a:rPr>
              <a:t> d'un </a:t>
            </a:r>
            <a:r>
              <a:rPr lang="en-GB" sz="1600" b="0" i="0" u="none" strike="noStrike" cap="none" dirty="0" err="1">
                <a:solidFill>
                  <a:schemeClr val="lt1"/>
                </a:solidFill>
                <a:latin typeface="Poppins Medium"/>
                <a:ea typeface="Arial"/>
                <a:cs typeface="Poppins Medium"/>
                <a:sym typeface="Arial"/>
              </a:rPr>
              <a:t>modèle</a:t>
            </a:r>
            <a:r>
              <a:rPr lang="en-GB" sz="1600" b="0" i="0" u="none" strike="noStrike" cap="none" dirty="0">
                <a:solidFill>
                  <a:schemeClr val="lt1"/>
                </a:solidFill>
                <a:latin typeface="Poppins Medium"/>
                <a:ea typeface="Arial"/>
                <a:cs typeface="Poppins Medium"/>
                <a:sym typeface="Arial"/>
              </a:rPr>
              <a:t> de base</a:t>
            </a:r>
            <a:endParaRPr lang="fr-FR" sz="1600" b="0" i="0" u="none" strike="noStrike" cap="none" dirty="0">
              <a:solidFill>
                <a:schemeClr val="lt1"/>
              </a:solidFill>
              <a:latin typeface="Poppins Medium"/>
              <a:ea typeface="Poppins Medium"/>
              <a:cs typeface="Poppins Medium"/>
              <a:sym typeface="Poppins Medium"/>
            </a:endParaRPr>
          </a:p>
          <a:p>
            <a:r>
              <a:rPr lang="en-US" sz="1600" dirty="0" err="1"/>
              <a:t>Sélectionner</a:t>
            </a:r>
            <a:r>
              <a:rPr lang="en-US" sz="1600" dirty="0"/>
              <a:t> les deux variables </a:t>
            </a:r>
            <a:r>
              <a:rPr lang="en-US" sz="1600" dirty="0" err="1"/>
              <a:t>cibles</a:t>
            </a:r>
            <a:r>
              <a:rPr lang="en-US" sz="1600" dirty="0"/>
              <a:t> (</a:t>
            </a:r>
            <a:r>
              <a:rPr lang="en-US" sz="1600" dirty="0" err="1"/>
              <a:t>une</a:t>
            </a:r>
            <a:r>
              <a:rPr lang="en-US" sz="1600" dirty="0"/>
              <a:t> </a:t>
            </a:r>
            <a:r>
              <a:rPr lang="en-US" sz="1600" dirty="0" err="1"/>
              <a:t>modélisation</a:t>
            </a:r>
            <a:r>
              <a:rPr lang="en-US" sz="1600" dirty="0"/>
              <a:t> pour </a:t>
            </a:r>
            <a:r>
              <a:rPr lang="en-US" sz="1600" dirty="0" err="1"/>
              <a:t>chaque</a:t>
            </a:r>
            <a:r>
              <a:rPr lang="en-US" sz="1600" dirty="0"/>
              <a:t> par la suite)</a:t>
            </a:r>
            <a:endParaRPr lang="en-GB" sz="1200" b="0" i="0" u="none" strike="noStrike" cap="none" dirty="0">
              <a:solidFill>
                <a:schemeClr val="lt1"/>
              </a:solidFill>
              <a:latin typeface="Poppins Medium"/>
              <a:ea typeface="Arial"/>
              <a:cs typeface="Poppins Medium"/>
              <a:sym typeface="Arial"/>
            </a:endParaRPr>
          </a:p>
          <a:p>
            <a:r>
              <a:rPr lang="en-GB" sz="1200" b="0" i="0" u="none" strike="noStrike" cap="none" dirty="0">
                <a:solidFill>
                  <a:schemeClr val="dk1"/>
                </a:solidFill>
                <a:latin typeface="Quicksand Medium"/>
                <a:ea typeface="Arial"/>
                <a:cs typeface="Arial"/>
                <a:sym typeface="Arial"/>
              </a:rPr>
              <a:t>recherche </a:t>
            </a:r>
            <a:r>
              <a:rPr lang="en-GB" sz="1200" b="0" i="0" u="none" strike="noStrike" cap="none" dirty="0" err="1">
                <a:solidFill>
                  <a:schemeClr val="dk1"/>
                </a:solidFill>
                <a:latin typeface="Quicksand Medium"/>
                <a:ea typeface="Arial"/>
                <a:cs typeface="Arial"/>
                <a:sym typeface="Arial"/>
              </a:rPr>
              <a:t>hyperparamétrique</a:t>
            </a:r>
            <a:r>
              <a:rPr lang="en-GB" sz="1200" b="0" i="0" u="none" strike="noStrike" cap="none" dirty="0">
                <a:solidFill>
                  <a:schemeClr val="dk1"/>
                </a:solidFill>
                <a:latin typeface="Quicksand Medium"/>
                <a:ea typeface="Arial"/>
                <a:cs typeface="Arial"/>
                <a:sym typeface="Arial"/>
              </a:rPr>
              <a:t> (</a:t>
            </a:r>
            <a:r>
              <a:rPr lang="en-GB" sz="1200" b="0" i="0" u="none" strike="noStrike" cap="none" dirty="0" err="1">
                <a:solidFill>
                  <a:schemeClr val="dk1"/>
                </a:solidFill>
                <a:latin typeface="Quicksand Medium"/>
                <a:ea typeface="Arial"/>
                <a:cs typeface="Arial"/>
                <a:sym typeface="Arial"/>
              </a:rPr>
              <a:t>GridSearchCV</a:t>
            </a:r>
            <a:r>
              <a:rPr lang="en-GB" sz="1200" b="0" i="0" u="none" strike="noStrike" cap="none" dirty="0">
                <a:solidFill>
                  <a:schemeClr val="dk1"/>
                </a:solidFill>
                <a:latin typeface="Quicksand Medium"/>
                <a:ea typeface="Arial"/>
                <a:cs typeface="Arial"/>
                <a:sym typeface="Arial"/>
              </a:rPr>
              <a:t>) sur </a:t>
            </a:r>
            <a:r>
              <a:rPr lang="en-GB" sz="1200" b="0" i="0" u="none" strike="noStrike" cap="none" dirty="0" err="1">
                <a:solidFill>
                  <a:schemeClr val="dk1"/>
                </a:solidFill>
                <a:latin typeface="Quicksand Medium"/>
                <a:ea typeface="Arial"/>
                <a:cs typeface="Arial"/>
                <a:sym typeface="Arial"/>
              </a:rPr>
              <a:t>chaque</a:t>
            </a:r>
            <a:r>
              <a:rPr lang="en-GB" sz="1200" b="0" i="0" u="none" strike="noStrike" cap="none" dirty="0">
                <a:solidFill>
                  <a:schemeClr val="dk1"/>
                </a:solidFill>
                <a:latin typeface="Quicksand Medium"/>
                <a:ea typeface="Arial"/>
                <a:cs typeface="Arial"/>
                <a:sym typeface="Arial"/>
              </a:rPr>
              <a:t> pipeline de </a:t>
            </a:r>
            <a:r>
              <a:rPr lang="en-GB" sz="1200" b="0" i="0" u="none" strike="noStrike" cap="none" dirty="0" err="1">
                <a:solidFill>
                  <a:schemeClr val="dk1"/>
                </a:solidFill>
                <a:latin typeface="Quicksand Medium"/>
                <a:ea typeface="Arial"/>
                <a:cs typeface="Arial"/>
                <a:sym typeface="Arial"/>
              </a:rPr>
              <a:t>modélisation</a:t>
            </a:r>
            <a:r>
              <a:rPr lang="en-GB" sz="1200" b="0" i="0" u="none" strike="noStrike" cap="none" dirty="0">
                <a:solidFill>
                  <a:schemeClr val="dk1"/>
                </a:solidFill>
                <a:latin typeface="Quicksand Medium"/>
                <a:ea typeface="Arial"/>
                <a:cs typeface="Arial"/>
                <a:sym typeface="Arial"/>
              </a:rPr>
              <a:t> et </a:t>
            </a:r>
            <a:r>
              <a:rPr lang="en-GB" sz="1200" b="0" i="0" u="none" strike="noStrike" cap="none" dirty="0" err="1">
                <a:solidFill>
                  <a:schemeClr val="dk1"/>
                </a:solidFill>
                <a:latin typeface="Quicksand Medium"/>
                <a:ea typeface="Arial"/>
                <a:cs typeface="Arial"/>
                <a:sym typeface="Arial"/>
              </a:rPr>
              <a:t>entraînement</a:t>
            </a:r>
            <a:r>
              <a:rPr lang="en-GB" sz="1200" b="0" i="0" u="none" strike="noStrike" cap="none" dirty="0">
                <a:solidFill>
                  <a:schemeClr val="dk1"/>
                </a:solidFill>
                <a:latin typeface="Quicksand Medium"/>
                <a:ea typeface="Arial"/>
                <a:cs typeface="Arial"/>
                <a:sym typeface="Arial"/>
              </a:rPr>
              <a:t> des </a:t>
            </a:r>
            <a:r>
              <a:rPr lang="en-GB" sz="1200" b="0" i="0" u="none" strike="noStrike" cap="none" dirty="0" err="1">
                <a:solidFill>
                  <a:schemeClr val="dk1"/>
                </a:solidFill>
                <a:latin typeface="Quicksand Medium"/>
                <a:ea typeface="Arial"/>
                <a:cs typeface="Arial"/>
                <a:sym typeface="Arial"/>
              </a:rPr>
              <a:t>modèles</a:t>
            </a:r>
            <a:r>
              <a:rPr lang="en-GB" sz="1200" b="0" i="0" u="none" strike="noStrike" cap="none" dirty="0">
                <a:solidFill>
                  <a:schemeClr val="dk1"/>
                </a:solidFill>
                <a:latin typeface="Quicksand Medium"/>
                <a:ea typeface="Arial"/>
                <a:cs typeface="Arial"/>
                <a:sym typeface="Arial"/>
              </a:rPr>
              <a:t> avec les </a:t>
            </a:r>
            <a:r>
              <a:rPr lang="en-GB" sz="1200" b="0" i="0" u="none" strike="noStrike" cap="none" dirty="0" err="1">
                <a:solidFill>
                  <a:schemeClr val="dk1"/>
                </a:solidFill>
                <a:latin typeface="Quicksand Medium"/>
                <a:ea typeface="Arial"/>
                <a:cs typeface="Arial"/>
                <a:sym typeface="Arial"/>
              </a:rPr>
              <a:t>meilleurs</a:t>
            </a:r>
            <a:r>
              <a:rPr lang="en-GB" sz="1200" b="0" i="0" u="none" strike="noStrike" cap="none" dirty="0">
                <a:solidFill>
                  <a:schemeClr val="dk1"/>
                </a:solidFill>
                <a:latin typeface="Quicksand Medium"/>
                <a:ea typeface="Arial"/>
                <a:cs typeface="Arial"/>
                <a:sym typeface="Arial"/>
              </a:rPr>
              <a:t> </a:t>
            </a:r>
            <a:r>
              <a:rPr lang="en-GB" sz="1200" b="0" i="0" u="none" strike="noStrike" cap="none" dirty="0" err="1">
                <a:solidFill>
                  <a:schemeClr val="dk1"/>
                </a:solidFill>
                <a:latin typeface="Quicksand Medium"/>
                <a:ea typeface="Arial"/>
                <a:cs typeface="Arial"/>
                <a:sym typeface="Arial"/>
              </a:rPr>
              <a:t>paramètres</a:t>
            </a:r>
            <a:r>
              <a:rPr lang="en-GB" sz="1200" b="0" i="0" u="none" strike="noStrike" cap="none" dirty="0">
                <a:solidFill>
                  <a:schemeClr val="dk1"/>
                </a:solidFill>
                <a:latin typeface="Quicksand Medium"/>
                <a:ea typeface="Arial"/>
                <a:cs typeface="Arial"/>
                <a:sym typeface="Arial"/>
              </a:rPr>
              <a:t> </a:t>
            </a:r>
            <a:r>
              <a:rPr lang="en-GB" sz="1200" b="0" i="0" u="none" strike="noStrike" cap="none" dirty="0" err="1">
                <a:solidFill>
                  <a:schemeClr val="dk1"/>
                </a:solidFill>
                <a:latin typeface="Quicksand Medium"/>
                <a:ea typeface="Arial"/>
                <a:cs typeface="Arial"/>
                <a:sym typeface="Arial"/>
              </a:rPr>
              <a:t>trouvés</a:t>
            </a:r>
            <a:endParaRPr lang="en-GB" sz="1200" b="0" i="0" u="none" strike="noStrike" cap="none" dirty="0">
              <a:solidFill>
                <a:schemeClr val="dk1"/>
              </a:solidFill>
              <a:latin typeface="Quicksand Medium"/>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fr-FR" sz="1200" dirty="0">
              <a:solidFill>
                <a:schemeClr val="dk1"/>
              </a:solidFill>
              <a:latin typeface="Quicksand Medium"/>
              <a:ea typeface="Quicksand Medium"/>
              <a:cs typeface="Quicksand Medium"/>
              <a:sym typeface="Quicksand Medium"/>
            </a:endParaRPr>
          </a:p>
          <a:p>
            <a:pPr marL="0" lvl="0" indent="0" algn="l" rtl="0">
              <a:spcBef>
                <a:spcPts val="0"/>
              </a:spcBef>
              <a:spcAft>
                <a:spcPts val="0"/>
              </a:spcAft>
              <a:buClr>
                <a:schemeClr val="dk1"/>
              </a:buClr>
              <a:buSzPts val="1100"/>
              <a:buFont typeface="Arial"/>
              <a:buNone/>
            </a:pP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r>
              <a:rPr lang="en-GB" sz="1100" b="0" i="0" u="none" strike="noStrike" cap="none" dirty="0" err="1">
                <a:solidFill>
                  <a:schemeClr val="dk1"/>
                </a:solidFill>
                <a:latin typeface="Quicksand Medium"/>
                <a:ea typeface="Arial"/>
                <a:cs typeface="Arial"/>
                <a:sym typeface="Arial"/>
              </a:rPr>
              <a:t>méthodes</a:t>
            </a:r>
            <a:r>
              <a:rPr lang="en-GB" sz="1100" b="0" i="0" u="none" strike="noStrike" cap="none" dirty="0">
                <a:solidFill>
                  <a:schemeClr val="dk1"/>
                </a:solidFill>
                <a:latin typeface="Quicksand Medium"/>
                <a:ea typeface="Arial"/>
                <a:cs typeface="Arial"/>
                <a:sym typeface="Arial"/>
              </a:rPr>
              <a:t> </a:t>
            </a:r>
            <a:r>
              <a:rPr lang="en-GB" sz="1100" b="0" i="0" u="none" strike="noStrike" cap="none" dirty="0" err="1">
                <a:solidFill>
                  <a:schemeClr val="dk1"/>
                </a:solidFill>
                <a:latin typeface="Quicksand Medium"/>
                <a:ea typeface="Arial"/>
                <a:cs typeface="Arial"/>
                <a:sym typeface="Arial"/>
              </a:rPr>
              <a:t>utilisées</a:t>
            </a:r>
            <a:r>
              <a:rPr lang="en-GB" sz="1100" b="0" i="0" u="none" strike="noStrike" cap="none" dirty="0">
                <a:solidFill>
                  <a:schemeClr val="dk1"/>
                </a:solidFill>
                <a:latin typeface="Quicksand Medium"/>
                <a:ea typeface="Arial"/>
                <a:cs typeface="Arial"/>
                <a:sym typeface="Arial"/>
              </a:rPr>
              <a:t> pour </a:t>
            </a:r>
            <a:r>
              <a:rPr lang="en-GB" sz="1100" b="0" i="0" u="none" strike="noStrike" cap="none" dirty="0" err="1">
                <a:solidFill>
                  <a:schemeClr val="dk1"/>
                </a:solidFill>
                <a:latin typeface="Quicksand Medium"/>
                <a:ea typeface="Arial"/>
                <a:cs typeface="Arial"/>
                <a:sym typeface="Arial"/>
              </a:rPr>
              <a:t>prédire</a:t>
            </a:r>
            <a:r>
              <a:rPr lang="en-GB" sz="1100" b="0" i="0" u="none" strike="noStrike" cap="none" dirty="0">
                <a:solidFill>
                  <a:schemeClr val="dk1"/>
                </a:solidFill>
                <a:latin typeface="Quicksand Medium"/>
                <a:ea typeface="Arial"/>
                <a:cs typeface="Arial"/>
                <a:sym typeface="Arial"/>
              </a:rPr>
              <a:t> la </a:t>
            </a:r>
            <a:r>
              <a:rPr lang="en-GB" sz="1100" b="0" i="0" u="none" strike="noStrike" cap="none" dirty="0" err="1">
                <a:solidFill>
                  <a:schemeClr val="dk1"/>
                </a:solidFill>
                <a:latin typeface="Quicksand Medium"/>
                <a:ea typeface="Arial"/>
                <a:cs typeface="Arial"/>
                <a:sym typeface="Arial"/>
              </a:rPr>
              <a:t>consommation</a:t>
            </a:r>
            <a:r>
              <a:rPr lang="en-GB" sz="1100" b="0" i="0" u="none" strike="noStrike" cap="none" dirty="0">
                <a:solidFill>
                  <a:schemeClr val="dk1"/>
                </a:solidFill>
                <a:latin typeface="Quicksand Medium"/>
                <a:ea typeface="Arial"/>
                <a:cs typeface="Arial"/>
                <a:sym typeface="Arial"/>
              </a:rPr>
              <a:t> </a:t>
            </a:r>
            <a:r>
              <a:rPr lang="en-GB" sz="1100" b="0" i="0" u="none" strike="noStrike" cap="none" dirty="0" err="1">
                <a:solidFill>
                  <a:schemeClr val="dk1"/>
                </a:solidFill>
                <a:latin typeface="Quicksand Medium"/>
                <a:ea typeface="Arial"/>
                <a:cs typeface="Arial"/>
                <a:sym typeface="Arial"/>
              </a:rPr>
              <a:t>d'énergie</a:t>
            </a:r>
            <a:r>
              <a:rPr lang="en-GB" sz="1100" b="0" i="0" u="none" strike="noStrike" cap="none" dirty="0">
                <a:solidFill>
                  <a:schemeClr val="dk1"/>
                </a:solidFill>
                <a:latin typeface="Quicksand Medium"/>
                <a:ea typeface="Arial"/>
                <a:cs typeface="Arial"/>
                <a:sym typeface="Arial"/>
              </a:rPr>
              <a:t> et les </a:t>
            </a:r>
            <a:r>
              <a:rPr lang="en-GB" sz="1100" b="0" i="0" u="none" strike="noStrike" cap="none" dirty="0" err="1">
                <a:solidFill>
                  <a:schemeClr val="dk1"/>
                </a:solidFill>
                <a:latin typeface="Quicksand Medium"/>
                <a:ea typeface="Arial"/>
                <a:cs typeface="Arial"/>
                <a:sym typeface="Arial"/>
              </a:rPr>
              <a:t>émissions</a:t>
            </a:r>
            <a:r>
              <a:rPr lang="en-GB" sz="1100" b="0" i="0" u="none" strike="noStrike" cap="none" dirty="0">
                <a:solidFill>
                  <a:schemeClr val="dk1"/>
                </a:solidFill>
                <a:latin typeface="Quicksand Medium"/>
                <a:ea typeface="Arial"/>
                <a:cs typeface="Arial"/>
                <a:sym typeface="Arial"/>
              </a:rPr>
              <a:t> de CO2 sur la base des </a:t>
            </a:r>
            <a:r>
              <a:rPr lang="en-GB" sz="1100" b="0" i="0" u="none" strike="noStrike" cap="none" dirty="0" err="1">
                <a:solidFill>
                  <a:schemeClr val="dk1"/>
                </a:solidFill>
                <a:latin typeface="Quicksand Medium"/>
                <a:ea typeface="Arial"/>
                <a:cs typeface="Arial"/>
                <a:sym typeface="Arial"/>
              </a:rPr>
              <a:t>données</a:t>
            </a:r>
            <a:r>
              <a:rPr lang="en-GB" sz="1100" b="0" i="0" u="none" strike="noStrike" cap="none" dirty="0">
                <a:solidFill>
                  <a:schemeClr val="dk1"/>
                </a:solidFill>
                <a:latin typeface="Quicksand Medium"/>
                <a:ea typeface="Arial"/>
                <a:cs typeface="Arial"/>
                <a:sym typeface="Arial"/>
              </a:rPr>
              <a:t> </a:t>
            </a:r>
            <a:r>
              <a:rPr lang="en-GB" sz="1100" b="0" i="0" u="none" strike="noStrike" cap="none" dirty="0" err="1">
                <a:solidFill>
                  <a:schemeClr val="dk1"/>
                </a:solidFill>
                <a:latin typeface="Quicksand Medium"/>
                <a:ea typeface="Arial"/>
                <a:cs typeface="Arial"/>
                <a:sym typeface="Arial"/>
              </a:rPr>
              <a:t>structurelles</a:t>
            </a:r>
            <a:r>
              <a:rPr lang="en-GB" sz="1100" b="0" i="0" u="none" strike="noStrike" cap="none" dirty="0">
                <a:solidFill>
                  <a:schemeClr val="dk1"/>
                </a:solidFill>
                <a:latin typeface="Quicksand Medium"/>
                <a:ea typeface="Arial"/>
                <a:cs typeface="Arial"/>
                <a:sym typeface="Arial"/>
              </a:rPr>
              <a:t>, explication du </a:t>
            </a:r>
            <a:r>
              <a:rPr lang="en-GB" sz="1100" b="0" i="0" u="none" strike="noStrike" cap="none" dirty="0" err="1">
                <a:solidFill>
                  <a:schemeClr val="dk1"/>
                </a:solidFill>
                <a:latin typeface="Quicksand Medium"/>
                <a:ea typeface="Arial"/>
                <a:cs typeface="Arial"/>
                <a:sym typeface="Arial"/>
              </a:rPr>
              <a:t>choix</a:t>
            </a:r>
            <a:r>
              <a:rPr lang="en-GB" sz="1100" b="0" i="0" u="none" strike="noStrike" cap="none" dirty="0">
                <a:solidFill>
                  <a:schemeClr val="dk1"/>
                </a:solidFill>
                <a:latin typeface="Quicksand Medium"/>
                <a:ea typeface="Arial"/>
                <a:cs typeface="Arial"/>
                <a:sym typeface="Arial"/>
              </a:rPr>
              <a:t> et performances des </a:t>
            </a:r>
            <a:r>
              <a:rPr lang="en-GB" sz="1100" b="0" i="0" u="none" strike="noStrike" cap="none" dirty="0" err="1">
                <a:solidFill>
                  <a:schemeClr val="dk1"/>
                </a:solidFill>
                <a:latin typeface="Quicksand Medium"/>
                <a:ea typeface="Arial"/>
                <a:cs typeface="Arial"/>
                <a:sym typeface="Arial"/>
              </a:rPr>
              <a:t>modèles</a:t>
            </a:r>
            <a:endParaRPr lang="en-GB" sz="1100" b="0" i="0" u="none" strike="noStrike" cap="none" dirty="0">
              <a:solidFill>
                <a:schemeClr val="dk1"/>
              </a:solidFill>
              <a:latin typeface="Quicksand Medium"/>
              <a:ea typeface="Arial"/>
              <a:cs typeface="Arial"/>
              <a:sym typeface="Arial"/>
            </a:endParaRPr>
          </a:p>
          <a:p>
            <a:pPr marL="0" lvl="0" indent="0" algn="l" rtl="0">
              <a:spcBef>
                <a:spcPts val="0"/>
              </a:spcBef>
              <a:spcAft>
                <a:spcPts val="0"/>
              </a:spcAft>
              <a:buNone/>
            </a:pPr>
            <a:endParaRPr lang="en-GB" sz="1100" b="0" i="0" u="none" strike="noStrike" cap="none" dirty="0">
              <a:solidFill>
                <a:schemeClr val="dk1"/>
              </a:solidFill>
              <a:latin typeface="Quicksand Medium"/>
              <a:cs typeface="Arial"/>
              <a:sym typeface="Arial"/>
            </a:endParaRPr>
          </a:p>
          <a:p>
            <a:pPr marL="0" lvl="0" indent="0" algn="l" rtl="0">
              <a:spcBef>
                <a:spcPts val="0"/>
              </a:spcBef>
              <a:spcAft>
                <a:spcPts val="0"/>
              </a:spcAft>
              <a:buNone/>
            </a:pPr>
            <a:r>
              <a:rPr lang="en-GB" dirty="0"/>
              <a:t> </a:t>
            </a:r>
            <a:r>
              <a:rPr lang="en-GB" dirty="0" err="1"/>
              <a:t>une</a:t>
            </a:r>
            <a:r>
              <a:rPr lang="en-GB" dirty="0"/>
              <a:t> distribution </a:t>
            </a:r>
            <a:r>
              <a:rPr lang="en-GB" dirty="0" err="1"/>
              <a:t>fortement</a:t>
            </a:r>
            <a:r>
              <a:rPr lang="en-GB" dirty="0"/>
              <a:t> </a:t>
            </a:r>
            <a:r>
              <a:rPr lang="en-GB" dirty="0" err="1"/>
              <a:t>à</a:t>
            </a:r>
            <a:r>
              <a:rPr lang="en-GB" dirty="0"/>
              <a:t> gauche (skewness positive) </a:t>
            </a:r>
            <a:r>
              <a:rPr lang="en-GB" dirty="0" err="1"/>
              <a:t>n’empêcher</a:t>
            </a:r>
            <a:r>
              <a:rPr lang="en-GB" dirty="0"/>
              <a:t> </a:t>
            </a:r>
            <a:r>
              <a:rPr lang="en-GB" dirty="0" err="1"/>
              <a:t>d'utiliser</a:t>
            </a:r>
            <a:r>
              <a:rPr lang="en-GB" dirty="0"/>
              <a:t> les </a:t>
            </a:r>
            <a:r>
              <a:rPr lang="en-GB" dirty="0" err="1"/>
              <a:t>modèles</a:t>
            </a:r>
            <a:r>
              <a:rPr lang="en-GB" dirty="0"/>
              <a:t> de </a:t>
            </a:r>
            <a:r>
              <a:rPr lang="en-GB" dirty="0" err="1"/>
              <a:t>lapipeline</a:t>
            </a:r>
            <a:r>
              <a:rPr lang="en-GB" dirty="0"/>
              <a:t>. </a:t>
            </a:r>
            <a:r>
              <a:rPr lang="en-GB" dirty="0" err="1"/>
              <a:t>Cependant</a:t>
            </a:r>
            <a:r>
              <a:rPr lang="en-GB" dirty="0"/>
              <a:t>, </a:t>
            </a:r>
            <a:r>
              <a:rPr lang="en-GB" dirty="0" err="1"/>
              <a:t>cela</a:t>
            </a:r>
            <a:r>
              <a:rPr lang="en-GB" dirty="0"/>
              <a:t> </a:t>
            </a:r>
            <a:r>
              <a:rPr lang="en-GB" dirty="0" err="1"/>
              <a:t>peut</a:t>
            </a:r>
            <a:r>
              <a:rPr lang="en-GB" dirty="0"/>
              <a:t> affecter la performance de </a:t>
            </a:r>
            <a:r>
              <a:rPr lang="en-GB" dirty="0" err="1"/>
              <a:t>certains</a:t>
            </a:r>
            <a:r>
              <a:rPr lang="en-GB" dirty="0"/>
              <a:t> </a:t>
            </a:r>
            <a:r>
              <a:rPr lang="en-GB" dirty="0" err="1"/>
              <a:t>modèles</a:t>
            </a:r>
            <a:r>
              <a:rPr lang="en-GB" dirty="0"/>
              <a:t>. Par </a:t>
            </a:r>
            <a:r>
              <a:rPr lang="en-GB" dirty="0" err="1"/>
              <a:t>exemple</a:t>
            </a:r>
            <a:r>
              <a:rPr lang="en-GB" dirty="0"/>
              <a:t>, les </a:t>
            </a:r>
            <a:r>
              <a:rPr lang="en-GB" dirty="0" err="1"/>
              <a:t>modèles</a:t>
            </a:r>
            <a:r>
              <a:rPr lang="en-GB" dirty="0"/>
              <a:t> de </a:t>
            </a:r>
            <a:r>
              <a:rPr lang="en-GB" dirty="0" err="1"/>
              <a:t>régression</a:t>
            </a:r>
            <a:r>
              <a:rPr lang="en-GB" dirty="0"/>
              <a:t> </a:t>
            </a:r>
            <a:r>
              <a:rPr lang="en-GB" dirty="0" err="1"/>
              <a:t>linéaire</a:t>
            </a:r>
            <a:r>
              <a:rPr lang="en-GB" dirty="0"/>
              <a:t> </a:t>
            </a:r>
            <a:r>
              <a:rPr lang="en-GB" dirty="0" err="1"/>
              <a:t>comme</a:t>
            </a:r>
            <a:r>
              <a:rPr lang="en-GB" dirty="0"/>
              <a:t> Ridge et Lasso </a:t>
            </a:r>
            <a:r>
              <a:rPr lang="en-GB" dirty="0" err="1"/>
              <a:t>supposent</a:t>
            </a:r>
            <a:r>
              <a:rPr lang="en-GB" dirty="0"/>
              <a:t> que les </a:t>
            </a:r>
            <a:r>
              <a:rPr lang="en-GB" dirty="0" err="1"/>
              <a:t>erreurs</a:t>
            </a:r>
            <a:r>
              <a:rPr lang="en-GB" dirty="0"/>
              <a:t> </a:t>
            </a:r>
            <a:r>
              <a:rPr lang="en-GB" dirty="0" err="1"/>
              <a:t>sont</a:t>
            </a:r>
            <a:r>
              <a:rPr lang="en-GB" dirty="0"/>
              <a:t> </a:t>
            </a:r>
            <a:r>
              <a:rPr lang="en-GB" dirty="0" err="1"/>
              <a:t>normalement</a:t>
            </a:r>
            <a:r>
              <a:rPr lang="en-GB" dirty="0"/>
              <a:t> </a:t>
            </a:r>
            <a:r>
              <a:rPr lang="en-GB" dirty="0" err="1"/>
              <a:t>distribuées</a:t>
            </a:r>
            <a:r>
              <a:rPr lang="en-GB" dirty="0"/>
              <a:t>, </a:t>
            </a:r>
            <a:r>
              <a:rPr lang="en-GB" dirty="0" err="1"/>
              <a:t>ce</a:t>
            </a:r>
            <a:r>
              <a:rPr lang="en-GB" dirty="0"/>
              <a:t> qui </a:t>
            </a:r>
            <a:r>
              <a:rPr lang="en-GB" dirty="0" err="1"/>
              <a:t>pourrait</a:t>
            </a:r>
            <a:r>
              <a:rPr lang="en-GB" dirty="0"/>
              <a:t> ne pas </a:t>
            </a:r>
            <a:r>
              <a:rPr lang="en-GB" dirty="0" err="1"/>
              <a:t>être</a:t>
            </a:r>
            <a:r>
              <a:rPr lang="en-GB" dirty="0"/>
              <a:t> le </a:t>
            </a:r>
            <a:r>
              <a:rPr lang="en-GB" dirty="0" err="1"/>
              <a:t>cas</a:t>
            </a:r>
            <a:r>
              <a:rPr lang="en-GB" dirty="0"/>
              <a:t> </a:t>
            </a:r>
            <a:r>
              <a:rPr lang="en-GB" dirty="0" err="1"/>
              <a:t>si</a:t>
            </a:r>
            <a:r>
              <a:rPr lang="en-GB" dirty="0"/>
              <a:t> </a:t>
            </a:r>
            <a:r>
              <a:rPr lang="en-GB" dirty="0" err="1"/>
              <a:t>votre</a:t>
            </a:r>
            <a:r>
              <a:rPr lang="en-GB" dirty="0"/>
              <a:t> variable </a:t>
            </a:r>
            <a:r>
              <a:rPr lang="en-GB" dirty="0" err="1"/>
              <a:t>cible</a:t>
            </a:r>
            <a:r>
              <a:rPr lang="en-GB" dirty="0"/>
              <a:t> </a:t>
            </a:r>
            <a:r>
              <a:rPr lang="en-GB" dirty="0" err="1"/>
              <a:t>ou</a:t>
            </a:r>
            <a:r>
              <a:rPr lang="en-GB" dirty="0"/>
              <a:t> </a:t>
            </a:r>
            <a:r>
              <a:rPr lang="en-GB" dirty="0" err="1"/>
              <a:t>certaines</a:t>
            </a:r>
            <a:r>
              <a:rPr lang="en-GB" dirty="0"/>
              <a:t> de </a:t>
            </a:r>
            <a:r>
              <a:rPr lang="en-GB" dirty="0" err="1"/>
              <a:t>vos</a:t>
            </a:r>
            <a:r>
              <a:rPr lang="en-GB" dirty="0"/>
              <a:t> </a:t>
            </a:r>
            <a:r>
              <a:rPr lang="en-GB" dirty="0" err="1"/>
              <a:t>caractéristiques</a:t>
            </a:r>
            <a:r>
              <a:rPr lang="en-GB" dirty="0"/>
              <a:t> </a:t>
            </a:r>
            <a:r>
              <a:rPr lang="en-GB" dirty="0" err="1"/>
              <a:t>sont</a:t>
            </a:r>
            <a:r>
              <a:rPr lang="en-GB" dirty="0"/>
              <a:t> </a:t>
            </a:r>
            <a:r>
              <a:rPr lang="en-GB" dirty="0" err="1"/>
              <a:t>fortement</a:t>
            </a:r>
            <a:r>
              <a:rPr lang="en-GB" dirty="0"/>
              <a:t> </a:t>
            </a:r>
            <a:r>
              <a:rPr lang="en-GB" dirty="0" err="1"/>
              <a:t>asymétriques</a:t>
            </a:r>
            <a:r>
              <a:rPr lang="en-GB" dirty="0"/>
              <a:t>.</a:t>
            </a:r>
          </a:p>
          <a:p>
            <a:pPr marL="0" lvl="0" indent="0" algn="l" rtl="0">
              <a:spcBef>
                <a:spcPts val="0"/>
              </a:spcBef>
              <a:spcAft>
                <a:spcPts val="0"/>
              </a:spcAft>
              <a:buNone/>
            </a:pPr>
            <a:endParaRPr lang="en-GB" dirty="0"/>
          </a:p>
          <a:p>
            <a:pPr algn="l"/>
            <a:r>
              <a:rPr lang="en-US" b="0" i="0" dirty="0">
                <a:solidFill>
                  <a:srgbClr val="374151"/>
                </a:solidFill>
                <a:effectLst/>
                <a:latin typeface="Söhne"/>
              </a:rPr>
              <a:t>Dans </a:t>
            </a:r>
            <a:r>
              <a:rPr lang="en-US" b="0" i="0" dirty="0" err="1">
                <a:solidFill>
                  <a:srgbClr val="374151"/>
                </a:solidFill>
                <a:effectLst/>
                <a:latin typeface="Söhne"/>
              </a:rPr>
              <a:t>mon</a:t>
            </a:r>
            <a:r>
              <a:rPr lang="en-US" b="0" i="0" dirty="0">
                <a:solidFill>
                  <a:srgbClr val="374151"/>
                </a:solidFill>
                <a:effectLst/>
                <a:latin typeface="Söhne"/>
              </a:rPr>
              <a:t> pipeline de </a:t>
            </a:r>
            <a:r>
              <a:rPr lang="en-US" b="0" i="0" dirty="0" err="1">
                <a:solidFill>
                  <a:srgbClr val="374151"/>
                </a:solidFill>
                <a:effectLst/>
                <a:latin typeface="Söhne"/>
              </a:rPr>
              <a:t>modélisation</a:t>
            </a:r>
            <a:r>
              <a:rPr lang="en-US" b="0" i="0" dirty="0">
                <a:solidFill>
                  <a:srgbClr val="374151"/>
                </a:solidFill>
                <a:effectLst/>
                <a:latin typeface="Söhne"/>
              </a:rPr>
              <a:t>,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suivi</a:t>
            </a:r>
            <a:r>
              <a:rPr lang="en-US" b="0" i="0" dirty="0">
                <a:solidFill>
                  <a:srgbClr val="374151"/>
                </a:solidFill>
                <a:effectLst/>
                <a:latin typeface="Söhne"/>
              </a:rPr>
              <a:t> </a:t>
            </a:r>
            <a:r>
              <a:rPr lang="en-US" b="0" i="0" dirty="0" err="1">
                <a:solidFill>
                  <a:srgbClr val="374151"/>
                </a:solidFill>
                <a:effectLst/>
                <a:latin typeface="Söhne"/>
              </a:rPr>
              <a:t>plusieurs</a:t>
            </a:r>
            <a:r>
              <a:rPr lang="en-US" b="0" i="0" dirty="0">
                <a:solidFill>
                  <a:srgbClr val="374151"/>
                </a:solidFill>
                <a:effectLst/>
                <a:latin typeface="Söhne"/>
              </a:rPr>
              <a:t> étapes </a:t>
            </a:r>
            <a:r>
              <a:rPr lang="en-US" b="0" i="0" dirty="0" err="1">
                <a:solidFill>
                  <a:srgbClr val="374151"/>
                </a:solidFill>
                <a:effectLst/>
                <a:latin typeface="Söhne"/>
              </a:rPr>
              <a:t>clés</a:t>
            </a:r>
            <a:r>
              <a:rPr lang="en-US" b="0" i="0" dirty="0">
                <a:solidFill>
                  <a:srgbClr val="374151"/>
                </a:solidFill>
                <a:effectLst/>
                <a:latin typeface="Söhne"/>
              </a:rPr>
              <a:t> pour </a:t>
            </a:r>
            <a:r>
              <a:rPr lang="en-US" b="0" i="0" dirty="0" err="1">
                <a:solidFill>
                  <a:srgbClr val="374151"/>
                </a:solidFill>
                <a:effectLst/>
                <a:latin typeface="Söhne"/>
              </a:rPr>
              <a:t>traiter</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et </a:t>
            </a:r>
            <a:r>
              <a:rPr lang="en-US" b="0" i="0" dirty="0" err="1">
                <a:solidFill>
                  <a:srgbClr val="374151"/>
                </a:solidFill>
                <a:effectLst/>
                <a:latin typeface="Söhne"/>
              </a:rPr>
              <a:t>construire</a:t>
            </a:r>
            <a:r>
              <a:rPr lang="en-US" b="0" i="0" dirty="0">
                <a:solidFill>
                  <a:srgbClr val="374151"/>
                </a:solidFill>
                <a:effectLst/>
                <a:latin typeface="Söhne"/>
              </a:rPr>
              <a:t> </a:t>
            </a:r>
            <a:r>
              <a:rPr lang="en-US" b="0" i="0" dirty="0" err="1">
                <a:solidFill>
                  <a:srgbClr val="374151"/>
                </a:solidFill>
                <a:effectLst/>
                <a:latin typeface="Söhne"/>
              </a:rPr>
              <a:t>plusieurs</a:t>
            </a:r>
            <a:r>
              <a:rPr lang="en-US" b="0" i="0" dirty="0">
                <a:solidFill>
                  <a:srgbClr val="374151"/>
                </a:solidFill>
                <a:effectLst/>
                <a:latin typeface="Söhne"/>
              </a:rPr>
              <a:t> </a:t>
            </a:r>
            <a:r>
              <a:rPr lang="en-US" b="0" i="0" dirty="0" err="1">
                <a:solidFill>
                  <a:srgbClr val="374151"/>
                </a:solidFill>
                <a:effectLst/>
                <a:latin typeface="Söhne"/>
              </a:rPr>
              <a:t>modèles</a:t>
            </a:r>
            <a:r>
              <a:rPr lang="en-US" b="0" i="0" dirty="0">
                <a:solidFill>
                  <a:srgbClr val="374151"/>
                </a:solidFill>
                <a:effectLst/>
                <a:latin typeface="Söhne"/>
              </a:rPr>
              <a:t> de </a:t>
            </a:r>
            <a:r>
              <a:rPr lang="en-US" b="0" i="0" dirty="0" err="1">
                <a:solidFill>
                  <a:srgbClr val="374151"/>
                </a:solidFill>
                <a:effectLst/>
                <a:latin typeface="Söhne"/>
              </a:rPr>
              <a:t>prédiction</a:t>
            </a:r>
            <a:r>
              <a:rPr lang="en-US" b="0" i="0" dirty="0">
                <a:solidFill>
                  <a:srgbClr val="374151"/>
                </a:solidFill>
                <a:effectLst/>
                <a:latin typeface="Söhne"/>
              </a:rPr>
              <a:t> :</a:t>
            </a:r>
          </a:p>
          <a:p>
            <a:pPr algn="l">
              <a:buFont typeface="+mj-lt"/>
              <a:buAutoNum type="arabicPeriod"/>
            </a:pPr>
            <a:r>
              <a:rPr lang="en-US" b="1" i="0" dirty="0">
                <a:solidFill>
                  <a:srgbClr val="374151"/>
                </a:solidFill>
                <a:effectLst/>
                <a:latin typeface="Söhne"/>
              </a:rPr>
              <a:t>Transformation des </a:t>
            </a:r>
            <a:r>
              <a:rPr lang="en-US" b="1" i="0" dirty="0" err="1">
                <a:solidFill>
                  <a:srgbClr val="374151"/>
                </a:solidFill>
                <a:effectLst/>
                <a:latin typeface="Söhne"/>
              </a:rPr>
              <a:t>données</a:t>
            </a:r>
            <a:r>
              <a:rPr lang="en-US" b="0" i="0" dirty="0">
                <a:solidFill>
                  <a:srgbClr val="374151"/>
                </a:solidFill>
                <a:effectLst/>
                <a:latin typeface="Söhne"/>
              </a:rPr>
              <a:t> :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transformé</a:t>
            </a:r>
            <a:r>
              <a:rPr lang="en-US" b="0" i="0" dirty="0">
                <a:solidFill>
                  <a:srgbClr val="374151"/>
                </a:solidFill>
                <a:effectLst/>
                <a:latin typeface="Söhne"/>
              </a:rPr>
              <a:t> les variables </a:t>
            </a:r>
            <a:r>
              <a:rPr lang="en-US" b="0" i="0" dirty="0" err="1">
                <a:solidFill>
                  <a:srgbClr val="374151"/>
                </a:solidFill>
                <a:effectLst/>
                <a:latin typeface="Söhne"/>
              </a:rPr>
              <a:t>numériques</a:t>
            </a:r>
            <a:r>
              <a:rPr lang="en-US" b="0" i="0" dirty="0">
                <a:solidFill>
                  <a:srgbClr val="374151"/>
                </a:solidFill>
                <a:effectLst/>
                <a:latin typeface="Söhne"/>
              </a:rPr>
              <a:t> pour les </a:t>
            </a:r>
            <a:r>
              <a:rPr lang="en-US" b="0" i="0" dirty="0" err="1">
                <a:solidFill>
                  <a:srgbClr val="374151"/>
                </a:solidFill>
                <a:effectLst/>
                <a:latin typeface="Söhne"/>
              </a:rPr>
              <a:t>rendre</a:t>
            </a:r>
            <a:r>
              <a:rPr lang="en-US" b="0" i="0" dirty="0">
                <a:solidFill>
                  <a:srgbClr val="374151"/>
                </a:solidFill>
                <a:effectLst/>
                <a:latin typeface="Söhne"/>
              </a:rPr>
              <a:t> plus </a:t>
            </a:r>
            <a:r>
              <a:rPr lang="en-US" b="0" i="0" dirty="0" err="1">
                <a:solidFill>
                  <a:srgbClr val="374151"/>
                </a:solidFill>
                <a:effectLst/>
                <a:latin typeface="Söhne"/>
              </a:rPr>
              <a:t>adaptées</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la </a:t>
            </a:r>
            <a:r>
              <a:rPr lang="en-US" b="0" i="0" dirty="0" err="1">
                <a:solidFill>
                  <a:srgbClr val="374151"/>
                </a:solidFill>
                <a:effectLst/>
                <a:latin typeface="Söhne"/>
              </a:rPr>
              <a:t>modélisation</a:t>
            </a:r>
            <a:r>
              <a:rPr lang="en-US" b="0" i="0" dirty="0">
                <a:solidFill>
                  <a:srgbClr val="374151"/>
                </a:solidFill>
                <a:effectLst/>
                <a:latin typeface="Söhne"/>
              </a:rPr>
              <a:t>. </a:t>
            </a:r>
            <a:r>
              <a:rPr lang="en-US" b="0" i="0" dirty="0" err="1">
                <a:solidFill>
                  <a:srgbClr val="374151"/>
                </a:solidFill>
                <a:effectLst/>
                <a:latin typeface="Söhne"/>
              </a:rPr>
              <a:t>D'abord</a:t>
            </a:r>
            <a:r>
              <a:rPr lang="en-US" b="0" i="0" dirty="0">
                <a:solidFill>
                  <a:srgbClr val="374151"/>
                </a:solidFill>
                <a:effectLst/>
                <a:latin typeface="Söhne"/>
              </a:rPr>
              <a:t>,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décalé</a:t>
            </a:r>
            <a:r>
              <a:rPr lang="en-US" b="0" i="0" dirty="0">
                <a:solidFill>
                  <a:srgbClr val="374151"/>
                </a:solidFill>
                <a:effectLst/>
                <a:latin typeface="Söhne"/>
              </a:rPr>
              <a:t> </a:t>
            </a:r>
            <a:r>
              <a:rPr lang="en-US" b="0" i="0" dirty="0" err="1">
                <a:solidFill>
                  <a:srgbClr val="374151"/>
                </a:solidFill>
                <a:effectLst/>
                <a:latin typeface="Söhne"/>
              </a:rPr>
              <a:t>toutes</a:t>
            </a:r>
            <a:r>
              <a:rPr lang="en-US" b="0" i="0" dirty="0">
                <a:solidFill>
                  <a:srgbClr val="374151"/>
                </a:solidFill>
                <a:effectLst/>
                <a:latin typeface="Söhne"/>
              </a:rPr>
              <a:t> les </a:t>
            </a:r>
            <a:r>
              <a:rPr lang="en-US" b="0" i="0" dirty="0" err="1">
                <a:solidFill>
                  <a:srgbClr val="374151"/>
                </a:solidFill>
                <a:effectLst/>
                <a:latin typeface="Söhne"/>
              </a:rPr>
              <a:t>valeurs</a:t>
            </a:r>
            <a:r>
              <a:rPr lang="en-US" b="0" i="0" dirty="0">
                <a:solidFill>
                  <a:srgbClr val="374151"/>
                </a:solidFill>
                <a:effectLst/>
                <a:latin typeface="Söhne"/>
              </a:rPr>
              <a:t> pour les </a:t>
            </a:r>
            <a:r>
              <a:rPr lang="en-US" b="0" i="0" dirty="0" err="1">
                <a:solidFill>
                  <a:srgbClr val="374151"/>
                </a:solidFill>
                <a:effectLst/>
                <a:latin typeface="Söhne"/>
              </a:rPr>
              <a:t>rendre</a:t>
            </a:r>
            <a:r>
              <a:rPr lang="en-US" b="0" i="0" dirty="0">
                <a:solidFill>
                  <a:srgbClr val="374151"/>
                </a:solidFill>
                <a:effectLst/>
                <a:latin typeface="Söhne"/>
              </a:rPr>
              <a:t> positives, </a:t>
            </a:r>
            <a:r>
              <a:rPr lang="en-US" b="0" i="0" dirty="0" err="1">
                <a:solidFill>
                  <a:srgbClr val="374151"/>
                </a:solidFill>
                <a:effectLst/>
                <a:latin typeface="Söhne"/>
              </a:rPr>
              <a:t>ce</a:t>
            </a:r>
            <a:r>
              <a:rPr lang="en-US" b="0" i="0" dirty="0">
                <a:solidFill>
                  <a:srgbClr val="374151"/>
                </a:solidFill>
                <a:effectLst/>
                <a:latin typeface="Söhne"/>
              </a:rPr>
              <a:t> qui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nécessaire</a:t>
            </a:r>
            <a:r>
              <a:rPr lang="en-US" b="0" i="0" dirty="0">
                <a:solidFill>
                  <a:srgbClr val="374151"/>
                </a:solidFill>
                <a:effectLst/>
                <a:latin typeface="Söhne"/>
              </a:rPr>
              <a:t> </a:t>
            </a:r>
            <a:r>
              <a:rPr lang="en-US" b="0" i="0" dirty="0" err="1">
                <a:solidFill>
                  <a:srgbClr val="374151"/>
                </a:solidFill>
                <a:effectLst/>
                <a:latin typeface="Söhne"/>
              </a:rPr>
              <a:t>avant</a:t>
            </a:r>
            <a:r>
              <a:rPr lang="en-US" b="0" i="0" dirty="0">
                <a:solidFill>
                  <a:srgbClr val="374151"/>
                </a:solidFill>
                <a:effectLst/>
                <a:latin typeface="Söhne"/>
              </a:rPr>
              <a:t> </a:t>
            </a:r>
            <a:r>
              <a:rPr lang="en-US" b="0" i="0" dirty="0" err="1">
                <a:solidFill>
                  <a:srgbClr val="374151"/>
                </a:solidFill>
                <a:effectLst/>
                <a:latin typeface="Söhne"/>
              </a:rPr>
              <a:t>d'appliquer</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transformation </a:t>
            </a:r>
            <a:r>
              <a:rPr lang="en-US" b="0" i="0" dirty="0" err="1">
                <a:solidFill>
                  <a:srgbClr val="374151"/>
                </a:solidFill>
                <a:effectLst/>
                <a:latin typeface="Söhne"/>
              </a:rPr>
              <a:t>logarithmique</a:t>
            </a:r>
            <a:r>
              <a:rPr lang="en-US" b="0" i="0" dirty="0">
                <a:solidFill>
                  <a:srgbClr val="374151"/>
                </a:solidFill>
                <a:effectLst/>
                <a:latin typeface="Söhne"/>
              </a:rPr>
              <a:t>. Ensuite, </a:t>
            </a:r>
            <a:r>
              <a:rPr lang="en-US" b="0" i="0" dirty="0" err="1">
                <a:solidFill>
                  <a:srgbClr val="374151"/>
                </a:solidFill>
                <a:effectLst/>
                <a:latin typeface="Söhne"/>
              </a:rPr>
              <a:t>j'ai</a:t>
            </a:r>
            <a:r>
              <a:rPr lang="en-US" b="0" i="0" dirty="0">
                <a:solidFill>
                  <a:srgbClr val="374151"/>
                </a:solidFill>
                <a:effectLst/>
                <a:latin typeface="Söhne"/>
              </a:rPr>
              <a:t> appliqué </a:t>
            </a:r>
            <a:r>
              <a:rPr lang="en-US" b="0" i="0" dirty="0" err="1">
                <a:solidFill>
                  <a:srgbClr val="374151"/>
                </a:solidFill>
                <a:effectLst/>
                <a:latin typeface="Söhne"/>
              </a:rPr>
              <a:t>une</a:t>
            </a:r>
            <a:r>
              <a:rPr lang="en-US" b="0" i="0" dirty="0">
                <a:solidFill>
                  <a:srgbClr val="374151"/>
                </a:solidFill>
                <a:effectLst/>
                <a:latin typeface="Söhne"/>
              </a:rPr>
              <a:t> transformation </a:t>
            </a:r>
            <a:r>
              <a:rPr lang="en-US" b="0" i="0" dirty="0" err="1">
                <a:solidFill>
                  <a:srgbClr val="374151"/>
                </a:solidFill>
                <a:effectLst/>
                <a:latin typeface="Söhne"/>
              </a:rPr>
              <a:t>logarithmique</a:t>
            </a:r>
            <a:r>
              <a:rPr lang="en-US" b="0" i="0" dirty="0">
                <a:solidFill>
                  <a:srgbClr val="374151"/>
                </a:solidFill>
                <a:effectLst/>
                <a:latin typeface="Söhne"/>
              </a:rPr>
              <a:t>, qui </a:t>
            </a:r>
            <a:r>
              <a:rPr lang="en-US" b="0" i="0" dirty="0" err="1">
                <a:solidFill>
                  <a:srgbClr val="374151"/>
                </a:solidFill>
                <a:effectLst/>
                <a:latin typeface="Söhne"/>
              </a:rPr>
              <a:t>peut</a:t>
            </a:r>
            <a:r>
              <a:rPr lang="en-US" b="0" i="0" dirty="0">
                <a:solidFill>
                  <a:srgbClr val="374151"/>
                </a:solidFill>
                <a:effectLst/>
                <a:latin typeface="Söhne"/>
              </a:rPr>
              <a:t> aider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gérer</a:t>
            </a:r>
            <a:r>
              <a:rPr lang="en-US" b="0" i="0" dirty="0">
                <a:solidFill>
                  <a:srgbClr val="374151"/>
                </a:solidFill>
                <a:effectLst/>
                <a:latin typeface="Söhne"/>
              </a:rPr>
              <a:t> la distribution </a:t>
            </a:r>
            <a:r>
              <a:rPr lang="en-US" b="0" i="0" dirty="0" err="1">
                <a:solidFill>
                  <a:srgbClr val="374151"/>
                </a:solidFill>
                <a:effectLst/>
                <a:latin typeface="Söhne"/>
              </a:rPr>
              <a:t>asymétrique</a:t>
            </a:r>
            <a:r>
              <a:rPr lang="en-US" b="0" i="0" dirty="0">
                <a:solidFill>
                  <a:srgbClr val="374151"/>
                </a:solidFill>
                <a:effectLst/>
                <a:latin typeface="Söhne"/>
              </a:rPr>
              <a:t> des </a:t>
            </a:r>
            <a:r>
              <a:rPr lang="en-US" b="0" i="0" dirty="0" err="1">
                <a:solidFill>
                  <a:srgbClr val="374151"/>
                </a:solidFill>
                <a:effectLst/>
                <a:latin typeface="Söhne"/>
              </a:rPr>
              <a:t>données</a:t>
            </a:r>
            <a:r>
              <a:rPr lang="en-US" b="0" i="0" dirty="0">
                <a:solidFill>
                  <a:srgbClr val="374151"/>
                </a:solidFill>
                <a:effectLst/>
                <a:latin typeface="Söhne"/>
              </a:rPr>
              <a:t> et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réduire</a:t>
            </a:r>
            <a:r>
              <a:rPr lang="en-US" b="0" i="0" dirty="0">
                <a:solidFill>
                  <a:srgbClr val="374151"/>
                </a:solidFill>
                <a:effectLst/>
                <a:latin typeface="Söhne"/>
              </a:rPr>
              <a:t> </a:t>
            </a:r>
            <a:r>
              <a:rPr lang="en-US" b="0" i="0" dirty="0" err="1">
                <a:solidFill>
                  <a:srgbClr val="374151"/>
                </a:solidFill>
                <a:effectLst/>
                <a:latin typeface="Söhne"/>
              </a:rPr>
              <a:t>l'impact</a:t>
            </a:r>
            <a:r>
              <a:rPr lang="en-US" b="0" i="0" dirty="0">
                <a:solidFill>
                  <a:srgbClr val="374151"/>
                </a:solidFill>
                <a:effectLst/>
                <a:latin typeface="Söhne"/>
              </a:rPr>
              <a:t> des </a:t>
            </a:r>
            <a:r>
              <a:rPr lang="en-US" b="0" i="0" dirty="0" err="1">
                <a:solidFill>
                  <a:srgbClr val="374151"/>
                </a:solidFill>
                <a:effectLst/>
                <a:latin typeface="Söhne"/>
              </a:rPr>
              <a:t>valeurs</a:t>
            </a:r>
            <a:r>
              <a:rPr lang="en-US" b="0" i="0" dirty="0">
                <a:solidFill>
                  <a:srgbClr val="374151"/>
                </a:solidFill>
                <a:effectLst/>
                <a:latin typeface="Söhne"/>
              </a:rPr>
              <a:t> </a:t>
            </a:r>
            <a:r>
              <a:rPr lang="en-US" b="0" i="0" dirty="0" err="1">
                <a:solidFill>
                  <a:srgbClr val="374151"/>
                </a:solidFill>
                <a:effectLst/>
                <a:latin typeface="Söhne"/>
              </a:rPr>
              <a:t>extrêmes</a:t>
            </a:r>
            <a:r>
              <a:rPr lang="en-US" b="0" i="0" dirty="0">
                <a:solidFill>
                  <a:srgbClr val="374151"/>
                </a:solidFill>
                <a:effectLst/>
                <a:latin typeface="Söhne"/>
              </a:rPr>
              <a:t>.</a:t>
            </a:r>
          </a:p>
          <a:p>
            <a:pPr algn="l">
              <a:buFont typeface="+mj-lt"/>
              <a:buAutoNum type="arabicPeriod"/>
            </a:pPr>
            <a:r>
              <a:rPr lang="en-US" b="1" i="0" dirty="0" err="1">
                <a:solidFill>
                  <a:srgbClr val="374151"/>
                </a:solidFill>
                <a:effectLst/>
                <a:latin typeface="Söhne"/>
              </a:rPr>
              <a:t>Prétraitement</a:t>
            </a:r>
            <a:r>
              <a:rPr lang="en-US" b="1" i="0" dirty="0">
                <a:solidFill>
                  <a:srgbClr val="374151"/>
                </a:solidFill>
                <a:effectLst/>
                <a:latin typeface="Söhne"/>
              </a:rPr>
              <a:t> des </a:t>
            </a:r>
            <a:r>
              <a:rPr lang="en-US" b="1" i="0" dirty="0" err="1">
                <a:solidFill>
                  <a:srgbClr val="374151"/>
                </a:solidFill>
                <a:effectLst/>
                <a:latin typeface="Söhne"/>
              </a:rPr>
              <a:t>données</a:t>
            </a:r>
            <a:r>
              <a:rPr lang="en-US" b="0" i="0" dirty="0">
                <a:solidFill>
                  <a:srgbClr val="374151"/>
                </a:solidFill>
                <a:effectLst/>
                <a:latin typeface="Söhne"/>
              </a:rPr>
              <a:t> :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prétraité</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fonction</a:t>
            </a:r>
            <a:r>
              <a:rPr lang="en-US" b="0" i="0" dirty="0">
                <a:solidFill>
                  <a:srgbClr val="374151"/>
                </a:solidFill>
                <a:effectLst/>
                <a:latin typeface="Söhne"/>
              </a:rPr>
              <a:t> de </a:t>
            </a:r>
            <a:r>
              <a:rPr lang="en-US" b="0" i="0" dirty="0" err="1">
                <a:solidFill>
                  <a:srgbClr val="374151"/>
                </a:solidFill>
                <a:effectLst/>
                <a:latin typeface="Söhne"/>
              </a:rPr>
              <a:t>leur</a:t>
            </a:r>
            <a:r>
              <a:rPr lang="en-US" b="0" i="0" dirty="0">
                <a:solidFill>
                  <a:srgbClr val="374151"/>
                </a:solidFill>
                <a:effectLst/>
                <a:latin typeface="Söhne"/>
              </a:rPr>
              <a:t> type. Pour les variables </a:t>
            </a:r>
            <a:r>
              <a:rPr lang="en-US" b="0" i="0" dirty="0" err="1">
                <a:solidFill>
                  <a:srgbClr val="374151"/>
                </a:solidFill>
                <a:effectLst/>
                <a:latin typeface="Söhne"/>
              </a:rPr>
              <a:t>numériques</a:t>
            </a:r>
            <a:r>
              <a:rPr lang="en-US" b="0" i="0" dirty="0">
                <a:solidFill>
                  <a:srgbClr val="374151"/>
                </a:solidFill>
                <a:effectLst/>
                <a:latin typeface="Söhne"/>
              </a:rPr>
              <a:t>, après les transformations </a:t>
            </a:r>
            <a:r>
              <a:rPr lang="en-US" b="0" i="0" dirty="0" err="1">
                <a:solidFill>
                  <a:srgbClr val="374151"/>
                </a:solidFill>
                <a:effectLst/>
                <a:latin typeface="Söhne"/>
              </a:rPr>
              <a:t>mentionnées</a:t>
            </a:r>
            <a:r>
              <a:rPr lang="en-US" b="0" i="0" dirty="0">
                <a:solidFill>
                  <a:srgbClr val="374151"/>
                </a:solidFill>
                <a:effectLst/>
                <a:latin typeface="Söhne"/>
              </a:rPr>
              <a:t> ci-dessus,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utilisé</a:t>
            </a:r>
            <a:r>
              <a:rPr lang="en-US" b="0" i="0" dirty="0">
                <a:solidFill>
                  <a:srgbClr val="374151"/>
                </a:solidFill>
                <a:effectLst/>
                <a:latin typeface="Söhne"/>
              </a:rPr>
              <a:t> un </a:t>
            </a:r>
            <a:r>
              <a:rPr lang="en-US" b="0" i="0" dirty="0" err="1">
                <a:solidFill>
                  <a:srgbClr val="374151"/>
                </a:solidFill>
                <a:effectLst/>
                <a:latin typeface="Söhne"/>
              </a:rPr>
              <a:t>MinMaxScaler</a:t>
            </a:r>
            <a:r>
              <a:rPr lang="en-US" b="0" i="0" dirty="0">
                <a:solidFill>
                  <a:srgbClr val="374151"/>
                </a:solidFill>
                <a:effectLst/>
                <a:latin typeface="Söhne"/>
              </a:rPr>
              <a:t>. </a:t>
            </a:r>
            <a:r>
              <a:rPr lang="en-US" b="0" i="0" dirty="0" err="1">
                <a:solidFill>
                  <a:srgbClr val="374151"/>
                </a:solidFill>
                <a:effectLst/>
                <a:latin typeface="Söhne"/>
              </a:rPr>
              <a:t>L'objectif</a:t>
            </a:r>
            <a:r>
              <a:rPr lang="en-US" b="0" i="0" dirty="0">
                <a:solidFill>
                  <a:srgbClr val="374151"/>
                </a:solidFill>
                <a:effectLst/>
                <a:latin typeface="Söhne"/>
              </a:rPr>
              <a:t> de </a:t>
            </a:r>
            <a:r>
              <a:rPr lang="en-US" b="0" i="0" dirty="0" err="1">
                <a:solidFill>
                  <a:srgbClr val="374151"/>
                </a:solidFill>
                <a:effectLst/>
                <a:latin typeface="Söhne"/>
              </a:rPr>
              <a:t>cette</a:t>
            </a:r>
            <a:r>
              <a:rPr lang="en-US" b="0" i="0" dirty="0">
                <a:solidFill>
                  <a:srgbClr val="374151"/>
                </a:solidFill>
                <a:effectLst/>
                <a:latin typeface="Söhne"/>
              </a:rPr>
              <a:t> étape </a:t>
            </a:r>
            <a:r>
              <a:rPr lang="en-US" b="0" i="0" dirty="0" err="1">
                <a:solidFill>
                  <a:srgbClr val="374151"/>
                </a:solidFill>
                <a:effectLst/>
                <a:latin typeface="Söhne"/>
              </a:rPr>
              <a:t>est</a:t>
            </a:r>
            <a:r>
              <a:rPr lang="en-US" b="0" i="0" dirty="0">
                <a:solidFill>
                  <a:srgbClr val="374151"/>
                </a:solidFill>
                <a:effectLst/>
                <a:latin typeface="Söhne"/>
              </a:rPr>
              <a:t> de </a:t>
            </a:r>
            <a:r>
              <a:rPr lang="en-US" b="0" i="0" dirty="0" err="1">
                <a:solidFill>
                  <a:srgbClr val="374151"/>
                </a:solidFill>
                <a:effectLst/>
                <a:latin typeface="Söhne"/>
              </a:rPr>
              <a:t>rééchelonner</a:t>
            </a:r>
            <a:r>
              <a:rPr lang="en-US" b="0" i="0" dirty="0">
                <a:solidFill>
                  <a:srgbClr val="374151"/>
                </a:solidFill>
                <a:effectLst/>
                <a:latin typeface="Söhne"/>
              </a:rPr>
              <a:t> les variables </a:t>
            </a:r>
            <a:r>
              <a:rPr lang="en-US" b="0" i="0" dirty="0" err="1">
                <a:solidFill>
                  <a:srgbClr val="374151"/>
                </a:solidFill>
                <a:effectLst/>
                <a:latin typeface="Söhne"/>
              </a:rPr>
              <a:t>numériques</a:t>
            </a:r>
            <a:r>
              <a:rPr lang="en-US" b="0" i="0" dirty="0">
                <a:solidFill>
                  <a:srgbClr val="374151"/>
                </a:solidFill>
                <a:effectLst/>
                <a:latin typeface="Söhne"/>
              </a:rPr>
              <a:t> pour </a:t>
            </a:r>
            <a:r>
              <a:rPr lang="en-US" b="0" i="0" dirty="0" err="1">
                <a:solidFill>
                  <a:srgbClr val="374151"/>
                </a:solidFill>
                <a:effectLst/>
                <a:latin typeface="Söhne"/>
              </a:rPr>
              <a:t>qu'elles</a:t>
            </a:r>
            <a:r>
              <a:rPr lang="en-US" b="0" i="0" dirty="0">
                <a:solidFill>
                  <a:srgbClr val="374151"/>
                </a:solidFill>
                <a:effectLst/>
                <a:latin typeface="Söhne"/>
              </a:rPr>
              <a:t> se </a:t>
            </a:r>
            <a:r>
              <a:rPr lang="en-US" b="0" i="0" dirty="0" err="1">
                <a:solidFill>
                  <a:srgbClr val="374151"/>
                </a:solidFill>
                <a:effectLst/>
                <a:latin typeface="Söhne"/>
              </a:rPr>
              <a:t>situent</a:t>
            </a:r>
            <a:r>
              <a:rPr lang="en-US" b="0" i="0" dirty="0">
                <a:solidFill>
                  <a:srgbClr val="374151"/>
                </a:solidFill>
                <a:effectLst/>
                <a:latin typeface="Söhne"/>
              </a:rPr>
              <a:t> entre 0 et 1. </a:t>
            </a:r>
            <a:r>
              <a:rPr lang="en-US" b="0" i="0" dirty="0" err="1">
                <a:solidFill>
                  <a:srgbClr val="374151"/>
                </a:solidFill>
                <a:effectLst/>
                <a:latin typeface="Söhne"/>
              </a:rPr>
              <a:t>Cela</a:t>
            </a:r>
            <a:r>
              <a:rPr lang="en-US" b="0" i="0" dirty="0">
                <a:solidFill>
                  <a:srgbClr val="374151"/>
                </a:solidFill>
                <a:effectLst/>
                <a:latin typeface="Söhne"/>
              </a:rPr>
              <a:t> </a:t>
            </a:r>
            <a:r>
              <a:rPr lang="en-US" b="0" i="0" dirty="0" err="1">
                <a:solidFill>
                  <a:srgbClr val="374151"/>
                </a:solidFill>
                <a:effectLst/>
                <a:latin typeface="Söhne"/>
              </a:rPr>
              <a:t>peut</a:t>
            </a:r>
            <a:r>
              <a:rPr lang="en-US" b="0" i="0" dirty="0">
                <a:solidFill>
                  <a:srgbClr val="374151"/>
                </a:solidFill>
                <a:effectLst/>
                <a:latin typeface="Söhne"/>
              </a:rPr>
              <a:t> aider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améliorer</a:t>
            </a:r>
            <a:r>
              <a:rPr lang="en-US" b="0" i="0" dirty="0">
                <a:solidFill>
                  <a:srgbClr val="374151"/>
                </a:solidFill>
                <a:effectLst/>
                <a:latin typeface="Söhne"/>
              </a:rPr>
              <a:t> les performances du </a:t>
            </a:r>
            <a:r>
              <a:rPr lang="en-US" b="0" i="0" dirty="0" err="1">
                <a:solidFill>
                  <a:srgbClr val="374151"/>
                </a:solidFill>
                <a:effectLst/>
                <a:latin typeface="Söhne"/>
              </a:rPr>
              <a:t>modèle</a:t>
            </a:r>
            <a:r>
              <a:rPr lang="en-US" b="0" i="0" dirty="0">
                <a:solidFill>
                  <a:srgbClr val="374151"/>
                </a:solidFill>
                <a:effectLst/>
                <a:latin typeface="Söhne"/>
              </a:rPr>
              <a:t>, car de </a:t>
            </a:r>
            <a:r>
              <a:rPr lang="en-US" b="0" i="0" dirty="0" err="1">
                <a:solidFill>
                  <a:srgbClr val="374151"/>
                </a:solidFill>
                <a:effectLst/>
                <a:latin typeface="Söhne"/>
              </a:rPr>
              <a:t>nombreux</a:t>
            </a:r>
            <a:r>
              <a:rPr lang="en-US" b="0" i="0" dirty="0">
                <a:solidFill>
                  <a:srgbClr val="374151"/>
                </a:solidFill>
                <a:effectLst/>
                <a:latin typeface="Söhne"/>
              </a:rPr>
              <a:t> </a:t>
            </a:r>
            <a:r>
              <a:rPr lang="en-US" b="0" i="0" dirty="0" err="1">
                <a:solidFill>
                  <a:srgbClr val="374151"/>
                </a:solidFill>
                <a:effectLst/>
                <a:latin typeface="Söhne"/>
              </a:rPr>
              <a:t>algorithmes</a:t>
            </a:r>
            <a:r>
              <a:rPr lang="en-US" b="0" i="0" dirty="0">
                <a:solidFill>
                  <a:srgbClr val="374151"/>
                </a:solidFill>
                <a:effectLst/>
                <a:latin typeface="Söhne"/>
              </a:rPr>
              <a:t> </a:t>
            </a:r>
            <a:r>
              <a:rPr lang="en-US" b="0" i="0" dirty="0" err="1">
                <a:solidFill>
                  <a:srgbClr val="374151"/>
                </a:solidFill>
                <a:effectLst/>
                <a:latin typeface="Söhne"/>
              </a:rPr>
              <a:t>d'apprentissage</a:t>
            </a:r>
            <a:r>
              <a:rPr lang="en-US" b="0" i="0" dirty="0">
                <a:solidFill>
                  <a:srgbClr val="374151"/>
                </a:solidFill>
                <a:effectLst/>
                <a:latin typeface="Söhne"/>
              </a:rPr>
              <a:t> </a:t>
            </a:r>
            <a:r>
              <a:rPr lang="en-US" b="0" i="0" dirty="0" err="1">
                <a:solidFill>
                  <a:srgbClr val="374151"/>
                </a:solidFill>
                <a:effectLst/>
                <a:latin typeface="Söhne"/>
              </a:rPr>
              <a:t>automatique</a:t>
            </a:r>
            <a:r>
              <a:rPr lang="en-US" b="0" i="0" dirty="0">
                <a:solidFill>
                  <a:srgbClr val="374151"/>
                </a:solidFill>
                <a:effectLst/>
                <a:latin typeface="Söhne"/>
              </a:rPr>
              <a:t> </a:t>
            </a:r>
            <a:r>
              <a:rPr lang="en-US" b="0" i="0" dirty="0" err="1">
                <a:solidFill>
                  <a:srgbClr val="374151"/>
                </a:solidFill>
                <a:effectLst/>
                <a:latin typeface="Söhne"/>
              </a:rPr>
              <a:t>fonctionnent</a:t>
            </a:r>
            <a:r>
              <a:rPr lang="en-US" b="0" i="0" dirty="0">
                <a:solidFill>
                  <a:srgbClr val="374151"/>
                </a:solidFill>
                <a:effectLst/>
                <a:latin typeface="Söhne"/>
              </a:rPr>
              <a:t> </a:t>
            </a:r>
            <a:r>
              <a:rPr lang="en-US" b="0" i="0" dirty="0" err="1">
                <a:solidFill>
                  <a:srgbClr val="374151"/>
                </a:solidFill>
                <a:effectLst/>
                <a:latin typeface="Söhne"/>
              </a:rPr>
              <a:t>mieux</a:t>
            </a:r>
            <a:r>
              <a:rPr lang="en-US" b="0" i="0" dirty="0">
                <a:solidFill>
                  <a:srgbClr val="374151"/>
                </a:solidFill>
                <a:effectLst/>
                <a:latin typeface="Söhne"/>
              </a:rPr>
              <a:t> avec des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d'entrée</a:t>
            </a:r>
            <a:r>
              <a:rPr lang="en-US" b="0" i="0" dirty="0">
                <a:solidFill>
                  <a:srgbClr val="374151"/>
                </a:solidFill>
                <a:effectLst/>
                <a:latin typeface="Söhne"/>
              </a:rPr>
              <a:t> </a:t>
            </a:r>
            <a:r>
              <a:rPr lang="en-US" b="0" i="0" dirty="0" err="1">
                <a:solidFill>
                  <a:srgbClr val="374151"/>
                </a:solidFill>
                <a:effectLst/>
                <a:latin typeface="Söhne"/>
              </a:rPr>
              <a:t>normalisées</a:t>
            </a:r>
            <a:r>
              <a:rPr lang="en-US" b="0" i="0" dirty="0">
                <a:solidFill>
                  <a:srgbClr val="374151"/>
                </a:solidFill>
                <a:effectLst/>
                <a:latin typeface="Söhne"/>
              </a:rPr>
              <a:t>. Pour les variables </a:t>
            </a:r>
            <a:r>
              <a:rPr lang="en-US" b="0" i="0" dirty="0" err="1">
                <a:solidFill>
                  <a:srgbClr val="374151"/>
                </a:solidFill>
                <a:effectLst/>
                <a:latin typeface="Söhne"/>
              </a:rPr>
              <a:t>catégorielles</a:t>
            </a:r>
            <a:r>
              <a:rPr lang="en-US" b="0" i="0" dirty="0">
                <a:solidFill>
                  <a:srgbClr val="374151"/>
                </a:solidFill>
                <a:effectLst/>
                <a:latin typeface="Söhne"/>
              </a:rPr>
              <a:t>,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utilisé</a:t>
            </a:r>
            <a:r>
              <a:rPr lang="en-US" b="0" i="0" dirty="0">
                <a:solidFill>
                  <a:srgbClr val="374151"/>
                </a:solidFill>
                <a:effectLst/>
                <a:latin typeface="Söhne"/>
              </a:rPr>
              <a:t> </a:t>
            </a:r>
            <a:r>
              <a:rPr lang="en-US" b="0" i="0" dirty="0" err="1">
                <a:solidFill>
                  <a:srgbClr val="374151"/>
                </a:solidFill>
                <a:effectLst/>
                <a:latin typeface="Söhne"/>
              </a:rPr>
              <a:t>l'encodage</a:t>
            </a:r>
            <a:r>
              <a:rPr lang="en-US" b="0" i="0" dirty="0">
                <a:solidFill>
                  <a:srgbClr val="374151"/>
                </a:solidFill>
                <a:effectLst/>
                <a:latin typeface="Söhne"/>
              </a:rPr>
              <a:t> one-hot, qui </a:t>
            </a:r>
            <a:r>
              <a:rPr lang="en-US" b="0" i="0" dirty="0" err="1">
                <a:solidFill>
                  <a:srgbClr val="374151"/>
                </a:solidFill>
                <a:effectLst/>
                <a:latin typeface="Söhne"/>
              </a:rPr>
              <a:t>transforme</a:t>
            </a:r>
            <a:r>
              <a:rPr lang="en-US" b="0" i="0" dirty="0">
                <a:solidFill>
                  <a:srgbClr val="374151"/>
                </a:solidFill>
                <a:effectLst/>
                <a:latin typeface="Söhne"/>
              </a:rPr>
              <a:t> </a:t>
            </a:r>
            <a:r>
              <a:rPr lang="en-US" b="0" i="0" dirty="0" err="1">
                <a:solidFill>
                  <a:srgbClr val="374151"/>
                </a:solidFill>
                <a:effectLst/>
                <a:latin typeface="Söhne"/>
              </a:rPr>
              <a:t>chaque</a:t>
            </a:r>
            <a:r>
              <a:rPr lang="en-US" b="0" i="0" dirty="0">
                <a:solidFill>
                  <a:srgbClr val="374151"/>
                </a:solidFill>
                <a:effectLst/>
                <a:latin typeface="Söhne"/>
              </a:rPr>
              <a:t> </a:t>
            </a:r>
            <a:r>
              <a:rPr lang="en-US" b="0" i="0" dirty="0" err="1">
                <a:solidFill>
                  <a:srgbClr val="374151"/>
                </a:solidFill>
                <a:effectLst/>
                <a:latin typeface="Söhne"/>
              </a:rPr>
              <a:t>catégorie</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nouvelle variable </a:t>
            </a:r>
            <a:r>
              <a:rPr lang="en-US" b="0" i="0" dirty="0" err="1">
                <a:solidFill>
                  <a:srgbClr val="374151"/>
                </a:solidFill>
                <a:effectLst/>
                <a:latin typeface="Söhne"/>
              </a:rPr>
              <a:t>binaire</a:t>
            </a:r>
            <a:r>
              <a:rPr lang="en-US" b="0" i="0" dirty="0">
                <a:solidFill>
                  <a:srgbClr val="374151"/>
                </a:solidFill>
                <a:effectLst/>
                <a:latin typeface="Söhne"/>
              </a:rPr>
              <a:t>.</a:t>
            </a:r>
          </a:p>
          <a:p>
            <a:pPr algn="l">
              <a:buFont typeface="+mj-lt"/>
              <a:buAutoNum type="arabicPeriod"/>
            </a:pPr>
            <a:r>
              <a:rPr lang="en-US" b="1" i="0" dirty="0">
                <a:solidFill>
                  <a:srgbClr val="374151"/>
                </a:solidFill>
                <a:effectLst/>
                <a:latin typeface="Söhne"/>
              </a:rPr>
              <a:t>Division des </a:t>
            </a:r>
            <a:r>
              <a:rPr lang="en-US" b="1" i="0" dirty="0" err="1">
                <a:solidFill>
                  <a:srgbClr val="374151"/>
                </a:solidFill>
                <a:effectLst/>
                <a:latin typeface="Söhne"/>
              </a:rPr>
              <a:t>données</a:t>
            </a:r>
            <a:r>
              <a:rPr lang="en-US" b="0" i="0" dirty="0">
                <a:solidFill>
                  <a:srgbClr val="374151"/>
                </a:solidFill>
                <a:effectLst/>
                <a:latin typeface="Söhne"/>
              </a:rPr>
              <a:t> :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divisé</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un ensemble </a:t>
            </a:r>
            <a:r>
              <a:rPr lang="en-US" b="0" i="0" dirty="0" err="1">
                <a:solidFill>
                  <a:srgbClr val="374151"/>
                </a:solidFill>
                <a:effectLst/>
                <a:latin typeface="Söhne"/>
              </a:rPr>
              <a:t>d'entraînement</a:t>
            </a:r>
            <a:r>
              <a:rPr lang="en-US" b="0" i="0" dirty="0">
                <a:solidFill>
                  <a:srgbClr val="374151"/>
                </a:solidFill>
                <a:effectLst/>
                <a:latin typeface="Söhne"/>
              </a:rPr>
              <a:t> et un ensemble de test pour </a:t>
            </a:r>
            <a:r>
              <a:rPr lang="en-US" b="0" i="0" dirty="0" err="1">
                <a:solidFill>
                  <a:srgbClr val="374151"/>
                </a:solidFill>
                <a:effectLst/>
                <a:latin typeface="Söhne"/>
              </a:rPr>
              <a:t>pouvoir</a:t>
            </a:r>
            <a:r>
              <a:rPr lang="en-US" b="0" i="0" dirty="0">
                <a:solidFill>
                  <a:srgbClr val="374151"/>
                </a:solidFill>
                <a:effectLst/>
                <a:latin typeface="Söhne"/>
              </a:rPr>
              <a:t> </a:t>
            </a:r>
            <a:r>
              <a:rPr lang="en-US" b="0" i="0" dirty="0" err="1">
                <a:solidFill>
                  <a:srgbClr val="374151"/>
                </a:solidFill>
                <a:effectLst/>
                <a:latin typeface="Söhne"/>
              </a:rPr>
              <a:t>évaluer</a:t>
            </a:r>
            <a:r>
              <a:rPr lang="en-US" b="0" i="0" dirty="0">
                <a:solidFill>
                  <a:srgbClr val="374151"/>
                </a:solidFill>
                <a:effectLst/>
                <a:latin typeface="Söhne"/>
              </a:rPr>
              <a:t> la performance du </a:t>
            </a:r>
            <a:r>
              <a:rPr lang="en-US" b="0" i="0" dirty="0" err="1">
                <a:solidFill>
                  <a:srgbClr val="374151"/>
                </a:solidFill>
                <a:effectLst/>
                <a:latin typeface="Söhne"/>
              </a:rPr>
              <a:t>modèle</a:t>
            </a:r>
            <a:r>
              <a:rPr lang="en-US" b="0" i="0" dirty="0">
                <a:solidFill>
                  <a:srgbClr val="374151"/>
                </a:solidFill>
                <a:effectLst/>
                <a:latin typeface="Söhne"/>
              </a:rPr>
              <a:t> sur des </a:t>
            </a:r>
            <a:r>
              <a:rPr lang="en-US" b="0" i="0" dirty="0" err="1">
                <a:solidFill>
                  <a:srgbClr val="374151"/>
                </a:solidFill>
                <a:effectLst/>
                <a:latin typeface="Söhne"/>
              </a:rPr>
              <a:t>données</a:t>
            </a:r>
            <a:r>
              <a:rPr lang="en-US" b="0" i="0" dirty="0">
                <a:solidFill>
                  <a:srgbClr val="374151"/>
                </a:solidFill>
                <a:effectLst/>
                <a:latin typeface="Söhne"/>
              </a:rPr>
              <a:t> non </a:t>
            </a:r>
            <a:r>
              <a:rPr lang="en-US" b="0" i="0" dirty="0" err="1">
                <a:solidFill>
                  <a:srgbClr val="374151"/>
                </a:solidFill>
                <a:effectLst/>
                <a:latin typeface="Söhne"/>
              </a:rPr>
              <a:t>vues</a:t>
            </a:r>
            <a:r>
              <a:rPr lang="en-US" b="0" i="0" dirty="0">
                <a:solidFill>
                  <a:srgbClr val="374151"/>
                </a:solidFill>
                <a:effectLst/>
                <a:latin typeface="Söhne"/>
              </a:rPr>
              <a:t>.</a:t>
            </a:r>
          </a:p>
          <a:p>
            <a:pPr algn="l">
              <a:buFont typeface="+mj-lt"/>
              <a:buAutoNum type="arabicPeriod"/>
            </a:pPr>
            <a:r>
              <a:rPr lang="en-US" b="1" i="0" dirty="0" err="1">
                <a:solidFill>
                  <a:srgbClr val="374151"/>
                </a:solidFill>
                <a:effectLst/>
                <a:latin typeface="Söhne"/>
              </a:rPr>
              <a:t>Modélisation</a:t>
            </a:r>
            <a:r>
              <a:rPr lang="en-US" b="0" i="0" dirty="0">
                <a:solidFill>
                  <a:srgbClr val="374151"/>
                </a:solidFill>
                <a:effectLst/>
                <a:latin typeface="Söhne"/>
              </a:rPr>
              <a:t> :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construit</a:t>
            </a:r>
            <a:r>
              <a:rPr lang="en-US" b="0" i="0" dirty="0">
                <a:solidFill>
                  <a:srgbClr val="374151"/>
                </a:solidFill>
                <a:effectLst/>
                <a:latin typeface="Söhne"/>
              </a:rPr>
              <a:t> </a:t>
            </a:r>
            <a:r>
              <a:rPr lang="en-US" b="0" i="0" dirty="0" err="1">
                <a:solidFill>
                  <a:srgbClr val="374151"/>
                </a:solidFill>
                <a:effectLst/>
                <a:latin typeface="Söhne"/>
              </a:rPr>
              <a:t>plusieurs</a:t>
            </a:r>
            <a:r>
              <a:rPr lang="en-US" b="0" i="0" dirty="0">
                <a:solidFill>
                  <a:srgbClr val="374151"/>
                </a:solidFill>
                <a:effectLst/>
                <a:latin typeface="Söhne"/>
              </a:rPr>
              <a:t> </a:t>
            </a:r>
            <a:r>
              <a:rPr lang="en-US" b="0" i="0" dirty="0" err="1">
                <a:solidFill>
                  <a:srgbClr val="374151"/>
                </a:solidFill>
                <a:effectLst/>
                <a:latin typeface="Söhne"/>
              </a:rPr>
              <a:t>modèles</a:t>
            </a:r>
            <a:r>
              <a:rPr lang="en-US" b="0" i="0" dirty="0">
                <a:solidFill>
                  <a:srgbClr val="374151"/>
                </a:solidFill>
                <a:effectLst/>
                <a:latin typeface="Söhne"/>
              </a:rPr>
              <a:t> de </a:t>
            </a:r>
            <a:r>
              <a:rPr lang="en-US" b="0" i="0" dirty="0" err="1">
                <a:solidFill>
                  <a:srgbClr val="374151"/>
                </a:solidFill>
                <a:effectLst/>
                <a:latin typeface="Söhne"/>
              </a:rPr>
              <a:t>régression</a:t>
            </a:r>
            <a:r>
              <a:rPr lang="en-US" b="0" i="0" dirty="0">
                <a:solidFill>
                  <a:srgbClr val="374151"/>
                </a:solidFill>
                <a:effectLst/>
                <a:latin typeface="Söhne"/>
              </a:rPr>
              <a:t>, y </a:t>
            </a:r>
            <a:r>
              <a:rPr lang="en-US" b="0" i="0" dirty="0" err="1">
                <a:solidFill>
                  <a:srgbClr val="374151"/>
                </a:solidFill>
                <a:effectLst/>
                <a:latin typeface="Söhne"/>
              </a:rPr>
              <a:t>compris</a:t>
            </a:r>
            <a:r>
              <a:rPr lang="en-US" b="0" i="0" dirty="0">
                <a:solidFill>
                  <a:srgbClr val="374151"/>
                </a:solidFill>
                <a:effectLst/>
                <a:latin typeface="Söhne"/>
              </a:rPr>
              <a:t> un </a:t>
            </a:r>
            <a:r>
              <a:rPr lang="en-US" b="0" i="0" dirty="0" err="1">
                <a:solidFill>
                  <a:srgbClr val="374151"/>
                </a:solidFill>
                <a:effectLst/>
                <a:latin typeface="Söhne"/>
              </a:rPr>
              <a:t>modèle</a:t>
            </a:r>
            <a:r>
              <a:rPr lang="en-US" b="0" i="0" dirty="0">
                <a:solidFill>
                  <a:srgbClr val="374151"/>
                </a:solidFill>
                <a:effectLst/>
                <a:latin typeface="Söhne"/>
              </a:rPr>
              <a:t> Ridge, un </a:t>
            </a:r>
            <a:r>
              <a:rPr lang="en-US" b="0" i="0" dirty="0" err="1">
                <a:solidFill>
                  <a:srgbClr val="374151"/>
                </a:solidFill>
                <a:effectLst/>
                <a:latin typeface="Söhne"/>
              </a:rPr>
              <a:t>modèle</a:t>
            </a:r>
            <a:r>
              <a:rPr lang="en-US" b="0" i="0" dirty="0">
                <a:solidFill>
                  <a:srgbClr val="374151"/>
                </a:solidFill>
                <a:effectLst/>
                <a:latin typeface="Söhne"/>
              </a:rPr>
              <a:t> Lasso, un </a:t>
            </a:r>
            <a:r>
              <a:rPr lang="en-US" b="0" i="0" dirty="0" err="1">
                <a:solidFill>
                  <a:srgbClr val="374151"/>
                </a:solidFill>
                <a:effectLst/>
                <a:latin typeface="Söhne"/>
              </a:rPr>
              <a:t>modèle</a:t>
            </a:r>
            <a:r>
              <a:rPr lang="en-US" b="0" i="0" dirty="0">
                <a:solidFill>
                  <a:srgbClr val="374151"/>
                </a:solidFill>
                <a:effectLst/>
                <a:latin typeface="Söhne"/>
              </a:rPr>
              <a:t> de </a:t>
            </a:r>
            <a:r>
              <a:rPr lang="en-US" b="0" i="0" dirty="0" err="1">
                <a:solidFill>
                  <a:srgbClr val="374151"/>
                </a:solidFill>
                <a:effectLst/>
                <a:latin typeface="Söhne"/>
              </a:rPr>
              <a:t>forêt</a:t>
            </a:r>
            <a:r>
              <a:rPr lang="en-US" b="0" i="0" dirty="0">
                <a:solidFill>
                  <a:srgbClr val="374151"/>
                </a:solidFill>
                <a:effectLst/>
                <a:latin typeface="Söhne"/>
              </a:rPr>
              <a:t> </a:t>
            </a:r>
            <a:r>
              <a:rPr lang="en-US" b="0" i="0" dirty="0" err="1">
                <a:solidFill>
                  <a:srgbClr val="374151"/>
                </a:solidFill>
                <a:effectLst/>
                <a:latin typeface="Söhne"/>
              </a:rPr>
              <a:t>aléatoire</a:t>
            </a:r>
            <a:r>
              <a:rPr lang="en-US" b="0" i="0" dirty="0">
                <a:solidFill>
                  <a:srgbClr val="374151"/>
                </a:solidFill>
                <a:effectLst/>
                <a:latin typeface="Söhne"/>
              </a:rPr>
              <a:t> et un </a:t>
            </a:r>
            <a:r>
              <a:rPr lang="en-US" b="0" i="0" dirty="0" err="1">
                <a:solidFill>
                  <a:srgbClr val="374151"/>
                </a:solidFill>
                <a:effectLst/>
                <a:latin typeface="Söhne"/>
              </a:rPr>
              <a:t>modèle</a:t>
            </a:r>
            <a:r>
              <a:rPr lang="en-US" b="0" i="0" dirty="0">
                <a:solidFill>
                  <a:srgbClr val="374151"/>
                </a:solidFill>
                <a:effectLst/>
                <a:latin typeface="Söhne"/>
              </a:rPr>
              <a:t> de boosting de gradient. </a:t>
            </a:r>
            <a:r>
              <a:rPr lang="en-US" b="0" i="0" dirty="0" err="1">
                <a:solidFill>
                  <a:srgbClr val="374151"/>
                </a:solidFill>
                <a:effectLst/>
                <a:latin typeface="Söhne"/>
              </a:rPr>
              <a:t>Chaque</a:t>
            </a:r>
            <a:r>
              <a:rPr lang="en-US" b="0" i="0" dirty="0">
                <a:solidFill>
                  <a:srgbClr val="374151"/>
                </a:solidFill>
                <a:effectLst/>
                <a:latin typeface="Söhne"/>
              </a:rPr>
              <a:t> </a:t>
            </a:r>
            <a:r>
              <a:rPr lang="en-US" b="0" i="0" dirty="0" err="1">
                <a:solidFill>
                  <a:srgbClr val="374151"/>
                </a:solidFill>
                <a:effectLst/>
                <a:latin typeface="Söhne"/>
              </a:rPr>
              <a:t>modèle</a:t>
            </a:r>
            <a:r>
              <a:rPr lang="en-US" b="0" i="0" dirty="0">
                <a:solidFill>
                  <a:srgbClr val="374151"/>
                </a:solidFill>
                <a:effectLst/>
                <a:latin typeface="Söhne"/>
              </a:rPr>
              <a:t> </a:t>
            </a:r>
            <a:r>
              <a:rPr lang="en-US" b="0" i="0" dirty="0" err="1">
                <a:solidFill>
                  <a:srgbClr val="374151"/>
                </a:solidFill>
                <a:effectLst/>
                <a:latin typeface="Söhne"/>
              </a:rPr>
              <a:t>utilise</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approche</a:t>
            </a:r>
            <a:r>
              <a:rPr lang="en-US" b="0" i="0" dirty="0">
                <a:solidFill>
                  <a:srgbClr val="374151"/>
                </a:solidFill>
                <a:effectLst/>
                <a:latin typeface="Söhne"/>
              </a:rPr>
              <a:t> </a:t>
            </a:r>
            <a:r>
              <a:rPr lang="en-US" b="0" i="0" dirty="0" err="1">
                <a:solidFill>
                  <a:srgbClr val="374151"/>
                </a:solidFill>
                <a:effectLst/>
                <a:latin typeface="Söhne"/>
              </a:rPr>
              <a:t>différente</a:t>
            </a:r>
            <a:r>
              <a:rPr lang="en-US" b="0" i="0" dirty="0">
                <a:solidFill>
                  <a:srgbClr val="374151"/>
                </a:solidFill>
                <a:effectLst/>
                <a:latin typeface="Söhne"/>
              </a:rPr>
              <a:t> pour </a:t>
            </a:r>
            <a:r>
              <a:rPr lang="en-US" b="0" i="0" dirty="0" err="1">
                <a:solidFill>
                  <a:srgbClr val="374151"/>
                </a:solidFill>
                <a:effectLst/>
                <a:latin typeface="Söhne"/>
              </a:rPr>
              <a:t>apprendre</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partir</a:t>
            </a:r>
            <a:r>
              <a:rPr lang="en-US" b="0" i="0" dirty="0">
                <a:solidFill>
                  <a:srgbClr val="374151"/>
                </a:solidFill>
                <a:effectLst/>
                <a:latin typeface="Söhne"/>
              </a:rPr>
              <a:t> des </a:t>
            </a:r>
            <a:r>
              <a:rPr lang="en-US" b="0" i="0" dirty="0" err="1">
                <a:solidFill>
                  <a:srgbClr val="374151"/>
                </a:solidFill>
                <a:effectLst/>
                <a:latin typeface="Söhne"/>
              </a:rPr>
              <a:t>données</a:t>
            </a:r>
            <a:r>
              <a:rPr lang="en-US" b="0" i="0" dirty="0">
                <a:solidFill>
                  <a:srgbClr val="374151"/>
                </a:solidFill>
                <a:effectLst/>
                <a:latin typeface="Söhne"/>
              </a:rPr>
              <a:t> et faire des </a:t>
            </a:r>
            <a:r>
              <a:rPr lang="en-US" b="0" i="0" dirty="0" err="1">
                <a:solidFill>
                  <a:srgbClr val="374151"/>
                </a:solidFill>
                <a:effectLst/>
                <a:latin typeface="Söhne"/>
              </a:rPr>
              <a:t>prédictions</a:t>
            </a:r>
            <a:r>
              <a:rPr lang="en-US" b="0" i="0" dirty="0">
                <a:solidFill>
                  <a:srgbClr val="374151"/>
                </a:solidFill>
                <a:effectLst/>
                <a:latin typeface="Söhne"/>
              </a:rPr>
              <a:t>.</a:t>
            </a:r>
          </a:p>
          <a:p>
            <a:pPr algn="l">
              <a:buFont typeface="+mj-lt"/>
              <a:buAutoNum type="arabicPeriod"/>
            </a:pPr>
            <a:r>
              <a:rPr lang="en-US" b="1" i="0" dirty="0" err="1">
                <a:solidFill>
                  <a:srgbClr val="374151"/>
                </a:solidFill>
                <a:effectLst/>
                <a:latin typeface="Söhne"/>
              </a:rPr>
              <a:t>Optimisation</a:t>
            </a:r>
            <a:r>
              <a:rPr lang="en-US" b="1" i="0" dirty="0">
                <a:solidFill>
                  <a:srgbClr val="374151"/>
                </a:solidFill>
                <a:effectLst/>
                <a:latin typeface="Söhne"/>
              </a:rPr>
              <a:t> des </a:t>
            </a:r>
            <a:r>
              <a:rPr lang="en-US" b="1" i="0" dirty="0" err="1">
                <a:solidFill>
                  <a:srgbClr val="374151"/>
                </a:solidFill>
                <a:effectLst/>
                <a:latin typeface="Söhne"/>
              </a:rPr>
              <a:t>hyperparamètres</a:t>
            </a:r>
            <a:r>
              <a:rPr lang="en-US" b="0" i="0" dirty="0">
                <a:solidFill>
                  <a:srgbClr val="374151"/>
                </a:solidFill>
                <a:effectLst/>
                <a:latin typeface="Söhne"/>
              </a:rPr>
              <a:t> : Pour </a:t>
            </a:r>
            <a:r>
              <a:rPr lang="en-US" b="0" i="0" dirty="0" err="1">
                <a:solidFill>
                  <a:srgbClr val="374151"/>
                </a:solidFill>
                <a:effectLst/>
                <a:latin typeface="Söhne"/>
              </a:rPr>
              <a:t>chaque</a:t>
            </a:r>
            <a:r>
              <a:rPr lang="en-US" b="0" i="0" dirty="0">
                <a:solidFill>
                  <a:srgbClr val="374151"/>
                </a:solidFill>
                <a:effectLst/>
                <a:latin typeface="Söhne"/>
              </a:rPr>
              <a:t> </a:t>
            </a:r>
            <a:r>
              <a:rPr lang="en-US" b="0" i="0" dirty="0" err="1">
                <a:solidFill>
                  <a:srgbClr val="374151"/>
                </a:solidFill>
                <a:effectLst/>
                <a:latin typeface="Söhne"/>
              </a:rPr>
              <a:t>modèle</a:t>
            </a:r>
            <a:r>
              <a:rPr lang="en-US" b="0" i="0" dirty="0">
                <a:solidFill>
                  <a:srgbClr val="374151"/>
                </a:solidFill>
                <a:effectLst/>
                <a:latin typeface="Söhne"/>
              </a:rPr>
              <a:t>,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utilisé</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recherche sur grille pour </a:t>
            </a:r>
            <a:r>
              <a:rPr lang="en-US" b="0" i="0" dirty="0" err="1">
                <a:solidFill>
                  <a:srgbClr val="374151"/>
                </a:solidFill>
                <a:effectLst/>
                <a:latin typeface="Söhne"/>
              </a:rPr>
              <a:t>trouver</a:t>
            </a:r>
            <a:r>
              <a:rPr lang="en-US" b="0" i="0" dirty="0">
                <a:solidFill>
                  <a:srgbClr val="374151"/>
                </a:solidFill>
                <a:effectLst/>
                <a:latin typeface="Söhne"/>
              </a:rPr>
              <a:t> les </a:t>
            </a:r>
            <a:r>
              <a:rPr lang="en-US" b="0" i="0" dirty="0" err="1">
                <a:solidFill>
                  <a:srgbClr val="374151"/>
                </a:solidFill>
                <a:effectLst/>
                <a:latin typeface="Söhne"/>
              </a:rPr>
              <a:t>meilleurs</a:t>
            </a:r>
            <a:r>
              <a:rPr lang="en-US" b="0" i="0" dirty="0">
                <a:solidFill>
                  <a:srgbClr val="374151"/>
                </a:solidFill>
                <a:effectLst/>
                <a:latin typeface="Söhne"/>
              </a:rPr>
              <a:t> </a:t>
            </a:r>
            <a:r>
              <a:rPr lang="en-US" b="0" i="0" dirty="0" err="1">
                <a:solidFill>
                  <a:srgbClr val="374151"/>
                </a:solidFill>
                <a:effectLst/>
                <a:latin typeface="Söhne"/>
              </a:rPr>
              <a:t>hyperparamètres</a:t>
            </a:r>
            <a:r>
              <a:rPr lang="en-US" b="0" i="0" dirty="0">
                <a:solidFill>
                  <a:srgbClr val="374151"/>
                </a:solidFill>
                <a:effectLst/>
                <a:latin typeface="Söhne"/>
              </a:rPr>
              <a:t>. Les </a:t>
            </a:r>
            <a:r>
              <a:rPr lang="en-US" b="0" i="0" dirty="0" err="1">
                <a:solidFill>
                  <a:srgbClr val="374151"/>
                </a:solidFill>
                <a:effectLst/>
                <a:latin typeface="Söhne"/>
              </a:rPr>
              <a:t>hyperparamètres</a:t>
            </a:r>
            <a:r>
              <a:rPr lang="en-US" b="0" i="0" dirty="0">
                <a:solidFill>
                  <a:srgbClr val="374151"/>
                </a:solidFill>
                <a:effectLst/>
                <a:latin typeface="Söhne"/>
              </a:rPr>
              <a:t> </a:t>
            </a:r>
            <a:r>
              <a:rPr lang="en-US" b="0" i="0" dirty="0" err="1">
                <a:solidFill>
                  <a:srgbClr val="374151"/>
                </a:solidFill>
                <a:effectLst/>
                <a:latin typeface="Söhne"/>
              </a:rPr>
              <a:t>sont</a:t>
            </a:r>
            <a:r>
              <a:rPr lang="en-US" b="0" i="0" dirty="0">
                <a:solidFill>
                  <a:srgbClr val="374151"/>
                </a:solidFill>
                <a:effectLst/>
                <a:latin typeface="Söhne"/>
              </a:rPr>
              <a:t> des </a:t>
            </a:r>
            <a:r>
              <a:rPr lang="en-US" b="0" i="0" dirty="0" err="1">
                <a:solidFill>
                  <a:srgbClr val="374151"/>
                </a:solidFill>
                <a:effectLst/>
                <a:latin typeface="Söhne"/>
              </a:rPr>
              <a:t>paramètres</a:t>
            </a:r>
            <a:r>
              <a:rPr lang="en-US" b="0" i="0" dirty="0">
                <a:solidFill>
                  <a:srgbClr val="374151"/>
                </a:solidFill>
                <a:effectLst/>
                <a:latin typeface="Söhne"/>
              </a:rPr>
              <a:t> du </a:t>
            </a:r>
            <a:r>
              <a:rPr lang="en-US" b="0" i="0" dirty="0" err="1">
                <a:solidFill>
                  <a:srgbClr val="374151"/>
                </a:solidFill>
                <a:effectLst/>
                <a:latin typeface="Söhne"/>
              </a:rPr>
              <a:t>modèle</a:t>
            </a:r>
            <a:r>
              <a:rPr lang="en-US" b="0" i="0" dirty="0">
                <a:solidFill>
                  <a:srgbClr val="374151"/>
                </a:solidFill>
                <a:effectLst/>
                <a:latin typeface="Söhne"/>
              </a:rPr>
              <a:t> qui </a:t>
            </a:r>
            <a:r>
              <a:rPr lang="en-US" b="0" i="0" dirty="0" err="1">
                <a:solidFill>
                  <a:srgbClr val="374151"/>
                </a:solidFill>
                <a:effectLst/>
                <a:latin typeface="Söhne"/>
              </a:rPr>
              <a:t>sont</a:t>
            </a:r>
            <a:r>
              <a:rPr lang="en-US" b="0" i="0" dirty="0">
                <a:solidFill>
                  <a:srgbClr val="374151"/>
                </a:solidFill>
                <a:effectLst/>
                <a:latin typeface="Söhne"/>
              </a:rPr>
              <a:t> </a:t>
            </a:r>
            <a:r>
              <a:rPr lang="en-US" b="0" i="0" dirty="0" err="1">
                <a:solidFill>
                  <a:srgbClr val="374151"/>
                </a:solidFill>
                <a:effectLst/>
                <a:latin typeface="Söhne"/>
              </a:rPr>
              <a:t>définis</a:t>
            </a:r>
            <a:r>
              <a:rPr lang="en-US" b="0" i="0" dirty="0">
                <a:solidFill>
                  <a:srgbClr val="374151"/>
                </a:solidFill>
                <a:effectLst/>
                <a:latin typeface="Söhne"/>
              </a:rPr>
              <a:t> </a:t>
            </a:r>
            <a:r>
              <a:rPr lang="en-US" b="0" i="0" dirty="0" err="1">
                <a:solidFill>
                  <a:srgbClr val="374151"/>
                </a:solidFill>
                <a:effectLst/>
                <a:latin typeface="Söhne"/>
              </a:rPr>
              <a:t>avant</a:t>
            </a:r>
            <a:r>
              <a:rPr lang="en-US" b="0" i="0" dirty="0">
                <a:solidFill>
                  <a:srgbClr val="374151"/>
                </a:solidFill>
                <a:effectLst/>
                <a:latin typeface="Söhne"/>
              </a:rPr>
              <a:t> </a:t>
            </a:r>
            <a:r>
              <a:rPr lang="en-US" b="0" i="0" dirty="0" err="1">
                <a:solidFill>
                  <a:srgbClr val="374151"/>
                </a:solidFill>
                <a:effectLst/>
                <a:latin typeface="Söhne"/>
              </a:rPr>
              <a:t>l'entraînement</a:t>
            </a:r>
            <a:r>
              <a:rPr lang="en-US" b="0" i="0" dirty="0">
                <a:solidFill>
                  <a:srgbClr val="374151"/>
                </a:solidFill>
                <a:effectLst/>
                <a:latin typeface="Söhne"/>
              </a:rPr>
              <a:t> et qui </a:t>
            </a:r>
            <a:r>
              <a:rPr lang="en-US" b="0" i="0" dirty="0" err="1">
                <a:solidFill>
                  <a:srgbClr val="374151"/>
                </a:solidFill>
                <a:effectLst/>
                <a:latin typeface="Söhne"/>
              </a:rPr>
              <a:t>peuvent</a:t>
            </a:r>
            <a:r>
              <a:rPr lang="en-US" b="0" i="0" dirty="0">
                <a:solidFill>
                  <a:srgbClr val="374151"/>
                </a:solidFill>
                <a:effectLst/>
                <a:latin typeface="Söhne"/>
              </a:rPr>
              <a:t> influencer la </a:t>
            </a:r>
            <a:r>
              <a:rPr lang="en-US" b="0" i="0" dirty="0" err="1">
                <a:solidFill>
                  <a:srgbClr val="374151"/>
                </a:solidFill>
                <a:effectLst/>
                <a:latin typeface="Söhne"/>
              </a:rPr>
              <a:t>façon</a:t>
            </a:r>
            <a:r>
              <a:rPr lang="en-US" b="0" i="0" dirty="0">
                <a:solidFill>
                  <a:srgbClr val="374151"/>
                </a:solidFill>
                <a:effectLst/>
                <a:latin typeface="Söhne"/>
              </a:rPr>
              <a:t> </a:t>
            </a:r>
            <a:r>
              <a:rPr lang="en-US" b="0" i="0" dirty="0" err="1">
                <a:solidFill>
                  <a:srgbClr val="374151"/>
                </a:solidFill>
                <a:effectLst/>
                <a:latin typeface="Söhne"/>
              </a:rPr>
              <a:t>dont</a:t>
            </a:r>
            <a:r>
              <a:rPr lang="en-US" b="0" i="0" dirty="0">
                <a:solidFill>
                  <a:srgbClr val="374151"/>
                </a:solidFill>
                <a:effectLst/>
                <a:latin typeface="Söhne"/>
              </a:rPr>
              <a:t> le </a:t>
            </a:r>
            <a:r>
              <a:rPr lang="en-US" b="0" i="0" dirty="0" err="1">
                <a:solidFill>
                  <a:srgbClr val="374151"/>
                </a:solidFill>
                <a:effectLst/>
                <a:latin typeface="Söhne"/>
              </a:rPr>
              <a:t>modèle</a:t>
            </a:r>
            <a:r>
              <a:rPr lang="en-US" b="0" i="0" dirty="0">
                <a:solidFill>
                  <a:srgbClr val="374151"/>
                </a:solidFill>
                <a:effectLst/>
                <a:latin typeface="Söhne"/>
              </a:rPr>
              <a:t> </a:t>
            </a:r>
            <a:r>
              <a:rPr lang="en-US" b="0" i="0" dirty="0" err="1">
                <a:solidFill>
                  <a:srgbClr val="374151"/>
                </a:solidFill>
                <a:effectLst/>
                <a:latin typeface="Söhne"/>
              </a:rPr>
              <a:t>apprend</a:t>
            </a:r>
            <a:r>
              <a:rPr lang="en-US" b="0" i="0" dirty="0">
                <a:solidFill>
                  <a:srgbClr val="374151"/>
                </a:solidFill>
                <a:effectLst/>
                <a:latin typeface="Söhne"/>
              </a:rPr>
              <a:t>. La recherche sur grille me </a:t>
            </a:r>
            <a:r>
              <a:rPr lang="en-US" b="0" i="0" dirty="0" err="1">
                <a:solidFill>
                  <a:srgbClr val="374151"/>
                </a:solidFill>
                <a:effectLst/>
                <a:latin typeface="Söhne"/>
              </a:rPr>
              <a:t>permet</a:t>
            </a:r>
            <a:r>
              <a:rPr lang="en-US" b="0" i="0" dirty="0">
                <a:solidFill>
                  <a:srgbClr val="374151"/>
                </a:solidFill>
                <a:effectLst/>
                <a:latin typeface="Söhne"/>
              </a:rPr>
              <a:t> de tester </a:t>
            </a:r>
            <a:r>
              <a:rPr lang="en-US" b="0" i="0" dirty="0" err="1">
                <a:solidFill>
                  <a:srgbClr val="374151"/>
                </a:solidFill>
                <a:effectLst/>
                <a:latin typeface="Söhne"/>
              </a:rPr>
              <a:t>systématiquement</a:t>
            </a:r>
            <a:r>
              <a:rPr lang="en-US" b="0" i="0" dirty="0">
                <a:solidFill>
                  <a:srgbClr val="374151"/>
                </a:solidFill>
                <a:effectLst/>
                <a:latin typeface="Söhne"/>
              </a:rPr>
              <a:t> </a:t>
            </a:r>
            <a:r>
              <a:rPr lang="en-US" b="0" i="0" dirty="0" err="1">
                <a:solidFill>
                  <a:srgbClr val="374151"/>
                </a:solidFill>
                <a:effectLst/>
                <a:latin typeface="Söhne"/>
              </a:rPr>
              <a:t>différentes</a:t>
            </a:r>
            <a:r>
              <a:rPr lang="en-US" b="0" i="0" dirty="0">
                <a:solidFill>
                  <a:srgbClr val="374151"/>
                </a:solidFill>
                <a:effectLst/>
                <a:latin typeface="Söhne"/>
              </a:rPr>
              <a:t> </a:t>
            </a:r>
            <a:r>
              <a:rPr lang="en-US" b="0" i="0" dirty="0" err="1">
                <a:solidFill>
                  <a:srgbClr val="374151"/>
                </a:solidFill>
                <a:effectLst/>
                <a:latin typeface="Söhne"/>
              </a:rPr>
              <a:t>combinaisons</a:t>
            </a:r>
            <a:r>
              <a:rPr lang="en-US" b="0" i="0" dirty="0">
                <a:solidFill>
                  <a:srgbClr val="374151"/>
                </a:solidFill>
                <a:effectLst/>
                <a:latin typeface="Söhne"/>
              </a:rPr>
              <a:t> </a:t>
            </a:r>
            <a:r>
              <a:rPr lang="en-US" b="0" i="0" dirty="0" err="1">
                <a:solidFill>
                  <a:srgbClr val="374151"/>
                </a:solidFill>
                <a:effectLst/>
                <a:latin typeface="Söhne"/>
              </a:rPr>
              <a:t>d'hyperparamètres</a:t>
            </a:r>
            <a:r>
              <a:rPr lang="en-US" b="0" i="0" dirty="0">
                <a:solidFill>
                  <a:srgbClr val="374151"/>
                </a:solidFill>
                <a:effectLst/>
                <a:latin typeface="Söhne"/>
              </a:rPr>
              <a:t> pour </a:t>
            </a:r>
            <a:r>
              <a:rPr lang="en-US" b="0" i="0" dirty="0" err="1">
                <a:solidFill>
                  <a:srgbClr val="374151"/>
                </a:solidFill>
                <a:effectLst/>
                <a:latin typeface="Söhne"/>
              </a:rPr>
              <a:t>trouver</a:t>
            </a:r>
            <a:r>
              <a:rPr lang="en-US" b="0" i="0" dirty="0">
                <a:solidFill>
                  <a:srgbClr val="374151"/>
                </a:solidFill>
                <a:effectLst/>
                <a:latin typeface="Söhne"/>
              </a:rPr>
              <a:t> </a:t>
            </a:r>
            <a:r>
              <a:rPr lang="en-US" b="0" i="0" dirty="0" err="1">
                <a:solidFill>
                  <a:srgbClr val="374151"/>
                </a:solidFill>
                <a:effectLst/>
                <a:latin typeface="Söhne"/>
              </a:rPr>
              <a:t>celle</a:t>
            </a:r>
            <a:r>
              <a:rPr lang="en-US" b="0" i="0" dirty="0">
                <a:solidFill>
                  <a:srgbClr val="374151"/>
                </a:solidFill>
                <a:effectLst/>
                <a:latin typeface="Söhne"/>
              </a:rPr>
              <a:t> qui </a:t>
            </a:r>
            <a:r>
              <a:rPr lang="en-US" b="0" i="0" dirty="0" err="1">
                <a:solidFill>
                  <a:srgbClr val="374151"/>
                </a:solidFill>
                <a:effectLst/>
                <a:latin typeface="Söhne"/>
              </a:rPr>
              <a:t>donne</a:t>
            </a:r>
            <a:r>
              <a:rPr lang="en-US" b="0" i="0" dirty="0">
                <a:solidFill>
                  <a:srgbClr val="374151"/>
                </a:solidFill>
                <a:effectLst/>
                <a:latin typeface="Söhne"/>
              </a:rPr>
              <a:t> la </a:t>
            </a:r>
            <a:r>
              <a:rPr lang="en-US" b="0" i="0" dirty="0" err="1">
                <a:solidFill>
                  <a:srgbClr val="374151"/>
                </a:solidFill>
                <a:effectLst/>
                <a:latin typeface="Söhne"/>
              </a:rPr>
              <a:t>meilleure</a:t>
            </a:r>
            <a:r>
              <a:rPr lang="en-US" b="0" i="0" dirty="0">
                <a:solidFill>
                  <a:srgbClr val="374151"/>
                </a:solidFill>
                <a:effectLst/>
                <a:latin typeface="Söhne"/>
              </a:rPr>
              <a:t> performance sur </a:t>
            </a:r>
            <a:r>
              <a:rPr lang="en-US" b="0" i="0" dirty="0" err="1">
                <a:solidFill>
                  <a:srgbClr val="374151"/>
                </a:solidFill>
                <a:effectLst/>
                <a:latin typeface="Söhne"/>
              </a:rPr>
              <a:t>l'ensemble</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a:t>
            </a:r>
          </a:p>
          <a:p>
            <a:pPr algn="l">
              <a:buFont typeface="+mj-lt"/>
              <a:buAutoNum type="arabicPeriod"/>
            </a:pPr>
            <a:r>
              <a:rPr lang="en-US" b="1" i="0" dirty="0" err="1">
                <a:solidFill>
                  <a:srgbClr val="374151"/>
                </a:solidFill>
                <a:effectLst/>
                <a:latin typeface="Söhne"/>
              </a:rPr>
              <a:t>Évaluation</a:t>
            </a:r>
            <a:r>
              <a:rPr lang="en-US" b="1" i="0" dirty="0">
                <a:solidFill>
                  <a:srgbClr val="374151"/>
                </a:solidFill>
                <a:effectLst/>
                <a:latin typeface="Söhne"/>
              </a:rPr>
              <a:t> du </a:t>
            </a:r>
            <a:r>
              <a:rPr lang="en-US" b="1" i="0" dirty="0" err="1">
                <a:solidFill>
                  <a:srgbClr val="374151"/>
                </a:solidFill>
                <a:effectLst/>
                <a:latin typeface="Söhne"/>
              </a:rPr>
              <a:t>modèle</a:t>
            </a:r>
            <a:r>
              <a:rPr lang="en-US" b="0" i="0" dirty="0">
                <a:solidFill>
                  <a:srgbClr val="374151"/>
                </a:solidFill>
                <a:effectLst/>
                <a:latin typeface="Söhne"/>
              </a:rPr>
              <a:t> : </a:t>
            </a:r>
            <a:r>
              <a:rPr lang="en-US" b="0" i="0" dirty="0" err="1">
                <a:solidFill>
                  <a:srgbClr val="374151"/>
                </a:solidFill>
                <a:effectLst/>
                <a:latin typeface="Söhne"/>
              </a:rPr>
              <a:t>Enfin</a:t>
            </a:r>
            <a:r>
              <a:rPr lang="en-US" b="0" i="0" dirty="0">
                <a:solidFill>
                  <a:srgbClr val="374151"/>
                </a:solidFill>
                <a:effectLst/>
                <a:latin typeface="Söhne"/>
              </a:rPr>
              <a:t>, </a:t>
            </a:r>
            <a:r>
              <a:rPr lang="en-US" b="0" i="0" dirty="0" err="1">
                <a:solidFill>
                  <a:srgbClr val="374151"/>
                </a:solidFill>
                <a:effectLst/>
                <a:latin typeface="Söhne"/>
              </a:rPr>
              <a:t>j'ai</a:t>
            </a:r>
            <a:r>
              <a:rPr lang="en-US" b="0" i="0" dirty="0">
                <a:solidFill>
                  <a:srgbClr val="374151"/>
                </a:solidFill>
                <a:effectLst/>
                <a:latin typeface="Söhne"/>
              </a:rPr>
              <a:t> </a:t>
            </a:r>
            <a:r>
              <a:rPr lang="en-US" b="0" i="0" dirty="0" err="1">
                <a:solidFill>
                  <a:srgbClr val="374151"/>
                </a:solidFill>
                <a:effectLst/>
                <a:latin typeface="Söhne"/>
              </a:rPr>
              <a:t>évalué</a:t>
            </a:r>
            <a:r>
              <a:rPr lang="en-US" b="0" i="0" dirty="0">
                <a:solidFill>
                  <a:srgbClr val="374151"/>
                </a:solidFill>
                <a:effectLst/>
                <a:latin typeface="Söhne"/>
              </a:rPr>
              <a:t> les performances de </a:t>
            </a:r>
            <a:r>
              <a:rPr lang="en-US" b="0" i="0" dirty="0" err="1">
                <a:solidFill>
                  <a:srgbClr val="374151"/>
                </a:solidFill>
                <a:effectLst/>
                <a:latin typeface="Söhne"/>
              </a:rPr>
              <a:t>chaque</a:t>
            </a:r>
            <a:r>
              <a:rPr lang="en-US" b="0" i="0" dirty="0">
                <a:solidFill>
                  <a:srgbClr val="374151"/>
                </a:solidFill>
                <a:effectLst/>
                <a:latin typeface="Söhne"/>
              </a:rPr>
              <a:t> </a:t>
            </a:r>
            <a:r>
              <a:rPr lang="en-US" b="0" i="0" dirty="0" err="1">
                <a:solidFill>
                  <a:srgbClr val="374151"/>
                </a:solidFill>
                <a:effectLst/>
                <a:latin typeface="Söhne"/>
              </a:rPr>
              <a:t>modèle</a:t>
            </a:r>
            <a:r>
              <a:rPr lang="en-US" b="0" i="0" dirty="0">
                <a:solidFill>
                  <a:srgbClr val="374151"/>
                </a:solidFill>
                <a:effectLst/>
                <a:latin typeface="Söhne"/>
              </a:rPr>
              <a:t> sur </a:t>
            </a:r>
            <a:r>
              <a:rPr lang="en-US" b="0" i="0" dirty="0" err="1">
                <a:solidFill>
                  <a:srgbClr val="374151"/>
                </a:solidFill>
                <a:effectLst/>
                <a:latin typeface="Söhne"/>
              </a:rPr>
              <a:t>l'ensemble</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utilisant</a:t>
            </a:r>
            <a:r>
              <a:rPr lang="en-US" b="0" i="0" dirty="0">
                <a:solidFill>
                  <a:srgbClr val="374151"/>
                </a:solidFill>
                <a:effectLst/>
                <a:latin typeface="Söhne"/>
              </a:rPr>
              <a:t> le score R2, qui </a:t>
            </a:r>
            <a:r>
              <a:rPr lang="en-US" b="0" i="0" dirty="0" err="1">
                <a:solidFill>
                  <a:srgbClr val="374151"/>
                </a:solidFill>
                <a:effectLst/>
                <a:latin typeface="Söhne"/>
              </a:rPr>
              <a:t>mesure</a:t>
            </a:r>
            <a:r>
              <a:rPr lang="en-US" b="0" i="0" dirty="0">
                <a:solidFill>
                  <a:srgbClr val="374151"/>
                </a:solidFill>
                <a:effectLst/>
                <a:latin typeface="Söhne"/>
              </a:rPr>
              <a:t> la proportion de la variance de la variable </a:t>
            </a:r>
            <a:r>
              <a:rPr lang="en-US" b="0" i="0" dirty="0" err="1">
                <a:solidFill>
                  <a:srgbClr val="374151"/>
                </a:solidFill>
                <a:effectLst/>
                <a:latin typeface="Söhne"/>
              </a:rPr>
              <a:t>dépendante</a:t>
            </a:r>
            <a:r>
              <a:rPr lang="en-US" b="0" i="0" dirty="0">
                <a:solidFill>
                  <a:srgbClr val="374151"/>
                </a:solidFill>
                <a:effectLst/>
                <a:latin typeface="Söhne"/>
              </a:rPr>
              <a:t> qui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prévisible</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partir</a:t>
            </a:r>
            <a:r>
              <a:rPr lang="en-US" b="0" i="0" dirty="0">
                <a:solidFill>
                  <a:srgbClr val="374151"/>
                </a:solidFill>
                <a:effectLst/>
                <a:latin typeface="Söhne"/>
              </a:rPr>
              <a:t> des variables </a:t>
            </a:r>
            <a:r>
              <a:rPr lang="en-US" b="0" i="0" dirty="0" err="1">
                <a:solidFill>
                  <a:srgbClr val="374151"/>
                </a:solidFill>
                <a:effectLst/>
                <a:latin typeface="Söhne"/>
              </a:rPr>
              <a:t>indépendantes</a:t>
            </a:r>
            <a:r>
              <a:rPr lang="en-US" b="0" i="0" dirty="0">
                <a:solidFill>
                  <a:srgbClr val="374151"/>
                </a:solidFill>
                <a:effectLst/>
                <a:latin typeface="Söhne"/>
              </a:rPr>
              <a:t>.</a:t>
            </a:r>
          </a:p>
          <a:p>
            <a:pPr algn="l"/>
            <a:r>
              <a:rPr lang="en-US" b="0" i="0" dirty="0" err="1">
                <a:solidFill>
                  <a:srgbClr val="374151"/>
                </a:solidFill>
                <a:effectLst/>
                <a:latin typeface="Söhne"/>
              </a:rPr>
              <a:t>L'objectif</a:t>
            </a:r>
            <a:r>
              <a:rPr lang="en-US" b="0" i="0" dirty="0">
                <a:solidFill>
                  <a:srgbClr val="374151"/>
                </a:solidFill>
                <a:effectLst/>
                <a:latin typeface="Söhne"/>
              </a:rPr>
              <a:t> de </a:t>
            </a:r>
            <a:r>
              <a:rPr lang="en-US" b="0" i="0" dirty="0" err="1">
                <a:solidFill>
                  <a:srgbClr val="374151"/>
                </a:solidFill>
                <a:effectLst/>
                <a:latin typeface="Söhne"/>
              </a:rPr>
              <a:t>ce</a:t>
            </a:r>
            <a:r>
              <a:rPr lang="en-US" b="0" i="0" dirty="0">
                <a:solidFill>
                  <a:srgbClr val="374151"/>
                </a:solidFill>
                <a:effectLst/>
                <a:latin typeface="Söhne"/>
              </a:rPr>
              <a:t> pipeline </a:t>
            </a:r>
            <a:r>
              <a:rPr lang="en-US" b="0" i="0" dirty="0" err="1">
                <a:solidFill>
                  <a:srgbClr val="374151"/>
                </a:solidFill>
                <a:effectLst/>
                <a:latin typeface="Söhne"/>
              </a:rPr>
              <a:t>est</a:t>
            </a:r>
            <a:r>
              <a:rPr lang="en-US" b="0" i="0" dirty="0">
                <a:solidFill>
                  <a:srgbClr val="374151"/>
                </a:solidFill>
                <a:effectLst/>
                <a:latin typeface="Söhne"/>
              </a:rPr>
              <a:t> de tester </a:t>
            </a:r>
            <a:r>
              <a:rPr lang="en-US" b="0" i="0" dirty="0" err="1">
                <a:solidFill>
                  <a:srgbClr val="374151"/>
                </a:solidFill>
                <a:effectLst/>
                <a:latin typeface="Söhne"/>
              </a:rPr>
              <a:t>plusieurs</a:t>
            </a:r>
            <a:r>
              <a:rPr lang="en-US" b="0" i="0" dirty="0">
                <a:solidFill>
                  <a:srgbClr val="374151"/>
                </a:solidFill>
                <a:effectLst/>
                <a:latin typeface="Söhne"/>
              </a:rPr>
              <a:t> </a:t>
            </a:r>
            <a:r>
              <a:rPr lang="en-US" b="0" i="0" dirty="0" err="1">
                <a:solidFill>
                  <a:srgbClr val="374151"/>
                </a:solidFill>
                <a:effectLst/>
                <a:latin typeface="Söhne"/>
              </a:rPr>
              <a:t>approches</a:t>
            </a:r>
            <a:r>
              <a:rPr lang="en-US" b="0" i="0" dirty="0">
                <a:solidFill>
                  <a:srgbClr val="374151"/>
                </a:solidFill>
                <a:effectLst/>
                <a:latin typeface="Söhne"/>
              </a:rPr>
              <a:t> de </a:t>
            </a:r>
            <a:r>
              <a:rPr lang="en-US" b="0" i="0" dirty="0" err="1">
                <a:solidFill>
                  <a:srgbClr val="374151"/>
                </a:solidFill>
                <a:effectLst/>
                <a:latin typeface="Söhne"/>
              </a:rPr>
              <a:t>modélisation</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prétraitées</a:t>
            </a:r>
            <a:r>
              <a:rPr lang="en-US" b="0" i="0" dirty="0">
                <a:solidFill>
                  <a:srgbClr val="374151"/>
                </a:solidFill>
                <a:effectLst/>
                <a:latin typeface="Söhne"/>
              </a:rPr>
              <a:t> de manière </a:t>
            </a:r>
            <a:r>
              <a:rPr lang="en-US" b="0" i="0" dirty="0" err="1">
                <a:solidFill>
                  <a:srgbClr val="374151"/>
                </a:solidFill>
                <a:effectLst/>
                <a:latin typeface="Söhne"/>
              </a:rPr>
              <a:t>appropriée</a:t>
            </a:r>
            <a:r>
              <a:rPr lang="en-US" b="0" i="0" dirty="0">
                <a:solidFill>
                  <a:srgbClr val="374151"/>
                </a:solidFill>
                <a:effectLst/>
                <a:latin typeface="Söhne"/>
              </a:rPr>
              <a:t> pour </a:t>
            </a:r>
            <a:r>
              <a:rPr lang="en-US" b="0" i="0" dirty="0" err="1">
                <a:solidFill>
                  <a:srgbClr val="374151"/>
                </a:solidFill>
                <a:effectLst/>
                <a:latin typeface="Söhne"/>
              </a:rPr>
              <a:t>trouver</a:t>
            </a:r>
            <a:r>
              <a:rPr lang="en-US" b="0" i="0" dirty="0">
                <a:solidFill>
                  <a:srgbClr val="374151"/>
                </a:solidFill>
                <a:effectLst/>
                <a:latin typeface="Söhne"/>
              </a:rPr>
              <a:t> le </a:t>
            </a:r>
            <a:r>
              <a:rPr lang="en-US" b="0" i="0" dirty="0" err="1">
                <a:solidFill>
                  <a:srgbClr val="374151"/>
                </a:solidFill>
                <a:effectLst/>
                <a:latin typeface="Söhne"/>
              </a:rPr>
              <a:t>modèle</a:t>
            </a:r>
            <a:r>
              <a:rPr lang="en-US" b="0" i="0" dirty="0">
                <a:solidFill>
                  <a:srgbClr val="374151"/>
                </a:solidFill>
                <a:effectLst/>
                <a:latin typeface="Söhne"/>
              </a:rPr>
              <a:t> qui </a:t>
            </a:r>
            <a:r>
              <a:rPr lang="en-US" b="0" i="0" dirty="0" err="1">
                <a:solidFill>
                  <a:srgbClr val="374151"/>
                </a:solidFill>
                <a:effectLst/>
                <a:latin typeface="Söhne"/>
              </a:rPr>
              <a:t>fonctionne</a:t>
            </a:r>
            <a:r>
              <a:rPr lang="en-US" b="0" i="0" dirty="0">
                <a:solidFill>
                  <a:srgbClr val="374151"/>
                </a:solidFill>
                <a:effectLst/>
                <a:latin typeface="Söhne"/>
              </a:rPr>
              <a:t> le </a:t>
            </a:r>
            <a:r>
              <a:rPr lang="en-US" b="0" i="0" dirty="0" err="1">
                <a:solidFill>
                  <a:srgbClr val="374151"/>
                </a:solidFill>
                <a:effectLst/>
                <a:latin typeface="Söhne"/>
              </a:rPr>
              <a:t>mieux</a:t>
            </a:r>
            <a:r>
              <a:rPr lang="en-US" b="0" i="0" dirty="0">
                <a:solidFill>
                  <a:srgbClr val="374151"/>
                </a:solidFill>
                <a:effectLst/>
                <a:latin typeface="Söhne"/>
              </a:rPr>
              <a:t> pour ma </a:t>
            </a:r>
            <a:r>
              <a:rPr lang="en-US" b="0" i="0" dirty="0" err="1">
                <a:solidFill>
                  <a:srgbClr val="374151"/>
                </a:solidFill>
                <a:effectLst/>
                <a:latin typeface="Söhne"/>
              </a:rPr>
              <a:t>tâche</a:t>
            </a:r>
            <a:r>
              <a:rPr lang="en-US" b="0" i="0" dirty="0">
                <a:solidFill>
                  <a:srgbClr val="374151"/>
                </a:solidFill>
                <a:effectLst/>
                <a:latin typeface="Söhne"/>
              </a:rPr>
              <a:t> de </a:t>
            </a:r>
            <a:r>
              <a:rPr lang="en-US" b="0" i="0" dirty="0" err="1">
                <a:solidFill>
                  <a:srgbClr val="374151"/>
                </a:solidFill>
                <a:effectLst/>
                <a:latin typeface="Söhne"/>
              </a:rPr>
              <a:t>prédiction</a:t>
            </a:r>
            <a:r>
              <a:rPr lang="en-US" b="0" i="0" dirty="0">
                <a:solidFill>
                  <a:srgbClr val="374151"/>
                </a:solidFill>
                <a:effectLst/>
                <a:latin typeface="Söhne"/>
              </a:rPr>
              <a:t> </a:t>
            </a:r>
            <a:r>
              <a:rPr lang="en-US" b="0" i="0" dirty="0" err="1">
                <a:solidFill>
                  <a:srgbClr val="374151"/>
                </a:solidFill>
                <a:effectLst/>
                <a:latin typeface="Söhne"/>
              </a:rPr>
              <a:t>spécifique</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intégrant</a:t>
            </a:r>
            <a:r>
              <a:rPr lang="en-US" b="0" i="0" dirty="0">
                <a:solidFill>
                  <a:srgbClr val="374151"/>
                </a:solidFill>
                <a:effectLst/>
                <a:latin typeface="Söhne"/>
              </a:rPr>
              <a:t> </a:t>
            </a:r>
            <a:r>
              <a:rPr lang="en-US" b="0" i="0" dirty="0" err="1">
                <a:solidFill>
                  <a:srgbClr val="374151"/>
                </a:solidFill>
                <a:effectLst/>
                <a:latin typeface="Söhne"/>
              </a:rPr>
              <a:t>toutes</a:t>
            </a:r>
            <a:r>
              <a:rPr lang="en-US" b="0" i="0" dirty="0">
                <a:solidFill>
                  <a:srgbClr val="374151"/>
                </a:solidFill>
                <a:effectLst/>
                <a:latin typeface="Söhne"/>
              </a:rPr>
              <a:t> </a:t>
            </a:r>
            <a:r>
              <a:rPr lang="en-US" b="0" i="0" dirty="0" err="1">
                <a:solidFill>
                  <a:srgbClr val="374151"/>
                </a:solidFill>
                <a:effectLst/>
                <a:latin typeface="Söhne"/>
              </a:rPr>
              <a:t>ces</a:t>
            </a:r>
            <a:r>
              <a:rPr lang="en-US" b="0" i="0" dirty="0">
                <a:solidFill>
                  <a:srgbClr val="374151"/>
                </a:solidFill>
                <a:effectLst/>
                <a:latin typeface="Söhne"/>
              </a:rPr>
              <a:t> étapes dans un pipeline, je </a:t>
            </a:r>
            <a:r>
              <a:rPr lang="en-US" b="0" i="0" dirty="0" err="1">
                <a:solidFill>
                  <a:srgbClr val="374151"/>
                </a:solidFill>
                <a:effectLst/>
                <a:latin typeface="Söhne"/>
              </a:rPr>
              <a:t>m'assure</a:t>
            </a:r>
            <a:r>
              <a:rPr lang="en-US" b="0" i="0" dirty="0">
                <a:solidFill>
                  <a:srgbClr val="374151"/>
                </a:solidFill>
                <a:effectLst/>
                <a:latin typeface="Söhne"/>
              </a:rPr>
              <a:t> que </a:t>
            </a:r>
            <a:r>
              <a:rPr lang="en-US" b="0" i="0" dirty="0" err="1">
                <a:solidFill>
                  <a:srgbClr val="374151"/>
                </a:solidFill>
                <a:effectLst/>
                <a:latin typeface="Söhne"/>
              </a:rPr>
              <a:t>chaque</a:t>
            </a:r>
            <a:r>
              <a:rPr lang="en-US" b="0" i="0" dirty="0">
                <a:solidFill>
                  <a:srgbClr val="374151"/>
                </a:solidFill>
                <a:effectLst/>
                <a:latin typeface="Söhne"/>
              </a:rPr>
              <a:t> étape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effectuée</a:t>
            </a:r>
            <a:r>
              <a:rPr lang="en-US" b="0" i="0" dirty="0">
                <a:solidFill>
                  <a:srgbClr val="374151"/>
                </a:solidFill>
                <a:effectLst/>
                <a:latin typeface="Söhne"/>
              </a:rPr>
              <a:t> de manière </a:t>
            </a:r>
            <a:r>
              <a:rPr lang="en-US" b="0" i="0" dirty="0" err="1">
                <a:solidFill>
                  <a:srgbClr val="374151"/>
                </a:solidFill>
                <a:effectLst/>
                <a:latin typeface="Söhne"/>
              </a:rPr>
              <a:t>cohérente</a:t>
            </a:r>
            <a:r>
              <a:rPr lang="en-US" b="0" i="0" dirty="0">
                <a:solidFill>
                  <a:srgbClr val="374151"/>
                </a:solidFill>
                <a:effectLst/>
                <a:latin typeface="Söhne"/>
              </a:rPr>
              <a:t> pour </a:t>
            </a:r>
            <a:r>
              <a:rPr lang="en-US" b="0" i="0" dirty="0" err="1">
                <a:solidFill>
                  <a:srgbClr val="374151"/>
                </a:solidFill>
                <a:effectLst/>
                <a:latin typeface="Söhne"/>
              </a:rPr>
              <a:t>toutes</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et </a:t>
            </a:r>
            <a:r>
              <a:rPr lang="en-US" b="0" i="0" dirty="0" err="1">
                <a:solidFill>
                  <a:srgbClr val="374151"/>
                </a:solidFill>
                <a:effectLst/>
                <a:latin typeface="Söhne"/>
              </a:rPr>
              <a:t>tous</a:t>
            </a:r>
            <a:r>
              <a:rPr lang="en-US" b="0" i="0" dirty="0">
                <a:solidFill>
                  <a:srgbClr val="374151"/>
                </a:solidFill>
                <a:effectLst/>
                <a:latin typeface="Söhne"/>
              </a:rPr>
              <a:t> les </a:t>
            </a:r>
            <a:r>
              <a:rPr lang="en-US" b="0" i="0" dirty="0" err="1">
                <a:solidFill>
                  <a:srgbClr val="374151"/>
                </a:solidFill>
                <a:effectLst/>
                <a:latin typeface="Söhne"/>
              </a:rPr>
              <a:t>modèles</a:t>
            </a:r>
            <a:r>
              <a:rPr lang="en-US" b="0" i="0" dirty="0">
                <a:solidFill>
                  <a:srgbClr val="374151"/>
                </a:solidFill>
                <a:effectLst/>
                <a:latin typeface="Söhne"/>
              </a:rPr>
              <a:t>.</a:t>
            </a:r>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err="1">
                <a:solidFill>
                  <a:srgbClr val="374151"/>
                </a:solidFill>
                <a:effectLst/>
                <a:latin typeface="Söhne"/>
              </a:rPr>
              <a:t>RandomForestRegressor</a:t>
            </a:r>
            <a:r>
              <a:rPr lang="en-US" b="0" i="0" dirty="0">
                <a:solidFill>
                  <a:srgbClr val="374151"/>
                </a:solidFill>
                <a:effectLst/>
                <a:latin typeface="Söhne"/>
              </a:rPr>
              <a:t> </a:t>
            </a:r>
            <a:r>
              <a:rPr lang="en-US" b="0" i="0" dirty="0" err="1">
                <a:solidFill>
                  <a:srgbClr val="374151"/>
                </a:solidFill>
                <a:effectLst/>
                <a:latin typeface="Söhne"/>
              </a:rPr>
              <a:t>en</a:t>
            </a:r>
            <a:r>
              <a:rPr lang="en-US" b="0" i="0" dirty="0">
                <a:solidFill>
                  <a:srgbClr val="374151"/>
                </a:solidFill>
                <a:effectLst/>
                <a:latin typeface="Söhne"/>
              </a:rPr>
              <a:t> </a:t>
            </a:r>
            <a:r>
              <a:rPr lang="en-US" b="0" i="0" dirty="0" err="1">
                <a:solidFill>
                  <a:srgbClr val="374151"/>
                </a:solidFill>
                <a:effectLst/>
                <a:latin typeface="Söhne"/>
              </a:rPr>
              <a:t>surrapprentissage</a:t>
            </a:r>
            <a:r>
              <a:rPr lang="en-US" b="0" i="0" dirty="0">
                <a:solidFill>
                  <a:srgbClr val="374151"/>
                </a:solidFill>
                <a:effectLst/>
                <a:latin typeface="Söhne"/>
              </a:rPr>
              <a:t> since it has a high R2 score on the training set (0.936232), but a much lower score on the test set (0.296796). This suggests the model is not generalizing well to unseen data.</a:t>
            </a:r>
          </a:p>
          <a:p>
            <a:pPr algn="l">
              <a:buFont typeface="Arial" panose="020B0604020202020204" pitchFamily="34" charset="0"/>
              <a:buChar char="•"/>
            </a:pPr>
            <a:r>
              <a:rPr lang="en-US" b="0" i="0" dirty="0">
                <a:solidFill>
                  <a:srgbClr val="374151"/>
                </a:solidFill>
                <a:effectLst/>
                <a:latin typeface="Söhne"/>
              </a:rPr>
              <a:t>The </a:t>
            </a:r>
            <a:r>
              <a:rPr lang="en-US" b="1" i="0" dirty="0" err="1">
                <a:solidFill>
                  <a:srgbClr val="374151"/>
                </a:solidFill>
                <a:effectLst/>
                <a:latin typeface="Söhne"/>
              </a:rPr>
              <a:t>GradientBoostingRegressor</a:t>
            </a:r>
            <a:r>
              <a:rPr lang="en-US" b="0" i="0" dirty="0">
                <a:solidFill>
                  <a:srgbClr val="374151"/>
                </a:solidFill>
                <a:effectLst/>
                <a:latin typeface="Söhne"/>
              </a:rPr>
              <a:t> seems to perform the best among these models. It has the highest cross-validation R2 score (0.575477) indicating a better generalization ability during cross-validation and relatively good scores on both the training and test sets.</a:t>
            </a:r>
          </a:p>
          <a:p>
            <a:pPr algn="l">
              <a:buFont typeface="Arial" panose="020B0604020202020204" pitchFamily="34" charset="0"/>
              <a:buChar char="•"/>
            </a:pPr>
            <a:r>
              <a:rPr lang="en-US" b="0" i="0" dirty="0">
                <a:solidFill>
                  <a:srgbClr val="374151"/>
                </a:solidFill>
                <a:effectLst/>
                <a:latin typeface="Söhne"/>
              </a:rPr>
              <a:t>Ridge and Lasso regressions have similar performances but are outperformed by </a:t>
            </a:r>
            <a:r>
              <a:rPr lang="en-US" b="0" i="0" dirty="0" err="1">
                <a:solidFill>
                  <a:srgbClr val="374151"/>
                </a:solidFill>
                <a:effectLst/>
                <a:latin typeface="Söhne"/>
              </a:rPr>
              <a:t>GradientBoostingRegressor</a:t>
            </a:r>
            <a:r>
              <a:rPr lang="en-US" b="0" i="0" dirty="0">
                <a:solidFill>
                  <a:srgbClr val="374151"/>
                </a:solidFill>
                <a:effectLst/>
                <a:latin typeface="Söhne"/>
              </a:rPr>
              <a:t>.</a:t>
            </a:r>
          </a:p>
          <a:p>
            <a:pPr algn="l">
              <a:buFont typeface="Arial" panose="020B0604020202020204" pitchFamily="34" charset="0"/>
              <a:buChar char="•"/>
            </a:pPr>
            <a:r>
              <a:rPr lang="en-US" b="0" i="0" dirty="0">
                <a:solidFill>
                  <a:srgbClr val="374151"/>
                </a:solidFill>
                <a:effectLst/>
                <a:latin typeface="Söhne"/>
              </a:rPr>
              <a:t>In terms of the MSE, </a:t>
            </a:r>
            <a:r>
              <a:rPr lang="en-US" b="0" i="0" dirty="0" err="1">
                <a:solidFill>
                  <a:srgbClr val="374151"/>
                </a:solidFill>
                <a:effectLst/>
                <a:latin typeface="Söhne"/>
              </a:rPr>
              <a:t>RandomForestRegressor</a:t>
            </a:r>
            <a:r>
              <a:rPr lang="en-US" b="0" i="0" dirty="0">
                <a:solidFill>
                  <a:srgbClr val="374151"/>
                </a:solidFill>
                <a:effectLst/>
                <a:latin typeface="Söhne"/>
              </a:rPr>
              <a:t> has the lowest values, which generally suggests better prediction performance. But as noted earlier, this model is likely overfitting.</a:t>
            </a:r>
          </a:p>
          <a:p>
            <a:endParaRPr lang="en-US" dirty="0"/>
          </a:p>
          <a:p>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valeurs</a:t>
            </a:r>
            <a:r>
              <a:rPr lang="en-US" b="0" i="0" dirty="0">
                <a:solidFill>
                  <a:srgbClr val="374151"/>
                </a:solidFill>
                <a:effectLst/>
                <a:latin typeface="Söhne"/>
              </a:rPr>
              <a:t> </a:t>
            </a:r>
            <a:r>
              <a:rPr lang="en-US" b="0" i="0" dirty="0" err="1">
                <a:solidFill>
                  <a:srgbClr val="374151"/>
                </a:solidFill>
                <a:effectLst/>
                <a:latin typeface="Söhne"/>
              </a:rPr>
              <a:t>indiquent</a:t>
            </a:r>
            <a:r>
              <a:rPr lang="en-US" b="0" i="0" dirty="0">
                <a:solidFill>
                  <a:srgbClr val="374151"/>
                </a:solidFill>
                <a:effectLst/>
                <a:latin typeface="Söhne"/>
              </a:rPr>
              <a:t> </a:t>
            </a:r>
            <a:r>
              <a:rPr lang="en-US" b="0" i="0" dirty="0" err="1">
                <a:solidFill>
                  <a:srgbClr val="374151"/>
                </a:solidFill>
                <a:effectLst/>
                <a:latin typeface="Söhne"/>
              </a:rPr>
              <a:t>l'erreur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de </a:t>
            </a:r>
            <a:r>
              <a:rPr lang="en-US" b="0" i="0" dirty="0" err="1">
                <a:solidFill>
                  <a:srgbClr val="374151"/>
                </a:solidFill>
                <a:effectLst/>
                <a:latin typeface="Söhne"/>
              </a:rPr>
              <a:t>chaque</a:t>
            </a:r>
            <a:r>
              <a:rPr lang="en-US" b="0" i="0" dirty="0">
                <a:solidFill>
                  <a:srgbClr val="374151"/>
                </a:solidFill>
                <a:effectLst/>
                <a:latin typeface="Söhne"/>
              </a:rPr>
              <a:t> </a:t>
            </a:r>
            <a:r>
              <a:rPr lang="en-US" b="0" i="0" dirty="0" err="1">
                <a:solidFill>
                  <a:srgbClr val="374151"/>
                </a:solidFill>
                <a:effectLst/>
                <a:latin typeface="Söhne"/>
              </a:rPr>
              <a:t>modèle</a:t>
            </a:r>
            <a:r>
              <a:rPr lang="en-US" b="0" i="0" dirty="0">
                <a:solidFill>
                  <a:srgbClr val="374151"/>
                </a:solidFill>
                <a:effectLst/>
                <a:latin typeface="Söhne"/>
              </a:rPr>
              <a:t> sur les ensembles </a:t>
            </a:r>
            <a:r>
              <a:rPr lang="en-US" b="0" i="0" dirty="0" err="1">
                <a:solidFill>
                  <a:srgbClr val="374151"/>
                </a:solidFill>
                <a:effectLst/>
                <a:latin typeface="Söhne"/>
              </a:rPr>
              <a:t>d'entraînement</a:t>
            </a:r>
            <a:r>
              <a:rPr lang="en-US" b="0" i="0" dirty="0">
                <a:solidFill>
                  <a:srgbClr val="374151"/>
                </a:solidFill>
                <a:effectLst/>
                <a:latin typeface="Söhne"/>
              </a:rPr>
              <a:t> et de test. Le </a:t>
            </a:r>
            <a:r>
              <a:rPr lang="en-US" b="0" i="0" dirty="0" err="1">
                <a:solidFill>
                  <a:srgbClr val="374151"/>
                </a:solidFill>
                <a:effectLst/>
                <a:latin typeface="Söhne"/>
              </a:rPr>
              <a:t>modèle</a:t>
            </a:r>
            <a:r>
              <a:rPr lang="en-US" b="0" i="0" dirty="0">
                <a:solidFill>
                  <a:srgbClr val="374151"/>
                </a:solidFill>
                <a:effectLst/>
                <a:latin typeface="Söhne"/>
              </a:rPr>
              <a:t> Lasso </a:t>
            </a:r>
            <a:r>
              <a:rPr lang="en-US" b="0" i="0" dirty="0" err="1">
                <a:solidFill>
                  <a:srgbClr val="374151"/>
                </a:solidFill>
                <a:effectLst/>
                <a:latin typeface="Söhne"/>
              </a:rPr>
              <a:t>semble</a:t>
            </a:r>
            <a:r>
              <a:rPr lang="en-US" b="0" i="0" dirty="0">
                <a:solidFill>
                  <a:srgbClr val="374151"/>
                </a:solidFill>
                <a:effectLst/>
                <a:latin typeface="Söhne"/>
              </a:rPr>
              <a:t> </a:t>
            </a:r>
            <a:r>
              <a:rPr lang="en-US" b="0" i="0" dirty="0" err="1">
                <a:solidFill>
                  <a:srgbClr val="374151"/>
                </a:solidFill>
                <a:effectLst/>
                <a:latin typeface="Söhne"/>
              </a:rPr>
              <a:t>avoir</a:t>
            </a:r>
            <a:r>
              <a:rPr lang="en-US" b="0" i="0" dirty="0">
                <a:solidFill>
                  <a:srgbClr val="374151"/>
                </a:solidFill>
                <a:effectLst/>
                <a:latin typeface="Söhne"/>
              </a:rPr>
              <a:t> la plus </a:t>
            </a:r>
            <a:r>
              <a:rPr lang="en-US" b="0" i="0" dirty="0" err="1">
                <a:solidFill>
                  <a:srgbClr val="374151"/>
                </a:solidFill>
                <a:effectLst/>
                <a:latin typeface="Söhne"/>
              </a:rPr>
              <a:t>faible</a:t>
            </a:r>
            <a:r>
              <a:rPr lang="en-US" b="0" i="0" dirty="0">
                <a:solidFill>
                  <a:srgbClr val="374151"/>
                </a:solidFill>
                <a:effectLst/>
                <a:latin typeface="Söhne"/>
              </a:rPr>
              <a:t> </a:t>
            </a:r>
            <a:r>
              <a:rPr lang="en-US" b="0" i="0" dirty="0" err="1">
                <a:solidFill>
                  <a:srgbClr val="374151"/>
                </a:solidFill>
                <a:effectLst/>
                <a:latin typeface="Söhne"/>
              </a:rPr>
              <a:t>erreur</a:t>
            </a:r>
            <a:r>
              <a:rPr lang="en-US" b="0" i="0" dirty="0">
                <a:solidFill>
                  <a:srgbClr val="374151"/>
                </a:solidFill>
                <a:effectLst/>
                <a:latin typeface="Söhne"/>
              </a:rPr>
              <a:t> sur </a:t>
            </a:r>
            <a:r>
              <a:rPr lang="en-US" b="0" i="0" dirty="0" err="1">
                <a:solidFill>
                  <a:srgbClr val="374151"/>
                </a:solidFill>
                <a:effectLst/>
                <a:latin typeface="Söhne"/>
              </a:rPr>
              <a:t>l'ensemble</a:t>
            </a:r>
            <a:r>
              <a:rPr lang="en-US" b="0" i="0" dirty="0">
                <a:solidFill>
                  <a:srgbClr val="374151"/>
                </a:solidFill>
                <a:effectLst/>
                <a:latin typeface="Söhne"/>
              </a:rPr>
              <a:t> de test, </a:t>
            </a:r>
            <a:r>
              <a:rPr lang="en-US" b="0" i="0" dirty="0" err="1">
                <a:solidFill>
                  <a:srgbClr val="374151"/>
                </a:solidFill>
                <a:effectLst/>
                <a:latin typeface="Söhne"/>
              </a:rPr>
              <a:t>ce</a:t>
            </a:r>
            <a:r>
              <a:rPr lang="en-US" b="0" i="0" dirty="0">
                <a:solidFill>
                  <a:srgbClr val="374151"/>
                </a:solidFill>
                <a:effectLst/>
                <a:latin typeface="Söhne"/>
              </a:rPr>
              <a:t> qui </a:t>
            </a:r>
            <a:r>
              <a:rPr lang="en-US" b="0" i="0" dirty="0" err="1">
                <a:solidFill>
                  <a:srgbClr val="374151"/>
                </a:solidFill>
                <a:effectLst/>
                <a:latin typeface="Söhne"/>
              </a:rPr>
              <a:t>signifie</a:t>
            </a:r>
            <a:r>
              <a:rPr lang="en-US" b="0" i="0" dirty="0">
                <a:solidFill>
                  <a:srgbClr val="374151"/>
                </a:solidFill>
                <a:effectLst/>
                <a:latin typeface="Söhne"/>
              </a:rPr>
              <a:t> </a:t>
            </a:r>
            <a:r>
              <a:rPr lang="en-US" b="0" i="0" dirty="0" err="1">
                <a:solidFill>
                  <a:srgbClr val="374151"/>
                </a:solidFill>
                <a:effectLst/>
                <a:latin typeface="Söhne"/>
              </a:rPr>
              <a:t>qu'il</a:t>
            </a:r>
            <a:r>
              <a:rPr lang="en-US" b="0" i="0" dirty="0">
                <a:solidFill>
                  <a:srgbClr val="374151"/>
                </a:solidFill>
                <a:effectLst/>
                <a:latin typeface="Söhne"/>
              </a:rPr>
              <a:t> a </a:t>
            </a:r>
            <a:r>
              <a:rPr lang="en-US" b="0" i="0" dirty="0" err="1">
                <a:solidFill>
                  <a:srgbClr val="374151"/>
                </a:solidFill>
                <a:effectLst/>
                <a:latin typeface="Söhne"/>
              </a:rPr>
              <a:t>mieux</a:t>
            </a:r>
            <a:r>
              <a:rPr lang="en-US" b="0" i="0" dirty="0">
                <a:solidFill>
                  <a:srgbClr val="374151"/>
                </a:solidFill>
                <a:effectLst/>
                <a:latin typeface="Söhne"/>
              </a:rPr>
              <a:t> </a:t>
            </a:r>
            <a:r>
              <a:rPr lang="en-US" b="0" i="0" dirty="0" err="1">
                <a:solidFill>
                  <a:srgbClr val="374151"/>
                </a:solidFill>
                <a:effectLst/>
                <a:latin typeface="Söhne"/>
              </a:rPr>
              <a:t>généralisé</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de </a:t>
            </a:r>
            <a:r>
              <a:rPr lang="en-US" b="0" i="0" dirty="0" err="1">
                <a:solidFill>
                  <a:srgbClr val="374151"/>
                </a:solidFill>
                <a:effectLst/>
                <a:latin typeface="Söhne"/>
              </a:rPr>
              <a:t>nouvelles</a:t>
            </a:r>
            <a:r>
              <a:rPr lang="en-US" b="0" i="0" dirty="0">
                <a:solidFill>
                  <a:srgbClr val="374151"/>
                </a:solidFill>
                <a:effectLst/>
                <a:latin typeface="Söhne"/>
              </a:rPr>
              <a:t> </a:t>
            </a:r>
            <a:r>
              <a:rPr lang="en-US" b="0" i="0" dirty="0" err="1">
                <a:solidFill>
                  <a:srgbClr val="374151"/>
                </a:solidFill>
                <a:effectLst/>
                <a:latin typeface="Söhne"/>
              </a:rPr>
              <a:t>données</a:t>
            </a:r>
            <a:r>
              <a:rPr lang="en-US" b="0" i="0" dirty="0">
                <a:solidFill>
                  <a:srgbClr val="374151"/>
                </a:solidFill>
                <a:effectLst/>
                <a:latin typeface="Söhne"/>
              </a:rPr>
              <a:t> par rapport aux </a:t>
            </a:r>
            <a:r>
              <a:rPr lang="en-US" b="0" i="0" dirty="0" err="1">
                <a:solidFill>
                  <a:srgbClr val="374151"/>
                </a:solidFill>
                <a:effectLst/>
                <a:latin typeface="Söhne"/>
              </a:rPr>
              <a:t>autres</a:t>
            </a:r>
            <a:r>
              <a:rPr lang="en-US" b="0" i="0" dirty="0">
                <a:solidFill>
                  <a:srgbClr val="374151"/>
                </a:solidFill>
                <a:effectLst/>
                <a:latin typeface="Söhne"/>
              </a:rPr>
              <a:t> </a:t>
            </a:r>
            <a:r>
              <a:rPr lang="en-US" b="0" i="0" dirty="0" err="1">
                <a:solidFill>
                  <a:srgbClr val="374151"/>
                </a:solidFill>
                <a:effectLst/>
                <a:latin typeface="Söhne"/>
              </a:rPr>
              <a:t>modèles</a:t>
            </a:r>
            <a:r>
              <a:rPr lang="en-US" b="0" i="0" dirty="0">
                <a:solidFill>
                  <a:srgbClr val="374151"/>
                </a:solidFill>
                <a:effectLst/>
                <a:latin typeface="Söhne"/>
              </a:rPr>
              <a:t>. </a:t>
            </a:r>
            <a:r>
              <a:rPr lang="en-US" b="0" i="0" dirty="0" err="1">
                <a:solidFill>
                  <a:srgbClr val="374151"/>
                </a:solidFill>
                <a:effectLst/>
                <a:latin typeface="Söhne"/>
              </a:rPr>
              <a:t>Cependant</a:t>
            </a:r>
            <a:r>
              <a:rPr lang="en-US" b="0" i="0" dirty="0">
                <a:solidFill>
                  <a:srgbClr val="374151"/>
                </a:solidFill>
                <a:effectLst/>
                <a:latin typeface="Söhne"/>
              </a:rPr>
              <a:t>, le </a:t>
            </a:r>
            <a:r>
              <a:rPr lang="en-US" b="0" i="0" dirty="0" err="1">
                <a:solidFill>
                  <a:srgbClr val="374151"/>
                </a:solidFill>
                <a:effectLst/>
                <a:latin typeface="Söhne"/>
              </a:rPr>
              <a:t>RandomForestRegressor</a:t>
            </a:r>
            <a:r>
              <a:rPr lang="en-US" b="0" i="0" dirty="0">
                <a:solidFill>
                  <a:srgbClr val="374151"/>
                </a:solidFill>
                <a:effectLst/>
                <a:latin typeface="Söhne"/>
              </a:rPr>
              <a:t> a la plus </a:t>
            </a:r>
            <a:r>
              <a:rPr lang="en-US" b="0" i="0" dirty="0" err="1">
                <a:solidFill>
                  <a:srgbClr val="374151"/>
                </a:solidFill>
                <a:effectLst/>
                <a:latin typeface="Söhne"/>
              </a:rPr>
              <a:t>faible</a:t>
            </a:r>
            <a:r>
              <a:rPr lang="en-US" b="0" i="0" dirty="0">
                <a:solidFill>
                  <a:srgbClr val="374151"/>
                </a:solidFill>
                <a:effectLst/>
                <a:latin typeface="Söhne"/>
              </a:rPr>
              <a:t> </a:t>
            </a:r>
            <a:r>
              <a:rPr lang="en-US" b="0" i="0" dirty="0" err="1">
                <a:solidFill>
                  <a:srgbClr val="374151"/>
                </a:solidFill>
                <a:effectLst/>
                <a:latin typeface="Söhne"/>
              </a:rPr>
              <a:t>erreur</a:t>
            </a:r>
            <a:r>
              <a:rPr lang="en-US" b="0" i="0" dirty="0">
                <a:solidFill>
                  <a:srgbClr val="374151"/>
                </a:solidFill>
                <a:effectLst/>
                <a:latin typeface="Söhne"/>
              </a:rPr>
              <a:t> sur </a:t>
            </a:r>
            <a:r>
              <a:rPr lang="en-US" b="0" i="0" dirty="0" err="1">
                <a:solidFill>
                  <a:srgbClr val="374151"/>
                </a:solidFill>
                <a:effectLst/>
                <a:latin typeface="Söhne"/>
              </a:rPr>
              <a:t>l'ensemble</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a:t>
            </a:r>
            <a:r>
              <a:rPr lang="en-US" b="0" i="0" dirty="0" err="1">
                <a:solidFill>
                  <a:srgbClr val="374151"/>
                </a:solidFill>
                <a:effectLst/>
                <a:latin typeface="Söhne"/>
              </a:rPr>
              <a:t>indiquant</a:t>
            </a:r>
            <a:r>
              <a:rPr lang="en-US" b="0" i="0" dirty="0">
                <a:solidFill>
                  <a:srgbClr val="374151"/>
                </a:solidFill>
                <a:effectLst/>
                <a:latin typeface="Söhne"/>
              </a:rPr>
              <a:t> </a:t>
            </a:r>
            <a:r>
              <a:rPr lang="en-US" b="0" i="0" dirty="0" err="1">
                <a:solidFill>
                  <a:srgbClr val="374151"/>
                </a:solidFill>
                <a:effectLst/>
                <a:latin typeface="Söhne"/>
              </a:rPr>
              <a:t>qu'il</a:t>
            </a:r>
            <a:r>
              <a:rPr lang="en-US" b="0" i="0" dirty="0">
                <a:solidFill>
                  <a:srgbClr val="374151"/>
                </a:solidFill>
                <a:effectLst/>
                <a:latin typeface="Söhne"/>
              </a:rPr>
              <a:t> a le </a:t>
            </a:r>
            <a:r>
              <a:rPr lang="en-US" b="0" i="0" dirty="0" err="1">
                <a:solidFill>
                  <a:srgbClr val="374151"/>
                </a:solidFill>
                <a:effectLst/>
                <a:latin typeface="Söhne"/>
              </a:rPr>
              <a:t>mieux</a:t>
            </a:r>
            <a:r>
              <a:rPr lang="en-US" b="0" i="0" dirty="0">
                <a:solidFill>
                  <a:srgbClr val="374151"/>
                </a:solidFill>
                <a:effectLst/>
                <a:latin typeface="Söhne"/>
              </a:rPr>
              <a:t> </a:t>
            </a:r>
            <a:r>
              <a:rPr lang="en-US" b="0" i="0" dirty="0" err="1">
                <a:solidFill>
                  <a:srgbClr val="374151"/>
                </a:solidFill>
                <a:effectLst/>
                <a:latin typeface="Söhne"/>
              </a:rPr>
              <a:t>performé</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a:t>
            </a:r>
            <a:r>
              <a:rPr lang="en-US" b="0" i="0" dirty="0" err="1">
                <a:solidFill>
                  <a:srgbClr val="374151"/>
                </a:solidFill>
                <a:effectLst/>
                <a:latin typeface="Söhne"/>
              </a:rPr>
              <a:t>C'est</a:t>
            </a:r>
            <a:r>
              <a:rPr lang="en-US" b="0" i="0" dirty="0">
                <a:solidFill>
                  <a:srgbClr val="374151"/>
                </a:solidFill>
                <a:effectLst/>
                <a:latin typeface="Söhne"/>
              </a:rPr>
              <a:t> un rappel que </a:t>
            </a:r>
            <a:r>
              <a:rPr lang="en-US" b="0" i="0" dirty="0" err="1">
                <a:solidFill>
                  <a:srgbClr val="374151"/>
                </a:solidFill>
                <a:effectLst/>
                <a:latin typeface="Söhne"/>
              </a:rPr>
              <a:t>l'objectif</a:t>
            </a:r>
            <a:r>
              <a:rPr lang="en-US" b="0" i="0" dirty="0">
                <a:solidFill>
                  <a:srgbClr val="374151"/>
                </a:solidFill>
                <a:effectLst/>
                <a:latin typeface="Söhne"/>
              </a:rPr>
              <a:t> principal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d'avoir</a:t>
            </a:r>
            <a:r>
              <a:rPr lang="en-US" b="0" i="0" dirty="0">
                <a:solidFill>
                  <a:srgbClr val="374151"/>
                </a:solidFill>
                <a:effectLst/>
                <a:latin typeface="Söhne"/>
              </a:rPr>
              <a:t> un </a:t>
            </a:r>
            <a:r>
              <a:rPr lang="en-US" b="0" i="0" dirty="0" err="1">
                <a:solidFill>
                  <a:srgbClr val="374151"/>
                </a:solidFill>
                <a:effectLst/>
                <a:latin typeface="Söhne"/>
              </a:rPr>
              <a:t>modèle</a:t>
            </a:r>
            <a:r>
              <a:rPr lang="en-US" b="0" i="0" dirty="0">
                <a:solidFill>
                  <a:srgbClr val="374151"/>
                </a:solidFill>
                <a:effectLst/>
                <a:latin typeface="Söhne"/>
              </a:rPr>
              <a:t> qui </a:t>
            </a:r>
            <a:r>
              <a:rPr lang="en-US" b="0" i="0" dirty="0" err="1">
                <a:solidFill>
                  <a:srgbClr val="374151"/>
                </a:solidFill>
                <a:effectLst/>
                <a:latin typeface="Söhne"/>
              </a:rPr>
              <a:t>généralise</a:t>
            </a:r>
            <a:r>
              <a:rPr lang="en-US" b="0" i="0" dirty="0">
                <a:solidFill>
                  <a:srgbClr val="374151"/>
                </a:solidFill>
                <a:effectLst/>
                <a:latin typeface="Söhne"/>
              </a:rPr>
              <a:t> bien </a:t>
            </a:r>
            <a:r>
              <a:rPr lang="en-US" b="0" i="0" dirty="0" err="1">
                <a:solidFill>
                  <a:srgbClr val="374151"/>
                </a:solidFill>
                <a:effectLst/>
                <a:latin typeface="Söhne"/>
              </a:rPr>
              <a:t>à</a:t>
            </a:r>
            <a:r>
              <a:rPr lang="en-US" b="0" i="0" dirty="0">
                <a:solidFill>
                  <a:srgbClr val="374151"/>
                </a:solidFill>
                <a:effectLst/>
                <a:latin typeface="Söhne"/>
              </a:rPr>
              <a:t> de </a:t>
            </a:r>
            <a:r>
              <a:rPr lang="en-US" b="0" i="0" dirty="0" err="1">
                <a:solidFill>
                  <a:srgbClr val="374151"/>
                </a:solidFill>
                <a:effectLst/>
                <a:latin typeface="Söhne"/>
              </a:rPr>
              <a:t>nouvelles</a:t>
            </a:r>
            <a:r>
              <a:rPr lang="en-US" b="0" i="0" dirty="0">
                <a:solidFill>
                  <a:srgbClr val="374151"/>
                </a:solidFill>
                <a:effectLst/>
                <a:latin typeface="Söhne"/>
              </a:rPr>
              <a:t>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ce</a:t>
            </a:r>
            <a:r>
              <a:rPr lang="en-US" b="0" i="0" dirty="0">
                <a:solidFill>
                  <a:srgbClr val="374151"/>
                </a:solidFill>
                <a:effectLst/>
                <a:latin typeface="Söhne"/>
              </a:rPr>
              <a:t> qui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mesuré</a:t>
            </a:r>
            <a:r>
              <a:rPr lang="en-US" b="0" i="0" dirty="0">
                <a:solidFill>
                  <a:srgbClr val="374151"/>
                </a:solidFill>
                <a:effectLst/>
                <a:latin typeface="Söhne"/>
              </a:rPr>
              <a:t> par le Test MSE), et non un </a:t>
            </a:r>
            <a:r>
              <a:rPr lang="en-US" b="0" i="0" dirty="0" err="1">
                <a:solidFill>
                  <a:srgbClr val="374151"/>
                </a:solidFill>
                <a:effectLst/>
                <a:latin typeface="Söhne"/>
              </a:rPr>
              <a:t>modèle</a:t>
            </a:r>
            <a:r>
              <a:rPr lang="en-US" b="0" i="0" dirty="0">
                <a:solidFill>
                  <a:srgbClr val="374151"/>
                </a:solidFill>
                <a:effectLst/>
                <a:latin typeface="Söhne"/>
              </a:rPr>
              <a:t> qui </a:t>
            </a:r>
            <a:r>
              <a:rPr lang="en-US" b="0" i="0" dirty="0" err="1">
                <a:solidFill>
                  <a:srgbClr val="374151"/>
                </a:solidFill>
                <a:effectLst/>
                <a:latin typeface="Söhne"/>
              </a:rPr>
              <a:t>performe</a:t>
            </a:r>
            <a:r>
              <a:rPr lang="en-US" b="0" i="0" dirty="0">
                <a:solidFill>
                  <a:srgbClr val="374151"/>
                </a:solidFill>
                <a:effectLst/>
                <a:latin typeface="Söhne"/>
              </a:rPr>
              <a:t> </a:t>
            </a:r>
            <a:r>
              <a:rPr lang="en-US" b="0" i="0" dirty="0" err="1">
                <a:solidFill>
                  <a:srgbClr val="374151"/>
                </a:solidFill>
                <a:effectLst/>
                <a:latin typeface="Söhne"/>
              </a:rPr>
              <a:t>simplement</a:t>
            </a:r>
            <a:r>
              <a:rPr lang="en-US" b="0" i="0" dirty="0">
                <a:solidFill>
                  <a:srgbClr val="374151"/>
                </a:solidFill>
                <a:effectLst/>
                <a:latin typeface="Söhne"/>
              </a:rPr>
              <a:t> bien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a:t>
            </a:r>
            <a:endParaRPr lang="en-US" dirty="0"/>
          </a:p>
          <a:p>
            <a:endParaRPr lang="en-US" dirty="0"/>
          </a:p>
          <a:p>
            <a:endParaRPr lang="en-US" dirty="0"/>
          </a:p>
          <a:p>
            <a:pPr algn="l"/>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a:t>
            </a:r>
            <a:r>
              <a:rPr lang="en-US" b="0" i="0" dirty="0" err="1">
                <a:solidFill>
                  <a:srgbClr val="374151"/>
                </a:solidFill>
                <a:effectLst/>
                <a:latin typeface="Söhne"/>
              </a:rPr>
              <a:t>présentent</a:t>
            </a:r>
            <a:r>
              <a:rPr lang="en-US" b="0" i="0" dirty="0">
                <a:solidFill>
                  <a:srgbClr val="374151"/>
                </a:solidFill>
                <a:effectLst/>
                <a:latin typeface="Söhne"/>
              </a:rPr>
              <a:t> les performances de </a:t>
            </a:r>
            <a:r>
              <a:rPr lang="en-US" b="0" i="0" dirty="0" err="1">
                <a:solidFill>
                  <a:srgbClr val="374151"/>
                </a:solidFill>
                <a:effectLst/>
                <a:latin typeface="Söhne"/>
              </a:rPr>
              <a:t>différents</a:t>
            </a:r>
            <a:r>
              <a:rPr lang="en-US" b="0" i="0" dirty="0">
                <a:solidFill>
                  <a:srgbClr val="374151"/>
                </a:solidFill>
                <a:effectLst/>
                <a:latin typeface="Söhne"/>
              </a:rPr>
              <a:t> </a:t>
            </a:r>
            <a:r>
              <a:rPr lang="en-US" b="0" i="0" dirty="0" err="1">
                <a:solidFill>
                  <a:srgbClr val="374151"/>
                </a:solidFill>
                <a:effectLst/>
                <a:latin typeface="Söhne"/>
              </a:rPr>
              <a:t>modèles</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Poparamètres</a:t>
            </a:r>
            <a:r>
              <a:rPr lang="en-US" b="0" i="0" dirty="0">
                <a:solidFill>
                  <a:srgbClr val="374151"/>
                </a:solidFill>
                <a:effectLst/>
                <a:latin typeface="Söhne"/>
              </a:rPr>
              <a:t> qui </a:t>
            </a:r>
            <a:r>
              <a:rPr lang="en-US" b="0" i="0" dirty="0" err="1">
                <a:solidFill>
                  <a:srgbClr val="374151"/>
                </a:solidFill>
                <a:effectLst/>
                <a:latin typeface="Söhne"/>
              </a:rPr>
              <a:t>ont</a:t>
            </a:r>
            <a:r>
              <a:rPr lang="en-US" b="0" i="0" dirty="0">
                <a:solidFill>
                  <a:srgbClr val="374151"/>
                </a:solidFill>
                <a:effectLst/>
                <a:latin typeface="Söhne"/>
              </a:rPr>
              <a:t> </a:t>
            </a:r>
            <a:r>
              <a:rPr lang="en-US" b="0" i="0" dirty="0" err="1">
                <a:solidFill>
                  <a:srgbClr val="374151"/>
                </a:solidFill>
                <a:effectLst/>
                <a:latin typeface="Söhne"/>
              </a:rPr>
              <a:t>donné</a:t>
            </a:r>
            <a:r>
              <a:rPr lang="en-US" b="0" i="0" dirty="0">
                <a:solidFill>
                  <a:srgbClr val="374151"/>
                </a:solidFill>
                <a:effectLst/>
                <a:latin typeface="Söhne"/>
              </a:rPr>
              <a:t> les </a:t>
            </a:r>
            <a:r>
              <a:rPr lang="en-US" b="0" i="0" dirty="0" err="1">
                <a:solidFill>
                  <a:srgbClr val="374151"/>
                </a:solidFill>
                <a:effectLst/>
                <a:latin typeface="Söhne"/>
              </a:rPr>
              <a:t>meilleurs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(Best Params), le score R2 le plus </a:t>
            </a:r>
            <a:r>
              <a:rPr lang="en-US" b="0" i="0" dirty="0" err="1">
                <a:solidFill>
                  <a:srgbClr val="374151"/>
                </a:solidFill>
                <a:effectLst/>
                <a:latin typeface="Söhne"/>
              </a:rPr>
              <a:t>élevé</a:t>
            </a:r>
            <a:r>
              <a:rPr lang="en-US" b="0" i="0" dirty="0">
                <a:solidFill>
                  <a:srgbClr val="374151"/>
                </a:solidFill>
                <a:effectLst/>
                <a:latin typeface="Söhne"/>
              </a:rPr>
              <a:t> </a:t>
            </a:r>
            <a:r>
              <a:rPr lang="en-US" b="0" i="0" dirty="0" err="1">
                <a:solidFill>
                  <a:srgbClr val="374151"/>
                </a:solidFill>
                <a:effectLst/>
                <a:latin typeface="Söhne"/>
              </a:rPr>
              <a:t>obtenu</a:t>
            </a:r>
            <a:r>
              <a:rPr lang="en-US" b="0" i="0" dirty="0">
                <a:solidFill>
                  <a:srgbClr val="374151"/>
                </a:solidFill>
                <a:effectLst/>
                <a:latin typeface="Söhne"/>
              </a:rPr>
              <a:t> </a:t>
            </a:r>
            <a:r>
              <a:rPr lang="en-US" b="0" i="0" dirty="0" err="1">
                <a:solidFill>
                  <a:srgbClr val="374151"/>
                </a:solidFill>
                <a:effectLst/>
                <a:latin typeface="Söhne"/>
              </a:rPr>
              <a:t>lors</a:t>
            </a:r>
            <a:r>
              <a:rPr lang="en-US" b="0" i="0" dirty="0">
                <a:solidFill>
                  <a:srgbClr val="374151"/>
                </a:solidFill>
                <a:effectLst/>
                <a:latin typeface="Söhne"/>
              </a:rPr>
              <a:t> de la validation </a:t>
            </a:r>
            <a:r>
              <a:rPr lang="en-US" b="0" i="0" dirty="0" err="1">
                <a:solidFill>
                  <a:srgbClr val="374151"/>
                </a:solidFill>
                <a:effectLst/>
                <a:latin typeface="Söhne"/>
              </a:rPr>
              <a:t>croisée</a:t>
            </a:r>
            <a:r>
              <a:rPr lang="en-US" b="0" i="0" dirty="0">
                <a:solidFill>
                  <a:srgbClr val="374151"/>
                </a:solidFill>
                <a:effectLst/>
                <a:latin typeface="Söhne"/>
              </a:rPr>
              <a:t> (Best Cross-Val Score (R2)), le score R2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(Train Score (R2)), le score R2 sur les </a:t>
            </a:r>
            <a:r>
              <a:rPr lang="en-US" b="0" i="0" dirty="0" err="1">
                <a:solidFill>
                  <a:srgbClr val="374151"/>
                </a:solidFill>
                <a:effectLst/>
                <a:latin typeface="Söhne"/>
              </a:rPr>
              <a:t>données</a:t>
            </a:r>
            <a:r>
              <a:rPr lang="en-US" b="0" i="0" dirty="0">
                <a:solidFill>
                  <a:srgbClr val="374151"/>
                </a:solidFill>
                <a:effectLst/>
                <a:latin typeface="Söhne"/>
              </a:rPr>
              <a:t> de test (Test Score (R2)), </a:t>
            </a:r>
            <a:r>
              <a:rPr lang="en-US" b="0" i="0" dirty="0" err="1">
                <a:solidFill>
                  <a:srgbClr val="374151"/>
                </a:solidFill>
                <a:effectLst/>
                <a:latin typeface="Söhne"/>
              </a:rPr>
              <a:t>l'erreur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(Mean Squared Error, MSE)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(Train MSE) et </a:t>
            </a:r>
            <a:r>
              <a:rPr lang="en-US" b="0" i="0" dirty="0" err="1">
                <a:solidFill>
                  <a:srgbClr val="374151"/>
                </a:solidFill>
                <a:effectLst/>
                <a:latin typeface="Söhne"/>
              </a:rPr>
              <a:t>l'erreur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de test (Test MSE).</a:t>
            </a:r>
          </a:p>
          <a:p>
            <a:pPr algn="l">
              <a:buFont typeface="+mj-lt"/>
              <a:buAutoNum type="arabicPeriod"/>
            </a:pPr>
            <a:r>
              <a:rPr lang="en-US" b="1" i="0" dirty="0">
                <a:solidFill>
                  <a:srgbClr val="374151"/>
                </a:solidFill>
                <a:effectLst/>
                <a:latin typeface="Söhne"/>
              </a:rPr>
              <a:t>Ridge</a:t>
            </a:r>
            <a:r>
              <a:rPr lang="en-US" b="0" i="0" dirty="0">
                <a:solidFill>
                  <a:srgbClr val="374151"/>
                </a:solidFill>
                <a:effectLst/>
                <a:latin typeface="Söhne"/>
              </a:rPr>
              <a:t> : Ce </a:t>
            </a:r>
            <a:r>
              <a:rPr lang="en-US" b="0" i="0" dirty="0" err="1">
                <a:solidFill>
                  <a:srgbClr val="374151"/>
                </a:solidFill>
                <a:effectLst/>
                <a:latin typeface="Söhne"/>
              </a:rPr>
              <a:t>modèle</a:t>
            </a:r>
            <a:r>
              <a:rPr lang="en-US" b="0" i="0" dirty="0">
                <a:solidFill>
                  <a:srgbClr val="374151"/>
                </a:solidFill>
                <a:effectLst/>
                <a:latin typeface="Söhne"/>
              </a:rPr>
              <a:t> a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de 242805.09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1005472.20 sur les </a:t>
            </a:r>
            <a:r>
              <a:rPr lang="en-US" b="0" i="0" dirty="0" err="1">
                <a:solidFill>
                  <a:srgbClr val="374151"/>
                </a:solidFill>
                <a:effectLst/>
                <a:latin typeface="Söhne"/>
              </a:rPr>
              <a:t>données</a:t>
            </a:r>
            <a:r>
              <a:rPr lang="en-US" b="0" i="0" dirty="0">
                <a:solidFill>
                  <a:srgbClr val="374151"/>
                </a:solidFill>
                <a:effectLst/>
                <a:latin typeface="Söhne"/>
              </a:rPr>
              <a:t> de test. Le score R2 </a:t>
            </a:r>
            <a:r>
              <a:rPr lang="en-US" b="0" i="0" dirty="0" err="1">
                <a:solidFill>
                  <a:srgbClr val="374151"/>
                </a:solidFill>
                <a:effectLst/>
                <a:latin typeface="Söhne"/>
              </a:rPr>
              <a:t>est</a:t>
            </a:r>
            <a:r>
              <a:rPr lang="en-US" b="0" i="0" dirty="0">
                <a:solidFill>
                  <a:srgbClr val="374151"/>
                </a:solidFill>
                <a:effectLst/>
                <a:latin typeface="Söhne"/>
              </a:rPr>
              <a:t> de 0.48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0.13 sur les </a:t>
            </a:r>
            <a:r>
              <a:rPr lang="en-US" b="0" i="0" dirty="0" err="1">
                <a:solidFill>
                  <a:srgbClr val="374151"/>
                </a:solidFill>
                <a:effectLst/>
                <a:latin typeface="Söhne"/>
              </a:rPr>
              <a:t>données</a:t>
            </a:r>
            <a:r>
              <a:rPr lang="en-US" b="0" i="0" dirty="0">
                <a:solidFill>
                  <a:srgbClr val="374151"/>
                </a:solidFill>
                <a:effectLst/>
                <a:latin typeface="Söhne"/>
              </a:rPr>
              <a:t> de test. </a:t>
            </a:r>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a:t>
            </a:r>
            <a:r>
              <a:rPr lang="en-US" b="0" i="0" dirty="0" err="1">
                <a:solidFill>
                  <a:srgbClr val="374151"/>
                </a:solidFill>
                <a:effectLst/>
                <a:latin typeface="Söhne"/>
              </a:rPr>
              <a:t>montrent</a:t>
            </a:r>
            <a:r>
              <a:rPr lang="en-US" b="0" i="0" dirty="0">
                <a:solidFill>
                  <a:srgbClr val="374151"/>
                </a:solidFill>
                <a:effectLst/>
                <a:latin typeface="Söhne"/>
              </a:rPr>
              <a:t> que le </a:t>
            </a:r>
            <a:r>
              <a:rPr lang="en-US" b="0" i="0" dirty="0" err="1">
                <a:solidFill>
                  <a:srgbClr val="374151"/>
                </a:solidFill>
                <a:effectLst/>
                <a:latin typeface="Söhne"/>
              </a:rPr>
              <a:t>modèle</a:t>
            </a:r>
            <a:r>
              <a:rPr lang="en-US" b="0" i="0" dirty="0">
                <a:solidFill>
                  <a:srgbClr val="374151"/>
                </a:solidFill>
                <a:effectLst/>
                <a:latin typeface="Söhne"/>
              </a:rPr>
              <a:t> Ridge </a:t>
            </a:r>
            <a:r>
              <a:rPr lang="en-US" b="0" i="0" dirty="0" err="1">
                <a:solidFill>
                  <a:srgbClr val="374151"/>
                </a:solidFill>
                <a:effectLst/>
                <a:latin typeface="Söhne"/>
              </a:rPr>
              <a:t>s'adapte</a:t>
            </a:r>
            <a:r>
              <a:rPr lang="en-US" b="0" i="0" dirty="0">
                <a:solidFill>
                  <a:srgbClr val="374151"/>
                </a:solidFill>
                <a:effectLst/>
                <a:latin typeface="Söhne"/>
              </a:rPr>
              <a:t> </a:t>
            </a:r>
            <a:r>
              <a:rPr lang="en-US" b="0" i="0" dirty="0" err="1">
                <a:solidFill>
                  <a:srgbClr val="374151"/>
                </a:solidFill>
                <a:effectLst/>
                <a:latin typeface="Söhne"/>
              </a:rPr>
              <a:t>assez</a:t>
            </a:r>
            <a:r>
              <a:rPr lang="en-US" b="0" i="0" dirty="0">
                <a:solidFill>
                  <a:srgbClr val="374151"/>
                </a:solidFill>
                <a:effectLst/>
                <a:latin typeface="Söhne"/>
              </a:rPr>
              <a:t> bien aux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a:t>
            </a:r>
            <a:r>
              <a:rPr lang="en-US" b="0" i="0" dirty="0" err="1">
                <a:solidFill>
                  <a:srgbClr val="374151"/>
                </a:solidFill>
                <a:effectLst/>
                <a:latin typeface="Söhne"/>
              </a:rPr>
              <a:t>mais</a:t>
            </a:r>
            <a:r>
              <a:rPr lang="en-US" b="0" i="0" dirty="0">
                <a:solidFill>
                  <a:srgbClr val="374151"/>
                </a:solidFill>
                <a:effectLst/>
                <a:latin typeface="Söhne"/>
              </a:rPr>
              <a:t> a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moins</a:t>
            </a:r>
            <a:r>
              <a:rPr lang="en-US" b="0" i="0" dirty="0">
                <a:solidFill>
                  <a:srgbClr val="374151"/>
                </a:solidFill>
                <a:effectLst/>
                <a:latin typeface="Söhne"/>
              </a:rPr>
              <a:t> bonne performance sur les </a:t>
            </a:r>
            <a:r>
              <a:rPr lang="en-US" b="0" i="0" dirty="0" err="1">
                <a:solidFill>
                  <a:srgbClr val="374151"/>
                </a:solidFill>
                <a:effectLst/>
                <a:latin typeface="Söhne"/>
              </a:rPr>
              <a:t>données</a:t>
            </a:r>
            <a:r>
              <a:rPr lang="en-US" b="0" i="0" dirty="0">
                <a:solidFill>
                  <a:srgbClr val="374151"/>
                </a:solidFill>
                <a:effectLst/>
                <a:latin typeface="Söhne"/>
              </a:rPr>
              <a:t> de test.</a:t>
            </a:r>
          </a:p>
          <a:p>
            <a:pPr algn="l">
              <a:buFont typeface="+mj-lt"/>
              <a:buAutoNum type="arabicPeriod"/>
            </a:pPr>
            <a:r>
              <a:rPr lang="en-US" b="1" i="0" dirty="0">
                <a:solidFill>
                  <a:srgbClr val="374151"/>
                </a:solidFill>
                <a:effectLst/>
                <a:latin typeface="Söhne"/>
              </a:rPr>
              <a:t>Lasso</a:t>
            </a:r>
            <a:r>
              <a:rPr lang="en-US" b="0" i="0" dirty="0">
                <a:solidFill>
                  <a:srgbClr val="374151"/>
                </a:solidFill>
                <a:effectLst/>
                <a:latin typeface="Söhne"/>
              </a:rPr>
              <a:t> : Ce </a:t>
            </a:r>
            <a:r>
              <a:rPr lang="en-US" b="0" i="0" dirty="0" err="1">
                <a:solidFill>
                  <a:srgbClr val="374151"/>
                </a:solidFill>
                <a:effectLst/>
                <a:latin typeface="Söhne"/>
              </a:rPr>
              <a:t>modèle</a:t>
            </a:r>
            <a:r>
              <a:rPr lang="en-US" b="0" i="0" dirty="0">
                <a:solidFill>
                  <a:srgbClr val="374151"/>
                </a:solidFill>
                <a:effectLst/>
                <a:latin typeface="Söhne"/>
              </a:rPr>
              <a:t> a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de 240643.35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1024962.77 sur les </a:t>
            </a:r>
            <a:r>
              <a:rPr lang="en-US" b="0" i="0" dirty="0" err="1">
                <a:solidFill>
                  <a:srgbClr val="374151"/>
                </a:solidFill>
                <a:effectLst/>
                <a:latin typeface="Söhne"/>
              </a:rPr>
              <a:t>données</a:t>
            </a:r>
            <a:r>
              <a:rPr lang="en-US" b="0" i="0" dirty="0">
                <a:solidFill>
                  <a:srgbClr val="374151"/>
                </a:solidFill>
                <a:effectLst/>
                <a:latin typeface="Söhne"/>
              </a:rPr>
              <a:t> de test. Le score R2 </a:t>
            </a:r>
            <a:r>
              <a:rPr lang="en-US" b="0" i="0" dirty="0" err="1">
                <a:solidFill>
                  <a:srgbClr val="374151"/>
                </a:solidFill>
                <a:effectLst/>
                <a:latin typeface="Söhne"/>
              </a:rPr>
              <a:t>est</a:t>
            </a:r>
            <a:r>
              <a:rPr lang="en-US" b="0" i="0" dirty="0">
                <a:solidFill>
                  <a:srgbClr val="374151"/>
                </a:solidFill>
                <a:effectLst/>
                <a:latin typeface="Söhne"/>
              </a:rPr>
              <a:t> de 0.49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0.11 sur les </a:t>
            </a:r>
            <a:r>
              <a:rPr lang="en-US" b="0" i="0" dirty="0" err="1">
                <a:solidFill>
                  <a:srgbClr val="374151"/>
                </a:solidFill>
                <a:effectLst/>
                <a:latin typeface="Söhne"/>
              </a:rPr>
              <a:t>données</a:t>
            </a:r>
            <a:r>
              <a:rPr lang="en-US" b="0" i="0" dirty="0">
                <a:solidFill>
                  <a:srgbClr val="374151"/>
                </a:solidFill>
                <a:effectLst/>
                <a:latin typeface="Söhne"/>
              </a:rPr>
              <a:t> de test. </a:t>
            </a:r>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a:t>
            </a:r>
            <a:r>
              <a:rPr lang="en-US" b="0" i="0" dirty="0" err="1">
                <a:solidFill>
                  <a:srgbClr val="374151"/>
                </a:solidFill>
                <a:effectLst/>
                <a:latin typeface="Söhne"/>
              </a:rPr>
              <a:t>sont</a:t>
            </a:r>
            <a:r>
              <a:rPr lang="en-US" b="0" i="0" dirty="0">
                <a:solidFill>
                  <a:srgbClr val="374151"/>
                </a:solidFill>
                <a:effectLst/>
                <a:latin typeface="Söhne"/>
              </a:rPr>
              <a:t> </a:t>
            </a:r>
            <a:r>
              <a:rPr lang="en-US" b="0" i="0" dirty="0" err="1">
                <a:solidFill>
                  <a:srgbClr val="374151"/>
                </a:solidFill>
                <a:effectLst/>
                <a:latin typeface="Söhne"/>
              </a:rPr>
              <a:t>similaires</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ceux</a:t>
            </a:r>
            <a:r>
              <a:rPr lang="en-US" b="0" i="0" dirty="0">
                <a:solidFill>
                  <a:srgbClr val="374151"/>
                </a:solidFill>
                <a:effectLst/>
                <a:latin typeface="Söhne"/>
              </a:rPr>
              <a:t> du </a:t>
            </a:r>
            <a:r>
              <a:rPr lang="en-US" b="0" i="0" dirty="0" err="1">
                <a:solidFill>
                  <a:srgbClr val="374151"/>
                </a:solidFill>
                <a:effectLst/>
                <a:latin typeface="Söhne"/>
              </a:rPr>
              <a:t>modèle</a:t>
            </a:r>
            <a:r>
              <a:rPr lang="en-US" b="0" i="0" dirty="0">
                <a:solidFill>
                  <a:srgbClr val="374151"/>
                </a:solidFill>
                <a:effectLst/>
                <a:latin typeface="Söhne"/>
              </a:rPr>
              <a:t> Ridge.</a:t>
            </a:r>
          </a:p>
          <a:p>
            <a:pPr algn="l">
              <a:buFont typeface="+mj-lt"/>
              <a:buAutoNum type="arabicPeriod"/>
            </a:pPr>
            <a:r>
              <a:rPr lang="en-US" b="1" i="0" dirty="0" err="1">
                <a:solidFill>
                  <a:srgbClr val="374151"/>
                </a:solidFill>
                <a:effectLst/>
                <a:latin typeface="Söhne"/>
              </a:rPr>
              <a:t>RandomForestRegressor</a:t>
            </a:r>
            <a:r>
              <a:rPr lang="en-US" b="0" i="0" dirty="0">
                <a:solidFill>
                  <a:srgbClr val="374151"/>
                </a:solidFill>
                <a:effectLst/>
                <a:latin typeface="Söhne"/>
              </a:rPr>
              <a:t> : Ce </a:t>
            </a:r>
            <a:r>
              <a:rPr lang="en-US" b="0" i="0" dirty="0" err="1">
                <a:solidFill>
                  <a:srgbClr val="374151"/>
                </a:solidFill>
                <a:effectLst/>
                <a:latin typeface="Söhne"/>
              </a:rPr>
              <a:t>modèle</a:t>
            </a:r>
            <a:r>
              <a:rPr lang="en-US" b="0" i="0" dirty="0">
                <a:solidFill>
                  <a:srgbClr val="374151"/>
                </a:solidFill>
                <a:effectLst/>
                <a:latin typeface="Söhne"/>
              </a:rPr>
              <a:t> a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beaucoup plus </a:t>
            </a:r>
            <a:r>
              <a:rPr lang="en-US" b="0" i="0" dirty="0" err="1">
                <a:solidFill>
                  <a:srgbClr val="374151"/>
                </a:solidFill>
                <a:effectLst/>
                <a:latin typeface="Söhne"/>
              </a:rPr>
              <a:t>faible</a:t>
            </a:r>
            <a:r>
              <a:rPr lang="en-US" b="0" i="0" dirty="0">
                <a:solidFill>
                  <a:srgbClr val="374151"/>
                </a:solidFill>
                <a:effectLst/>
                <a:latin typeface="Söhne"/>
              </a:rPr>
              <a:t> de 37694.59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869812.45 sur les </a:t>
            </a:r>
            <a:r>
              <a:rPr lang="en-US" b="0" i="0" dirty="0" err="1">
                <a:solidFill>
                  <a:srgbClr val="374151"/>
                </a:solidFill>
                <a:effectLst/>
                <a:latin typeface="Söhne"/>
              </a:rPr>
              <a:t>données</a:t>
            </a:r>
            <a:r>
              <a:rPr lang="en-US" b="0" i="0" dirty="0">
                <a:solidFill>
                  <a:srgbClr val="374151"/>
                </a:solidFill>
                <a:effectLst/>
                <a:latin typeface="Söhne"/>
              </a:rPr>
              <a:t> de test. Le score R2 </a:t>
            </a:r>
            <a:r>
              <a:rPr lang="en-US" b="0" i="0" dirty="0" err="1">
                <a:solidFill>
                  <a:srgbClr val="374151"/>
                </a:solidFill>
                <a:effectLst/>
                <a:latin typeface="Söhne"/>
              </a:rPr>
              <a:t>est</a:t>
            </a:r>
            <a:r>
              <a:rPr lang="en-US" b="0" i="0" dirty="0">
                <a:solidFill>
                  <a:srgbClr val="374151"/>
                </a:solidFill>
                <a:effectLst/>
                <a:latin typeface="Söhne"/>
              </a:rPr>
              <a:t> de 0.92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de 0.25 sur les </a:t>
            </a:r>
            <a:r>
              <a:rPr lang="en-US" b="0" i="0" dirty="0" err="1">
                <a:solidFill>
                  <a:srgbClr val="374151"/>
                </a:solidFill>
                <a:effectLst/>
                <a:latin typeface="Söhne"/>
              </a:rPr>
              <a:t>données</a:t>
            </a:r>
            <a:r>
              <a:rPr lang="en-US" b="0" i="0" dirty="0">
                <a:solidFill>
                  <a:srgbClr val="374151"/>
                </a:solidFill>
                <a:effectLst/>
                <a:latin typeface="Söhne"/>
              </a:rPr>
              <a:t> de test. </a:t>
            </a:r>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a:t>
            </a:r>
            <a:r>
              <a:rPr lang="en-US" b="0" i="0" dirty="0" err="1">
                <a:solidFill>
                  <a:srgbClr val="374151"/>
                </a:solidFill>
                <a:effectLst/>
                <a:latin typeface="Söhne"/>
              </a:rPr>
              <a:t>montrent</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nette</a:t>
            </a:r>
            <a:r>
              <a:rPr lang="en-US" b="0" i="0" dirty="0">
                <a:solidFill>
                  <a:srgbClr val="374151"/>
                </a:solidFill>
                <a:effectLst/>
                <a:latin typeface="Söhne"/>
              </a:rPr>
              <a:t> </a:t>
            </a:r>
            <a:r>
              <a:rPr lang="en-US" b="0" i="0" dirty="0" err="1">
                <a:solidFill>
                  <a:srgbClr val="374151"/>
                </a:solidFill>
                <a:effectLst/>
                <a:latin typeface="Söhne"/>
              </a:rPr>
              <a:t>amélioration</a:t>
            </a:r>
            <a:r>
              <a:rPr lang="en-US" b="0" i="0" dirty="0">
                <a:solidFill>
                  <a:srgbClr val="374151"/>
                </a:solidFill>
                <a:effectLst/>
                <a:latin typeface="Söhne"/>
              </a:rPr>
              <a:t> par rapport aux </a:t>
            </a:r>
            <a:r>
              <a:rPr lang="en-US" b="0" i="0" dirty="0" err="1">
                <a:solidFill>
                  <a:srgbClr val="374151"/>
                </a:solidFill>
                <a:effectLst/>
                <a:latin typeface="Söhne"/>
              </a:rPr>
              <a:t>modèles</a:t>
            </a:r>
            <a:r>
              <a:rPr lang="en-US" b="0" i="0" dirty="0">
                <a:solidFill>
                  <a:srgbClr val="374151"/>
                </a:solidFill>
                <a:effectLst/>
                <a:latin typeface="Söhne"/>
              </a:rPr>
              <a:t> </a:t>
            </a:r>
            <a:r>
              <a:rPr lang="en-US" b="0" i="0" dirty="0" err="1">
                <a:solidFill>
                  <a:srgbClr val="374151"/>
                </a:solidFill>
                <a:effectLst/>
                <a:latin typeface="Söhne"/>
              </a:rPr>
              <a:t>précédents</a:t>
            </a:r>
            <a:r>
              <a:rPr lang="en-US" b="0" i="0" dirty="0">
                <a:solidFill>
                  <a:srgbClr val="374151"/>
                </a:solidFill>
                <a:effectLst/>
                <a:latin typeface="Söhne"/>
              </a:rPr>
              <a:t>. </a:t>
            </a:r>
            <a:r>
              <a:rPr lang="en-US" b="0" i="0" dirty="0" err="1">
                <a:solidFill>
                  <a:srgbClr val="374151"/>
                </a:solidFill>
                <a:effectLst/>
                <a:latin typeface="Söhne"/>
              </a:rPr>
              <a:t>Cependant</a:t>
            </a:r>
            <a:r>
              <a:rPr lang="en-US" b="0" i="0" dirty="0">
                <a:solidFill>
                  <a:srgbClr val="374151"/>
                </a:solidFill>
                <a:effectLst/>
                <a:latin typeface="Söhne"/>
              </a:rPr>
              <a:t>, le fait que la performance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a:t>
            </a:r>
            <a:r>
              <a:rPr lang="en-US" b="0" i="0" dirty="0" err="1">
                <a:solidFill>
                  <a:srgbClr val="374151"/>
                </a:solidFill>
                <a:effectLst/>
                <a:latin typeface="Söhne"/>
              </a:rPr>
              <a:t>soit</a:t>
            </a:r>
            <a:r>
              <a:rPr lang="en-US" b="0" i="0" dirty="0">
                <a:solidFill>
                  <a:srgbClr val="374151"/>
                </a:solidFill>
                <a:effectLst/>
                <a:latin typeface="Söhne"/>
              </a:rPr>
              <a:t> </a:t>
            </a:r>
            <a:r>
              <a:rPr lang="en-US" b="0" i="0" dirty="0" err="1">
                <a:solidFill>
                  <a:srgbClr val="374151"/>
                </a:solidFill>
                <a:effectLst/>
                <a:latin typeface="Söhne"/>
              </a:rPr>
              <a:t>nettement</a:t>
            </a:r>
            <a:r>
              <a:rPr lang="en-US" b="0" i="0" dirty="0">
                <a:solidFill>
                  <a:srgbClr val="374151"/>
                </a:solidFill>
                <a:effectLst/>
                <a:latin typeface="Söhne"/>
              </a:rPr>
              <a:t> supérieure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celle</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de test </a:t>
            </a:r>
            <a:r>
              <a:rPr lang="en-US" b="0" i="0" dirty="0" err="1">
                <a:solidFill>
                  <a:srgbClr val="374151"/>
                </a:solidFill>
                <a:effectLst/>
                <a:latin typeface="Söhne"/>
              </a:rPr>
              <a:t>peut</a:t>
            </a:r>
            <a:r>
              <a:rPr lang="en-US" b="0" i="0" dirty="0">
                <a:solidFill>
                  <a:srgbClr val="374151"/>
                </a:solidFill>
                <a:effectLst/>
                <a:latin typeface="Söhne"/>
              </a:rPr>
              <a:t> </a:t>
            </a:r>
            <a:r>
              <a:rPr lang="en-US" b="0" i="0" dirty="0" err="1">
                <a:solidFill>
                  <a:srgbClr val="374151"/>
                </a:solidFill>
                <a:effectLst/>
                <a:latin typeface="Söhne"/>
              </a:rPr>
              <a:t>indiquer</a:t>
            </a:r>
            <a:r>
              <a:rPr lang="en-US" b="0" i="0" dirty="0">
                <a:solidFill>
                  <a:srgbClr val="374151"/>
                </a:solidFill>
                <a:effectLst/>
                <a:latin typeface="Söhne"/>
              </a:rPr>
              <a:t> un </a:t>
            </a:r>
            <a:r>
              <a:rPr lang="en-US" b="0" i="0" dirty="0" err="1">
                <a:solidFill>
                  <a:srgbClr val="374151"/>
                </a:solidFill>
                <a:effectLst/>
                <a:latin typeface="Söhne"/>
              </a:rPr>
              <a:t>surapprentissage</a:t>
            </a:r>
            <a:r>
              <a:rPr lang="en-US" b="0" i="0" dirty="0">
                <a:solidFill>
                  <a:srgbClr val="374151"/>
                </a:solidFill>
                <a:effectLst/>
                <a:latin typeface="Söhne"/>
              </a:rPr>
              <a:t>.</a:t>
            </a:r>
          </a:p>
          <a:p>
            <a:pPr algn="l">
              <a:buFont typeface="+mj-lt"/>
              <a:buAutoNum type="arabicPeriod"/>
            </a:pPr>
            <a:r>
              <a:rPr lang="en-US" b="1" i="0" dirty="0" err="1">
                <a:solidFill>
                  <a:srgbClr val="374151"/>
                </a:solidFill>
                <a:effectLst/>
                <a:latin typeface="Söhne"/>
              </a:rPr>
              <a:t>GradientBoostingRegressor</a:t>
            </a:r>
            <a:r>
              <a:rPr lang="en-US" b="0" i="0" dirty="0">
                <a:solidFill>
                  <a:srgbClr val="374151"/>
                </a:solidFill>
                <a:effectLst/>
                <a:latin typeface="Söhne"/>
              </a:rPr>
              <a:t> : Ce </a:t>
            </a:r>
            <a:r>
              <a:rPr lang="en-US" b="0" i="0" dirty="0" err="1">
                <a:solidFill>
                  <a:srgbClr val="374151"/>
                </a:solidFill>
                <a:effectLst/>
                <a:latin typeface="Söhne"/>
              </a:rPr>
              <a:t>modèle</a:t>
            </a:r>
            <a:r>
              <a:rPr lang="en-US" b="0" i="0" dirty="0">
                <a:solidFill>
                  <a:srgbClr val="374151"/>
                </a:solidFill>
                <a:effectLst/>
                <a:latin typeface="Söhne"/>
              </a:rPr>
              <a:t> a </a:t>
            </a:r>
            <a:r>
              <a:rPr lang="en-US" b="0" i="0" dirty="0" err="1">
                <a:solidFill>
                  <a:srgbClr val="374151"/>
                </a:solidFill>
                <a:effectLst/>
                <a:latin typeface="Söhne"/>
              </a:rPr>
              <a:t>l'erreur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la plus </a:t>
            </a:r>
            <a:r>
              <a:rPr lang="en-US" b="0" i="0" dirty="0" err="1">
                <a:solidFill>
                  <a:srgbClr val="374151"/>
                </a:solidFill>
                <a:effectLst/>
                <a:latin typeface="Söhne"/>
              </a:rPr>
              <a:t>faible</a:t>
            </a:r>
            <a:r>
              <a:rPr lang="en-US" b="0" i="0" dirty="0">
                <a:solidFill>
                  <a:srgbClr val="374151"/>
                </a:solidFill>
                <a:effectLst/>
                <a:latin typeface="Söhne"/>
              </a:rPr>
              <a:t> de </a:t>
            </a:r>
            <a:r>
              <a:rPr lang="en-US" b="0" i="0" dirty="0" err="1">
                <a:solidFill>
                  <a:srgbClr val="374151"/>
                </a:solidFill>
                <a:effectLst/>
                <a:latin typeface="Söhne"/>
              </a:rPr>
              <a:t>tous</a:t>
            </a:r>
            <a:r>
              <a:rPr lang="en-US" b="0" i="0" dirty="0">
                <a:solidFill>
                  <a:srgbClr val="374151"/>
                </a:solidFill>
                <a:effectLst/>
                <a:latin typeface="Söhne"/>
              </a:rPr>
              <a:t> les </a:t>
            </a:r>
            <a:r>
              <a:rPr lang="en-US" b="0" i="0" dirty="0" err="1">
                <a:solidFill>
                  <a:srgbClr val="374151"/>
                </a:solidFill>
                <a:effectLst/>
                <a:latin typeface="Söhne"/>
              </a:rPr>
              <a:t>modèles</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(3075.94), </a:t>
            </a:r>
            <a:r>
              <a:rPr lang="en-US" b="0" i="0" dirty="0" err="1">
                <a:solidFill>
                  <a:srgbClr val="374151"/>
                </a:solidFill>
                <a:effectLst/>
                <a:latin typeface="Söhne"/>
              </a:rPr>
              <a:t>mais</a:t>
            </a:r>
            <a:r>
              <a:rPr lang="en-US" b="0" i="0" dirty="0">
                <a:solidFill>
                  <a:srgbClr val="374151"/>
                </a:solidFill>
                <a:effectLst/>
                <a:latin typeface="Söhne"/>
              </a:rPr>
              <a:t> </a:t>
            </a:r>
            <a:r>
              <a:rPr lang="en-US" b="0" i="0" dirty="0" err="1">
                <a:solidFill>
                  <a:srgbClr val="374151"/>
                </a:solidFill>
                <a:effectLst/>
                <a:latin typeface="Söhne"/>
              </a:rPr>
              <a:t>l'erreur</a:t>
            </a:r>
            <a:r>
              <a:rPr lang="en-US" b="0" i="0" dirty="0">
                <a:solidFill>
                  <a:srgbClr val="374151"/>
                </a:solidFill>
                <a:effectLst/>
                <a:latin typeface="Söhne"/>
              </a:rPr>
              <a:t> </a:t>
            </a:r>
            <a:r>
              <a:rPr lang="en-US" b="0" i="0" dirty="0" err="1">
                <a:solidFill>
                  <a:srgbClr val="374151"/>
                </a:solidFill>
                <a:effectLst/>
                <a:latin typeface="Söhne"/>
              </a:rPr>
              <a:t>quadratique</a:t>
            </a:r>
            <a:r>
              <a:rPr lang="en-US" b="0" i="0" dirty="0">
                <a:solidFill>
                  <a:srgbClr val="374151"/>
                </a:solidFill>
                <a:effectLst/>
                <a:latin typeface="Söhne"/>
              </a:rPr>
              <a:t> </a:t>
            </a:r>
            <a:r>
              <a:rPr lang="en-US" b="0" i="0" dirty="0" err="1">
                <a:solidFill>
                  <a:srgbClr val="374151"/>
                </a:solidFill>
                <a:effectLst/>
                <a:latin typeface="Söhne"/>
              </a:rPr>
              <a:t>moyenne</a:t>
            </a:r>
            <a:r>
              <a:rPr lang="en-US" b="0" i="0" dirty="0">
                <a:solidFill>
                  <a:srgbClr val="374151"/>
                </a:solidFill>
                <a:effectLst/>
                <a:latin typeface="Söhne"/>
              </a:rPr>
              <a:t> la plus </a:t>
            </a:r>
            <a:r>
              <a:rPr lang="en-US" b="0" i="0" dirty="0" err="1">
                <a:solidFill>
                  <a:srgbClr val="374151"/>
                </a:solidFill>
                <a:effectLst/>
                <a:latin typeface="Söhne"/>
              </a:rPr>
              <a:t>élevée</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de test (1146787.37). Le score R2 </a:t>
            </a:r>
            <a:r>
              <a:rPr lang="en-US" b="0" i="0" dirty="0" err="1">
                <a:solidFill>
                  <a:srgbClr val="374151"/>
                </a:solidFill>
                <a:effectLst/>
                <a:latin typeface="Söhne"/>
              </a:rPr>
              <a:t>est</a:t>
            </a:r>
            <a:r>
              <a:rPr lang="en-US" b="0" i="0" dirty="0">
                <a:solidFill>
                  <a:srgbClr val="374151"/>
                </a:solidFill>
                <a:effectLst/>
                <a:latin typeface="Söhne"/>
              </a:rPr>
              <a:t> </a:t>
            </a:r>
            <a:r>
              <a:rPr lang="en-US" b="0" i="0" dirty="0" err="1">
                <a:solidFill>
                  <a:srgbClr val="374151"/>
                </a:solidFill>
                <a:effectLst/>
                <a:latin typeface="Söhne"/>
              </a:rPr>
              <a:t>presque</a:t>
            </a:r>
            <a:r>
              <a:rPr lang="en-US" b="0" i="0" dirty="0">
                <a:solidFill>
                  <a:srgbClr val="374151"/>
                </a:solidFill>
                <a:effectLst/>
                <a:latin typeface="Söhne"/>
              </a:rPr>
              <a:t> parfait sur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(0.99), </a:t>
            </a:r>
            <a:r>
              <a:rPr lang="en-US" b="0" i="0" dirty="0" err="1">
                <a:solidFill>
                  <a:srgbClr val="374151"/>
                </a:solidFill>
                <a:effectLst/>
                <a:latin typeface="Söhne"/>
              </a:rPr>
              <a:t>mais</a:t>
            </a:r>
            <a:r>
              <a:rPr lang="en-US" b="0" i="0" dirty="0">
                <a:solidFill>
                  <a:srgbClr val="374151"/>
                </a:solidFill>
                <a:effectLst/>
                <a:latin typeface="Söhne"/>
              </a:rPr>
              <a:t> très </a:t>
            </a:r>
            <a:r>
              <a:rPr lang="en-US" b="0" i="0" dirty="0" err="1">
                <a:solidFill>
                  <a:srgbClr val="374151"/>
                </a:solidFill>
                <a:effectLst/>
                <a:latin typeface="Söhne"/>
              </a:rPr>
              <a:t>faible</a:t>
            </a:r>
            <a:r>
              <a:rPr lang="en-US" b="0" i="0" dirty="0">
                <a:solidFill>
                  <a:srgbClr val="374151"/>
                </a:solidFill>
                <a:effectLst/>
                <a:latin typeface="Söhne"/>
              </a:rPr>
              <a:t> sur les </a:t>
            </a:r>
            <a:r>
              <a:rPr lang="en-US" b="0" i="0" dirty="0" err="1">
                <a:solidFill>
                  <a:srgbClr val="374151"/>
                </a:solidFill>
                <a:effectLst/>
                <a:latin typeface="Söhne"/>
              </a:rPr>
              <a:t>données</a:t>
            </a:r>
            <a:r>
              <a:rPr lang="en-US" b="0" i="0" dirty="0">
                <a:solidFill>
                  <a:srgbClr val="374151"/>
                </a:solidFill>
                <a:effectLst/>
                <a:latin typeface="Söhne"/>
              </a:rPr>
              <a:t> de test (0.01). </a:t>
            </a:r>
            <a:r>
              <a:rPr lang="en-US" b="0" i="0" dirty="0" err="1">
                <a:solidFill>
                  <a:srgbClr val="374151"/>
                </a:solidFill>
                <a:effectLst/>
                <a:latin typeface="Söhne"/>
              </a:rPr>
              <a:t>Ces</a:t>
            </a:r>
            <a:r>
              <a:rPr lang="en-US" b="0" i="0" dirty="0">
                <a:solidFill>
                  <a:srgbClr val="374151"/>
                </a:solidFill>
                <a:effectLst/>
                <a:latin typeface="Söhne"/>
              </a:rPr>
              <a:t> </a:t>
            </a:r>
            <a:r>
              <a:rPr lang="en-US" b="0" i="0" dirty="0" err="1">
                <a:solidFill>
                  <a:srgbClr val="374151"/>
                </a:solidFill>
                <a:effectLst/>
                <a:latin typeface="Söhne"/>
              </a:rPr>
              <a:t>résultats</a:t>
            </a:r>
            <a:r>
              <a:rPr lang="en-US" b="0" i="0" dirty="0">
                <a:solidFill>
                  <a:srgbClr val="374151"/>
                </a:solidFill>
                <a:effectLst/>
                <a:latin typeface="Söhne"/>
              </a:rPr>
              <a:t> </a:t>
            </a:r>
            <a:r>
              <a:rPr lang="en-US" b="0" i="0" dirty="0" err="1">
                <a:solidFill>
                  <a:srgbClr val="374151"/>
                </a:solidFill>
                <a:effectLst/>
                <a:latin typeface="Söhne"/>
              </a:rPr>
              <a:t>montrent</a:t>
            </a:r>
            <a:r>
              <a:rPr lang="en-US" b="0" i="0" dirty="0">
                <a:solidFill>
                  <a:srgbClr val="374151"/>
                </a:solidFill>
                <a:effectLst/>
                <a:latin typeface="Söhne"/>
              </a:rPr>
              <a:t> </a:t>
            </a:r>
            <a:r>
              <a:rPr lang="en-US" b="0" i="0" dirty="0" err="1">
                <a:solidFill>
                  <a:srgbClr val="374151"/>
                </a:solidFill>
                <a:effectLst/>
                <a:latin typeface="Söhne"/>
              </a:rPr>
              <a:t>clairement</a:t>
            </a:r>
            <a:r>
              <a:rPr lang="en-US" b="0" i="0" dirty="0">
                <a:solidFill>
                  <a:srgbClr val="374151"/>
                </a:solidFill>
                <a:effectLst/>
                <a:latin typeface="Söhne"/>
              </a:rPr>
              <a:t> un </a:t>
            </a:r>
            <a:r>
              <a:rPr lang="en-US" b="0" i="0" dirty="0" err="1">
                <a:solidFill>
                  <a:srgbClr val="374151"/>
                </a:solidFill>
                <a:effectLst/>
                <a:latin typeface="Söhne"/>
              </a:rPr>
              <a:t>surapprentissage</a:t>
            </a:r>
            <a:r>
              <a:rPr lang="en-US" b="0" i="0" dirty="0">
                <a:solidFill>
                  <a:srgbClr val="374151"/>
                </a:solidFill>
                <a:effectLst/>
                <a:latin typeface="Söhne"/>
              </a:rPr>
              <a:t>. Le </a:t>
            </a:r>
            <a:r>
              <a:rPr lang="en-US" b="0" i="0" dirty="0" err="1">
                <a:solidFill>
                  <a:srgbClr val="374151"/>
                </a:solidFill>
                <a:effectLst/>
                <a:latin typeface="Söhne"/>
              </a:rPr>
              <a:t>modèle</a:t>
            </a:r>
            <a:r>
              <a:rPr lang="en-US" b="0" i="0" dirty="0">
                <a:solidFill>
                  <a:srgbClr val="374151"/>
                </a:solidFill>
                <a:effectLst/>
                <a:latin typeface="Söhne"/>
              </a:rPr>
              <a:t> </a:t>
            </a:r>
            <a:r>
              <a:rPr lang="en-US" b="0" i="0" dirty="0" err="1">
                <a:solidFill>
                  <a:srgbClr val="374151"/>
                </a:solidFill>
                <a:effectLst/>
                <a:latin typeface="Söhne"/>
              </a:rPr>
              <a:t>apprend</a:t>
            </a:r>
            <a:r>
              <a:rPr lang="en-US" b="0" i="0" dirty="0">
                <a:solidFill>
                  <a:srgbClr val="374151"/>
                </a:solidFill>
                <a:effectLst/>
                <a:latin typeface="Söhne"/>
              </a:rPr>
              <a:t> "par </a:t>
            </a:r>
            <a:r>
              <a:rPr lang="en-US" b="0" i="0" dirty="0" err="1">
                <a:solidFill>
                  <a:srgbClr val="374151"/>
                </a:solidFill>
                <a:effectLst/>
                <a:latin typeface="Söhne"/>
              </a:rPr>
              <a:t>cœur</a:t>
            </a:r>
            <a:r>
              <a:rPr lang="en-US" b="0" i="0" dirty="0">
                <a:solidFill>
                  <a:srgbClr val="374151"/>
                </a:solidFill>
                <a:effectLst/>
                <a:latin typeface="Söhne"/>
              </a:rPr>
              <a:t>" les </a:t>
            </a:r>
            <a:r>
              <a:rPr lang="en-US" b="0" i="0" dirty="0" err="1">
                <a:solidFill>
                  <a:srgbClr val="374151"/>
                </a:solidFill>
                <a:effectLst/>
                <a:latin typeface="Söhne"/>
              </a:rPr>
              <a:t>données</a:t>
            </a:r>
            <a:r>
              <a:rPr lang="en-US" b="0" i="0" dirty="0">
                <a:solidFill>
                  <a:srgbClr val="374151"/>
                </a:solidFill>
                <a:effectLst/>
                <a:latin typeface="Söhne"/>
              </a:rPr>
              <a:t> </a:t>
            </a:r>
            <a:r>
              <a:rPr lang="en-US" b="0" i="0" dirty="0" err="1">
                <a:solidFill>
                  <a:srgbClr val="374151"/>
                </a:solidFill>
                <a:effectLst/>
                <a:latin typeface="Söhne"/>
              </a:rPr>
              <a:t>d'entraînement</a:t>
            </a:r>
            <a:r>
              <a:rPr lang="en-US" b="0" i="0" dirty="0">
                <a:solidFill>
                  <a:srgbClr val="374151"/>
                </a:solidFill>
                <a:effectLst/>
                <a:latin typeface="Söhne"/>
              </a:rPr>
              <a:t> et ne </a:t>
            </a:r>
            <a:r>
              <a:rPr lang="en-US" b="0" i="0" dirty="0" err="1">
                <a:solidFill>
                  <a:srgbClr val="374151"/>
                </a:solidFill>
                <a:effectLst/>
                <a:latin typeface="Söhne"/>
              </a:rPr>
              <a:t>parvient</a:t>
            </a:r>
            <a:r>
              <a:rPr lang="en-US" b="0" i="0" dirty="0">
                <a:solidFill>
                  <a:srgbClr val="374151"/>
                </a:solidFill>
                <a:effectLst/>
                <a:latin typeface="Söhne"/>
              </a:rPr>
              <a:t> pas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généraliser</a:t>
            </a:r>
            <a:r>
              <a:rPr lang="en-US" b="0" i="0" dirty="0">
                <a:solidFill>
                  <a:srgbClr val="374151"/>
                </a:solidFill>
                <a:effectLst/>
                <a:latin typeface="Söhne"/>
              </a:rPr>
              <a:t> aux </a:t>
            </a:r>
            <a:r>
              <a:rPr lang="en-US" b="0" i="0" dirty="0" err="1">
                <a:solidFill>
                  <a:srgbClr val="374151"/>
                </a:solidFill>
                <a:effectLst/>
                <a:latin typeface="Söhne"/>
              </a:rPr>
              <a:t>données</a:t>
            </a:r>
            <a:r>
              <a:rPr lang="en-US" b="0" i="0" dirty="0">
                <a:solidFill>
                  <a:srgbClr val="374151"/>
                </a:solidFill>
                <a:effectLst/>
                <a:latin typeface="Söhne"/>
              </a:rPr>
              <a:t> de test.</a:t>
            </a:r>
          </a:p>
          <a:p>
            <a:endParaRPr lang="en-US" dirty="0"/>
          </a:p>
        </p:txBody>
      </p:sp>
    </p:spTree>
    <p:extLst>
      <p:ext uri="{BB962C8B-B14F-4D97-AF65-F5344CB8AC3E}">
        <p14:creationId xmlns:p14="http://schemas.microsoft.com/office/powerpoint/2010/main" val="1049947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100" dirty="0">
                <a:solidFill>
                  <a:schemeClr val="dk1"/>
                </a:solidFill>
                <a:latin typeface="Quicksand Medium"/>
                <a:ea typeface="Quicksand Medium"/>
                <a:cs typeface="Quicksand Medium"/>
                <a:sym typeface="Quicksand Medium"/>
              </a:rPr>
              <a:t>Création de nouvelles fonctionnalités ou de transformation de fonctionnalités existantes pour améliorer la performance des modèles de machine </a:t>
            </a:r>
            <a:r>
              <a:rPr lang="fr-FR" sz="1100" dirty="0" err="1">
                <a:solidFill>
                  <a:schemeClr val="dk1"/>
                </a:solidFill>
                <a:latin typeface="Quicksand Medium"/>
                <a:ea typeface="Quicksand Medium"/>
                <a:cs typeface="Quicksand Medium"/>
                <a:sym typeface="Quicksand Medium"/>
              </a:rPr>
              <a:t>learning</a:t>
            </a:r>
            <a:endParaRPr lang="fr-FR" sz="1100" dirty="0">
              <a:solidFill>
                <a:schemeClr val="dk1"/>
              </a:solidFill>
              <a:latin typeface="Quicksand Medium"/>
              <a:ea typeface="Quicksand Medium"/>
              <a:cs typeface="Quicksand Medium"/>
              <a:sym typeface="Quicksand Mediu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dirty="0">
              <a:solidFill>
                <a:srgbClr val="374151"/>
              </a:solidFill>
              <a:latin typeface="Söhn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solidFill>
                  <a:srgbClr val="374151"/>
                </a:solidFill>
                <a:latin typeface="Söhne"/>
              </a:rPr>
              <a:t>L'ingénierie des caractéristiques (</a:t>
            </a:r>
            <a:r>
              <a:rPr lang="fr-FR" dirty="0" err="1">
                <a:solidFill>
                  <a:srgbClr val="374151"/>
                </a:solidFill>
                <a:latin typeface="Söhne"/>
              </a:rPr>
              <a:t>features</a:t>
            </a:r>
            <a:r>
              <a:rPr lang="fr-FR" dirty="0">
                <a:solidFill>
                  <a:srgbClr val="374151"/>
                </a:solidFill>
                <a:latin typeface="Söhne"/>
              </a:rPr>
              <a:t>) consiste à créer de nouvelles caractéristiques à partir des données existantes pour améliorer la performance du modèle. Cela peut comprendre des opérations telles que la création d'interactions entre les caractéristiques, la création de caractéristiques polynomiales, la transformation des caractéristiques, etc.</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0" i="0" u="none" strike="noStrike" dirty="0" err="1">
                <a:solidFill>
                  <a:srgbClr val="D1D5DB"/>
                </a:solidFill>
                <a:effectLst/>
                <a:latin typeface="Söhne"/>
              </a:rPr>
              <a:t>Ces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nouvelles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caractéristiques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peuvent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être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comme</a:t>
            </a:r>
            <a:r>
              <a:rPr lang="en-GB" b="0" i="0" u="none" strike="noStrike" dirty="0">
                <a:solidFill>
                  <a:srgbClr val="D1D5DB"/>
                </a:solidFill>
                <a:effectLst/>
                <a:latin typeface="Söhne"/>
              </a:rPr>
              <a:t> variables </a:t>
            </a:r>
            <a:r>
              <a:rPr lang="en-GB" b="0" i="0" u="none" strike="noStrike" dirty="0" err="1">
                <a:solidFill>
                  <a:srgbClr val="D1D5DB"/>
                </a:solidFill>
                <a:effectLst/>
                <a:latin typeface="Söhne"/>
              </a:rPr>
              <a:t>explicatives</a:t>
            </a:r>
            <a:r>
              <a:rPr lang="en-GB" b="0" i="0" u="none" strike="noStrike" dirty="0">
                <a:solidFill>
                  <a:srgbClr val="D1D5DB"/>
                </a:solidFill>
                <a:effectLst/>
                <a:latin typeface="Söhne"/>
              </a:rPr>
              <a:t> dans un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d'apprentissage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automatique</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prédire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certaines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propriétés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comportements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fonction</a:t>
            </a:r>
            <a:r>
              <a:rPr lang="en-GB" b="0" i="0" u="none" strike="noStrike" dirty="0">
                <a:solidFill>
                  <a:srgbClr val="D1D5DB"/>
                </a:solidFill>
                <a:effectLst/>
                <a:latin typeface="Söhne"/>
              </a:rPr>
              <a:t> de la </a:t>
            </a:r>
            <a:r>
              <a:rPr lang="en-GB" b="0" i="0" u="none" strike="noStrike" dirty="0" err="1">
                <a:solidFill>
                  <a:srgbClr val="D1D5DB"/>
                </a:solidFill>
                <a:effectLst/>
                <a:latin typeface="Söhne"/>
              </a:rPr>
              <a:t>présence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l'absence</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consommation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d'énergie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spécifique</a:t>
            </a:r>
            <a:r>
              <a:rPr lang="en-GB" b="0" i="0" u="none" strike="noStrike" dirty="0">
                <a:solidFill>
                  <a:srgbClr val="D1D5DB"/>
                </a:solidFill>
                <a:effectLst/>
                <a:latin typeface="Söhne"/>
              </a:rPr>
              <a:t>.</a:t>
            </a:r>
            <a:endParaRPr lang="fr-FR" dirty="0">
              <a:solidFill>
                <a:srgbClr val="374151"/>
              </a:solidFill>
              <a:latin typeface="Söhne"/>
            </a:endParaRPr>
          </a:p>
          <a:p>
            <a:endParaRPr lang="fr-FR" dirty="0"/>
          </a:p>
        </p:txBody>
      </p:sp>
    </p:spTree>
    <p:extLst>
      <p:ext uri="{BB962C8B-B14F-4D97-AF65-F5344CB8AC3E}">
        <p14:creationId xmlns:p14="http://schemas.microsoft.com/office/powerpoint/2010/main" val="2255106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sz="1100" dirty="0">
                <a:solidFill>
                  <a:schemeClr val="dk1"/>
                </a:solidFill>
                <a:latin typeface="Quicksand Medium"/>
                <a:ea typeface="Quicksand Medium"/>
                <a:cs typeface="Quicksand Medium"/>
                <a:sym typeface="Quicksand Medium"/>
              </a:rPr>
              <a:t>Création de nouvelles fonctionnalités ou de transformation de fonctionnalités existantes pour améliorer la performance des modèles de machine </a:t>
            </a:r>
            <a:r>
              <a:rPr lang="fr-FR" sz="1100" dirty="0" err="1">
                <a:solidFill>
                  <a:schemeClr val="dk1"/>
                </a:solidFill>
                <a:latin typeface="Quicksand Medium"/>
                <a:ea typeface="Quicksand Medium"/>
                <a:cs typeface="Quicksand Medium"/>
                <a:sym typeface="Quicksand Medium"/>
              </a:rPr>
              <a:t>learning</a:t>
            </a:r>
            <a:endParaRPr lang="fr-FR" sz="1100" dirty="0">
              <a:solidFill>
                <a:schemeClr val="dk1"/>
              </a:solidFill>
              <a:latin typeface="Quicksand Medium"/>
              <a:ea typeface="Quicksand Medium"/>
              <a:cs typeface="Quicksand Medium"/>
              <a:sym typeface="Quicksand Medium"/>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dirty="0">
              <a:solidFill>
                <a:srgbClr val="374151"/>
              </a:solidFill>
              <a:latin typeface="Söhn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solidFill>
                  <a:srgbClr val="374151"/>
                </a:solidFill>
                <a:latin typeface="Söhne"/>
              </a:rPr>
              <a:t>L'ingénierie des caractéristiques (</a:t>
            </a:r>
            <a:r>
              <a:rPr lang="fr-FR" dirty="0" err="1">
                <a:solidFill>
                  <a:srgbClr val="374151"/>
                </a:solidFill>
                <a:latin typeface="Söhne"/>
              </a:rPr>
              <a:t>features</a:t>
            </a:r>
            <a:r>
              <a:rPr lang="fr-FR" dirty="0">
                <a:solidFill>
                  <a:srgbClr val="374151"/>
                </a:solidFill>
                <a:latin typeface="Söhne"/>
              </a:rPr>
              <a:t>) consiste à créer de nouvelles caractéristiques à partir des données existantes pour améliorer la performance du modèle. Cela peut comprendre des opérations telles que la création d'interactions entre les caractéristiques, la création de caractéristiques polynomiales, la transformation des caractéristiques, etc.</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0" i="0" u="none" strike="noStrike" dirty="0" err="1">
                <a:solidFill>
                  <a:srgbClr val="D1D5DB"/>
                </a:solidFill>
                <a:effectLst/>
                <a:latin typeface="Söhne"/>
              </a:rPr>
              <a:t>Ces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nouvelles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caractéristiques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peuvent</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être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utilisées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comme</a:t>
            </a:r>
            <a:r>
              <a:rPr lang="en-GB" b="0" i="0" u="none" strike="noStrike" dirty="0">
                <a:solidFill>
                  <a:srgbClr val="D1D5DB"/>
                </a:solidFill>
                <a:effectLst/>
                <a:latin typeface="Söhne"/>
              </a:rPr>
              <a:t> variables </a:t>
            </a:r>
            <a:r>
              <a:rPr lang="en-GB" b="0" i="0" u="none" strike="noStrike" dirty="0" err="1">
                <a:solidFill>
                  <a:srgbClr val="D1D5DB"/>
                </a:solidFill>
                <a:effectLst/>
                <a:latin typeface="Söhne"/>
              </a:rPr>
              <a:t>explicatives</a:t>
            </a:r>
            <a:r>
              <a:rPr lang="en-GB" b="0" i="0" u="none" strike="noStrike" dirty="0">
                <a:solidFill>
                  <a:srgbClr val="D1D5DB"/>
                </a:solidFill>
                <a:effectLst/>
                <a:latin typeface="Söhne"/>
              </a:rPr>
              <a:t> dans un </a:t>
            </a:r>
            <a:r>
              <a:rPr lang="en-GB" b="0" i="0" u="none" strike="noStrike" dirty="0" err="1">
                <a:solidFill>
                  <a:srgbClr val="D1D5DB"/>
                </a:solidFill>
                <a:effectLst/>
                <a:latin typeface="Söhne"/>
              </a:rPr>
              <a:t>modèle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d'apprentissage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automatique</a:t>
            </a:r>
            <a:r>
              <a:rPr lang="en-GB" b="0" i="0" u="none" strike="noStrike" dirty="0">
                <a:solidFill>
                  <a:srgbClr val="D1D5DB"/>
                </a:solidFill>
                <a:effectLst/>
                <a:latin typeface="Söhne"/>
              </a:rPr>
              <a:t> pour </a:t>
            </a:r>
            <a:r>
              <a:rPr lang="en-GB" b="0" i="0" u="none" strike="noStrike" dirty="0" err="1">
                <a:solidFill>
                  <a:srgbClr val="D1D5DB"/>
                </a:solidFill>
                <a:effectLst/>
                <a:latin typeface="Söhne"/>
              </a:rPr>
              <a:t>prédire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certaines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propriétés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comportements</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en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fonction</a:t>
            </a:r>
            <a:r>
              <a:rPr lang="en-GB" b="0" i="0" u="none" strike="noStrike" dirty="0">
                <a:solidFill>
                  <a:srgbClr val="D1D5DB"/>
                </a:solidFill>
                <a:effectLst/>
                <a:latin typeface="Söhne"/>
              </a:rPr>
              <a:t> de la </a:t>
            </a:r>
            <a:r>
              <a:rPr lang="en-GB" b="0" i="0" u="none" strike="noStrike" dirty="0" err="1">
                <a:solidFill>
                  <a:srgbClr val="D1D5DB"/>
                </a:solidFill>
                <a:effectLst/>
                <a:latin typeface="Söhne"/>
              </a:rPr>
              <a:t>présence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ou</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l'absence</a:t>
            </a:r>
            <a:r>
              <a:rPr lang="en-GB" b="0" i="0" u="none" strike="noStrike" dirty="0">
                <a:solidFill>
                  <a:srgbClr val="D1D5DB"/>
                </a:solidFill>
                <a:effectLst/>
                <a:latin typeface="Söhne"/>
              </a:rPr>
              <a:t> de </a:t>
            </a:r>
            <a:r>
              <a:rPr lang="en-GB" b="0" i="0" u="none" strike="noStrike" dirty="0" err="1">
                <a:solidFill>
                  <a:srgbClr val="D1D5DB"/>
                </a:solidFill>
                <a:effectLst/>
                <a:latin typeface="Söhne"/>
              </a:rPr>
              <a:t>consommation</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d'énergie</a:t>
            </a:r>
            <a:r>
              <a:rPr lang="en-GB" b="0" i="0" u="none" strike="noStrike" dirty="0">
                <a:solidFill>
                  <a:srgbClr val="D1D5DB"/>
                </a:solidFill>
                <a:effectLst/>
                <a:latin typeface="Söhne"/>
              </a:rPr>
              <a:t> </a:t>
            </a:r>
            <a:r>
              <a:rPr lang="en-GB" b="0" i="0" u="none" strike="noStrike" dirty="0" err="1">
                <a:solidFill>
                  <a:srgbClr val="D1D5DB"/>
                </a:solidFill>
                <a:effectLst/>
                <a:latin typeface="Söhne"/>
              </a:rPr>
              <a:t>spécifique</a:t>
            </a:r>
            <a:r>
              <a:rPr lang="en-GB" b="0" i="0" u="none" strike="noStrike" dirty="0">
                <a:solidFill>
                  <a:srgbClr val="D1D5DB"/>
                </a:solidFill>
                <a:effectLst/>
                <a:latin typeface="Söhne"/>
              </a:rPr>
              <a:t>.</a:t>
            </a:r>
            <a:endParaRPr lang="fr-FR" dirty="0">
              <a:solidFill>
                <a:srgbClr val="374151"/>
              </a:solidFill>
              <a:latin typeface="Söhne"/>
            </a:endParaRPr>
          </a:p>
          <a:p>
            <a:endParaRPr lang="fr-FR" dirty="0"/>
          </a:p>
        </p:txBody>
      </p:sp>
    </p:spTree>
    <p:extLst>
      <p:ext uri="{BB962C8B-B14F-4D97-AF65-F5344CB8AC3E}">
        <p14:creationId xmlns:p14="http://schemas.microsoft.com/office/powerpoint/2010/main" val="3004447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solidFill>
                  <a:srgbClr val="374151"/>
                </a:solidFill>
                <a:latin typeface="Söhne"/>
              </a:rPr>
              <a:t>Utilise les </a:t>
            </a:r>
            <a:r>
              <a:rPr lang="en-GB" dirty="0" err="1">
                <a:solidFill>
                  <a:srgbClr val="374151"/>
                </a:solidFill>
                <a:latin typeface="Söhne"/>
              </a:rPr>
              <a:t>coordonnées</a:t>
            </a:r>
            <a:r>
              <a:rPr lang="en-GB" dirty="0">
                <a:solidFill>
                  <a:srgbClr val="374151"/>
                </a:solidFill>
                <a:latin typeface="Söhne"/>
              </a:rPr>
              <a:t> des </a:t>
            </a:r>
            <a:r>
              <a:rPr lang="en-GB" dirty="0" err="1">
                <a:solidFill>
                  <a:srgbClr val="374151"/>
                </a:solidFill>
                <a:latin typeface="Söhne"/>
              </a:rPr>
              <a:t>colonnes</a:t>
            </a:r>
            <a:r>
              <a:rPr lang="en-GB" dirty="0">
                <a:solidFill>
                  <a:srgbClr val="374151"/>
                </a:solidFill>
                <a:latin typeface="Söhne"/>
              </a:rPr>
              <a:t> “Latitude” et “Longitude” et les </a:t>
            </a:r>
            <a:r>
              <a:rPr lang="en-GB" dirty="0" err="1">
                <a:solidFill>
                  <a:srgbClr val="374151"/>
                </a:solidFill>
                <a:latin typeface="Söhne"/>
              </a:rPr>
              <a:t>émissions</a:t>
            </a:r>
            <a:r>
              <a:rPr lang="en-GB" dirty="0">
                <a:solidFill>
                  <a:srgbClr val="374151"/>
                </a:solidFill>
                <a:latin typeface="Söhne"/>
              </a:rPr>
              <a:t> de </a:t>
            </a:r>
            <a:r>
              <a:rPr lang="en-GB" dirty="0" err="1">
                <a:solidFill>
                  <a:srgbClr val="374151"/>
                </a:solidFill>
                <a:latin typeface="Söhne"/>
              </a:rPr>
              <a:t>gaz</a:t>
            </a:r>
            <a:r>
              <a:rPr lang="en-GB" dirty="0">
                <a:solidFill>
                  <a:srgbClr val="374151"/>
                </a:solidFill>
                <a:latin typeface="Söhne"/>
              </a:rPr>
              <a:t> </a:t>
            </a:r>
            <a:r>
              <a:rPr lang="en-GB" dirty="0" err="1">
                <a:solidFill>
                  <a:srgbClr val="374151"/>
                </a:solidFill>
                <a:latin typeface="Söhne"/>
              </a:rPr>
              <a:t>à</a:t>
            </a:r>
            <a:r>
              <a:rPr lang="en-GB" dirty="0">
                <a:solidFill>
                  <a:srgbClr val="374151"/>
                </a:solidFill>
                <a:latin typeface="Söhne"/>
              </a:rPr>
              <a:t> </a:t>
            </a:r>
            <a:r>
              <a:rPr lang="en-GB" dirty="0" err="1">
                <a:solidFill>
                  <a:srgbClr val="374151"/>
                </a:solidFill>
                <a:latin typeface="Söhne"/>
              </a:rPr>
              <a:t>effet</a:t>
            </a:r>
            <a:r>
              <a:rPr lang="en-GB" dirty="0">
                <a:solidFill>
                  <a:srgbClr val="374151"/>
                </a:solidFill>
                <a:latin typeface="Söhne"/>
              </a:rPr>
              <a:t> de </a:t>
            </a:r>
            <a:r>
              <a:rPr lang="en-GB" dirty="0" err="1">
                <a:solidFill>
                  <a:srgbClr val="374151"/>
                </a:solidFill>
                <a:latin typeface="Söhne"/>
              </a:rPr>
              <a:t>serre</a:t>
            </a:r>
            <a:r>
              <a:rPr lang="en-GB" dirty="0">
                <a:solidFill>
                  <a:srgbClr val="374151"/>
                </a:solidFill>
                <a:latin typeface="Söhne"/>
              </a:rPr>
              <a:t> “</a:t>
            </a:r>
            <a:r>
              <a:rPr lang="en-GB" dirty="0" err="1">
                <a:solidFill>
                  <a:srgbClr val="374151"/>
                </a:solidFill>
                <a:latin typeface="Söhne"/>
              </a:rPr>
              <a:t>TotalGHEemissions</a:t>
            </a:r>
            <a:r>
              <a:rPr lang="en-GB" dirty="0">
                <a:solidFill>
                  <a:srgbClr val="374151"/>
                </a:solidFill>
                <a:latin typeface="Söhne"/>
              </a:rPr>
              <a:t>” pour </a:t>
            </a:r>
            <a:r>
              <a:rPr lang="en-GB" dirty="0" err="1">
                <a:solidFill>
                  <a:srgbClr val="374151"/>
                </a:solidFill>
                <a:latin typeface="Söhne"/>
              </a:rPr>
              <a:t>créer</a:t>
            </a:r>
            <a:r>
              <a:rPr lang="en-GB" dirty="0">
                <a:solidFill>
                  <a:srgbClr val="374151"/>
                </a:solidFill>
                <a:latin typeface="Söhne"/>
              </a:rPr>
              <a:t> la variable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err="1">
                <a:solidFill>
                  <a:srgbClr val="374151"/>
                </a:solidFill>
                <a:latin typeface="Söhne"/>
              </a:rPr>
              <a:t>Distance_CityCenter</a:t>
            </a:r>
            <a:r>
              <a:rPr lang="en-GB" dirty="0">
                <a:solidFill>
                  <a:srgbClr val="374151"/>
                </a:solidFill>
                <a:latin typeface="Söhne"/>
              </a:rPr>
              <a:t> qui </a:t>
            </a:r>
            <a:r>
              <a:rPr lang="en-GB" dirty="0" err="1">
                <a:solidFill>
                  <a:srgbClr val="374151"/>
                </a:solidFill>
                <a:latin typeface="Söhne"/>
              </a:rPr>
              <a:t>est</a:t>
            </a:r>
            <a:r>
              <a:rPr lang="en-GB" dirty="0">
                <a:solidFill>
                  <a:srgbClr val="374151"/>
                </a:solidFill>
                <a:latin typeface="Söhne"/>
              </a:rPr>
              <a:t> la distance par rapport </a:t>
            </a:r>
            <a:r>
              <a:rPr lang="en-GB" dirty="0" err="1">
                <a:solidFill>
                  <a:srgbClr val="374151"/>
                </a:solidFill>
                <a:latin typeface="Söhne"/>
              </a:rPr>
              <a:t>à</a:t>
            </a:r>
            <a:r>
              <a:rPr lang="en-GB" dirty="0">
                <a:solidFill>
                  <a:srgbClr val="374151"/>
                </a:solidFill>
                <a:latin typeface="Söhne"/>
              </a:rPr>
              <a:t> la localisation la plus </a:t>
            </a:r>
            <a:r>
              <a:rPr lang="en-GB" dirty="0" err="1">
                <a:solidFill>
                  <a:srgbClr val="374151"/>
                </a:solidFill>
                <a:latin typeface="Söhne"/>
              </a:rPr>
              <a:t>polluée</a:t>
            </a:r>
            <a:endParaRPr lang="en-GB" dirty="0">
              <a:solidFill>
                <a:srgbClr val="374151"/>
              </a:solidFill>
              <a:latin typeface="Söhn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dirty="0">
              <a:solidFill>
                <a:srgbClr val="374151"/>
              </a:solidFill>
              <a:latin typeface="Söhne"/>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solidFill>
                  <a:srgbClr val="374151"/>
                </a:solidFill>
                <a:latin typeface="Söhne"/>
              </a:rPr>
              <a:t>L'ingénierie des caractéristiques (</a:t>
            </a:r>
            <a:r>
              <a:rPr lang="fr-FR" dirty="0" err="1">
                <a:solidFill>
                  <a:srgbClr val="374151"/>
                </a:solidFill>
                <a:latin typeface="Söhne"/>
              </a:rPr>
              <a:t>features</a:t>
            </a:r>
            <a:r>
              <a:rPr lang="fr-FR" dirty="0">
                <a:solidFill>
                  <a:srgbClr val="374151"/>
                </a:solidFill>
                <a:latin typeface="Söhne"/>
              </a:rPr>
              <a:t>) consiste à créer de nouvelles caractéristiques à partir des données existantes pour améliorer la performance du modèle. Cela peut comprendre des opérations telles que la création d'interactions entre les caractéristiques, la création de caractéristiques polynomiales, la transformation des caractéristiques, etc.</a:t>
            </a:r>
          </a:p>
          <a:p>
            <a:endParaRPr lang="fr-FR" dirty="0"/>
          </a:p>
        </p:txBody>
      </p:sp>
    </p:spTree>
    <p:extLst>
      <p:ext uri="{BB962C8B-B14F-4D97-AF65-F5344CB8AC3E}">
        <p14:creationId xmlns:p14="http://schemas.microsoft.com/office/powerpoint/2010/main" val="1051536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098049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150859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964532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79876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39645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928043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90cccfa9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90cccfa9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90cccfa9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90cccfa9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70200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669160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0" name="Google Shape;50;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5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1"/>
        <p:cNvGrpSpPr/>
        <p:nvPr/>
      </p:nvGrpSpPr>
      <p:grpSpPr>
        <a:xfrm>
          <a:off x="0" y="0"/>
          <a:ext cx="0" cy="0"/>
          <a:chOff x="0" y="0"/>
          <a:chExt cx="0" cy="0"/>
        </a:xfrm>
      </p:grpSpPr>
      <p:sp>
        <p:nvSpPr>
          <p:cNvPr id="172" name="Google Shape;172;p24"/>
          <p:cNvSpPr/>
          <p:nvPr/>
        </p:nvSpPr>
        <p:spPr>
          <a:xfrm rot="10800000">
            <a:off x="7181825" y="1722750"/>
            <a:ext cx="1698000" cy="1698000"/>
          </a:xfrm>
          <a:prstGeom prst="pie">
            <a:avLst>
              <a:gd name="adj1" fmla="val 5412192"/>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4"/>
          <p:cNvSpPr/>
          <p:nvPr/>
        </p:nvSpPr>
        <p:spPr>
          <a:xfrm>
            <a:off x="8388600" y="2610575"/>
            <a:ext cx="755400" cy="2532900"/>
          </a:xfrm>
          <a:prstGeom prst="round2SameRect">
            <a:avLst>
              <a:gd name="adj1" fmla="val 50000"/>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4"/>
          <p:cNvSpPr/>
          <p:nvPr/>
        </p:nvSpPr>
        <p:spPr>
          <a:xfrm rot="-5400000">
            <a:off x="149825" y="-304750"/>
            <a:ext cx="1126800" cy="11268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4"/>
          <p:cNvSpPr/>
          <p:nvPr/>
        </p:nvSpPr>
        <p:spPr>
          <a:xfrm>
            <a:off x="-1551725" y="386250"/>
            <a:ext cx="2738700" cy="27387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76"/>
        <p:cNvGrpSpPr/>
        <p:nvPr/>
      </p:nvGrpSpPr>
      <p:grpSpPr>
        <a:xfrm>
          <a:off x="0" y="0"/>
          <a:ext cx="0" cy="0"/>
          <a:chOff x="0" y="0"/>
          <a:chExt cx="0" cy="0"/>
        </a:xfrm>
      </p:grpSpPr>
      <p:sp>
        <p:nvSpPr>
          <p:cNvPr id="177" name="Google Shape;177;p25"/>
          <p:cNvSpPr/>
          <p:nvPr/>
        </p:nvSpPr>
        <p:spPr>
          <a:xfrm rot="5400000" flipH="1">
            <a:off x="1049250" y="3473750"/>
            <a:ext cx="616500" cy="27150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p:nvPr/>
        </p:nvSpPr>
        <p:spPr>
          <a:xfrm>
            <a:off x="201725" y="3848275"/>
            <a:ext cx="895200" cy="895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5"/>
          <p:cNvSpPr/>
          <p:nvPr/>
        </p:nvSpPr>
        <p:spPr>
          <a:xfrm>
            <a:off x="713225" y="3587925"/>
            <a:ext cx="409200" cy="409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p:nvPr/>
        </p:nvSpPr>
        <p:spPr>
          <a:xfrm rot="-5400000" flipH="1">
            <a:off x="7478250" y="-1049250"/>
            <a:ext cx="616500" cy="2715000"/>
          </a:xfrm>
          <a:prstGeom prst="round1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5"/>
          <p:cNvSpPr/>
          <p:nvPr/>
        </p:nvSpPr>
        <p:spPr>
          <a:xfrm>
            <a:off x="8194600" y="280950"/>
            <a:ext cx="1418700" cy="141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p:nvPr/>
        </p:nvSpPr>
        <p:spPr>
          <a:xfrm>
            <a:off x="8257550" y="1395950"/>
            <a:ext cx="564600" cy="564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inimalist Geometric Shapes Style Pitch Deck by Slidesgo" type="title">
  <p:cSld name="Minimalist Geometric Shapes Style Pitch Deck by Slidesgo">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35025" y="747412"/>
            <a:ext cx="4273800" cy="2925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000" b="0"/>
            </a:lvl1pPr>
            <a:lvl2pPr lvl="1" algn="ctr">
              <a:spcBef>
                <a:spcPts val="2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extLst>
      <p:ext uri="{BB962C8B-B14F-4D97-AF65-F5344CB8AC3E}">
        <p14:creationId xmlns:p14="http://schemas.microsoft.com/office/powerpoint/2010/main" val="295700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119138"/>
            <a:ext cx="7704000" cy="368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2" name="Google Shape;22;p4"/>
          <p:cNvSpPr/>
          <p:nvPr/>
        </p:nvSpPr>
        <p:spPr>
          <a:xfrm rot="10800000">
            <a:off x="8608500" y="0"/>
            <a:ext cx="535500" cy="18054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5400000">
            <a:off x="267750" y="4608817"/>
            <a:ext cx="1086300" cy="10863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50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6"/>
          <p:cNvSpPr/>
          <p:nvPr/>
        </p:nvSpPr>
        <p:spPr>
          <a:xfrm rot="2700000">
            <a:off x="8453676" y="465901"/>
            <a:ext cx="1514623" cy="1514199"/>
          </a:xfrm>
          <a:prstGeom prst="roundRect">
            <a:avLst>
              <a:gd name="adj" fmla="val 26624"/>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p:nvPr/>
        </p:nvSpPr>
        <p:spPr>
          <a:xfrm rot="2700000">
            <a:off x="8331073" y="78952"/>
            <a:ext cx="921077" cy="921077"/>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3338100"/>
            <a:ext cx="535500" cy="1805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a:off x="351175" y="4524200"/>
            <a:ext cx="527700" cy="527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rot="5400000">
            <a:off x="143325" y="-212950"/>
            <a:ext cx="689100" cy="1590600"/>
          </a:xfrm>
          <a:prstGeom prst="round2Same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p:nvPr/>
        </p:nvSpPr>
        <p:spPr>
          <a:xfrm>
            <a:off x="1012575" y="174425"/>
            <a:ext cx="270600" cy="270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32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 name="Google Shape;63;p13"/>
          <p:cNvSpPr txBox="1">
            <a:spLocks noGrp="1"/>
          </p:cNvSpPr>
          <p:nvPr>
            <p:ph type="title" idx="2" hasCustomPrompt="1"/>
          </p:nvPr>
        </p:nvSpPr>
        <p:spPr>
          <a:xfrm>
            <a:off x="1676375" y="1126150"/>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3" hasCustomPrompt="1"/>
          </p:nvPr>
        </p:nvSpPr>
        <p:spPr>
          <a:xfrm>
            <a:off x="1676375" y="2931524"/>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title" idx="4" hasCustomPrompt="1"/>
          </p:nvPr>
        </p:nvSpPr>
        <p:spPr>
          <a:xfrm>
            <a:off x="4147050" y="1126150"/>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6" name="Google Shape;66;p13"/>
          <p:cNvSpPr txBox="1">
            <a:spLocks noGrp="1"/>
          </p:cNvSpPr>
          <p:nvPr>
            <p:ph type="title" idx="5" hasCustomPrompt="1"/>
          </p:nvPr>
        </p:nvSpPr>
        <p:spPr>
          <a:xfrm>
            <a:off x="4147050" y="2931525"/>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title" idx="6" hasCustomPrompt="1"/>
          </p:nvPr>
        </p:nvSpPr>
        <p:spPr>
          <a:xfrm>
            <a:off x="6617725" y="1126149"/>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a:spLocks noGrp="1"/>
          </p:cNvSpPr>
          <p:nvPr>
            <p:ph type="title" idx="7" hasCustomPrompt="1"/>
          </p:nvPr>
        </p:nvSpPr>
        <p:spPr>
          <a:xfrm>
            <a:off x="6617725" y="2931524"/>
            <a:ext cx="849900" cy="6717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dk2"/>
                </a:solidFill>
                <a:latin typeface="Quicksand SemiBold"/>
                <a:ea typeface="Quicksand SemiBold"/>
                <a:cs typeface="Quicksand SemiBold"/>
                <a:sym typeface="Quicksand SemiBold"/>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subTitle" idx="1"/>
          </p:nvPr>
        </p:nvSpPr>
        <p:spPr>
          <a:xfrm>
            <a:off x="997775"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0" name="Google Shape;70;p13"/>
          <p:cNvSpPr txBox="1">
            <a:spLocks noGrp="1"/>
          </p:cNvSpPr>
          <p:nvPr>
            <p:ph type="subTitle" idx="8"/>
          </p:nvPr>
        </p:nvSpPr>
        <p:spPr>
          <a:xfrm>
            <a:off x="3468450"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1" name="Google Shape;71;p13"/>
          <p:cNvSpPr txBox="1">
            <a:spLocks noGrp="1"/>
          </p:cNvSpPr>
          <p:nvPr>
            <p:ph type="subTitle" idx="9"/>
          </p:nvPr>
        </p:nvSpPr>
        <p:spPr>
          <a:xfrm>
            <a:off x="5939125" y="1950250"/>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2" name="Google Shape;72;p13"/>
          <p:cNvSpPr txBox="1">
            <a:spLocks noGrp="1"/>
          </p:cNvSpPr>
          <p:nvPr>
            <p:ph type="subTitle" idx="13"/>
          </p:nvPr>
        </p:nvSpPr>
        <p:spPr>
          <a:xfrm>
            <a:off x="997775"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3" name="Google Shape;73;p13"/>
          <p:cNvSpPr txBox="1">
            <a:spLocks noGrp="1"/>
          </p:cNvSpPr>
          <p:nvPr>
            <p:ph type="subTitle" idx="14"/>
          </p:nvPr>
        </p:nvSpPr>
        <p:spPr>
          <a:xfrm>
            <a:off x="3468450"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4" name="Google Shape;74;p13"/>
          <p:cNvSpPr txBox="1">
            <a:spLocks noGrp="1"/>
          </p:cNvSpPr>
          <p:nvPr>
            <p:ph type="subTitle" idx="15"/>
          </p:nvPr>
        </p:nvSpPr>
        <p:spPr>
          <a:xfrm>
            <a:off x="5939125" y="3755625"/>
            <a:ext cx="22071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Quicksand SemiBold"/>
                <a:ea typeface="Quicksand SemiBold"/>
                <a:cs typeface="Quicksand SemiBold"/>
                <a:sym typeface="Quicksand Semi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5" name="Google Shape;75;p13"/>
          <p:cNvSpPr/>
          <p:nvPr/>
        </p:nvSpPr>
        <p:spPr>
          <a:xfrm>
            <a:off x="8165725" y="2555025"/>
            <a:ext cx="2454300" cy="2454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3"/>
          <p:cNvSpPr/>
          <p:nvPr/>
        </p:nvSpPr>
        <p:spPr>
          <a:xfrm>
            <a:off x="8334750" y="4604000"/>
            <a:ext cx="394500" cy="3945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rot="10800000">
            <a:off x="96100" y="-178500"/>
            <a:ext cx="740700" cy="23916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658550" y="145000"/>
            <a:ext cx="447600" cy="447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txBox="1">
            <a:spLocks noGrp="1"/>
          </p:cNvSpPr>
          <p:nvPr>
            <p:ph type="subTitle" idx="16"/>
          </p:nvPr>
        </p:nvSpPr>
        <p:spPr>
          <a:xfrm>
            <a:off x="997775" y="2259225"/>
            <a:ext cx="2207100" cy="539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0" name="Google Shape;80;p13"/>
          <p:cNvSpPr txBox="1">
            <a:spLocks noGrp="1"/>
          </p:cNvSpPr>
          <p:nvPr>
            <p:ph type="subTitle" idx="17"/>
          </p:nvPr>
        </p:nvSpPr>
        <p:spPr>
          <a:xfrm>
            <a:off x="3468450" y="2259225"/>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1" name="Google Shape;81;p13"/>
          <p:cNvSpPr txBox="1">
            <a:spLocks noGrp="1"/>
          </p:cNvSpPr>
          <p:nvPr>
            <p:ph type="subTitle" idx="18"/>
          </p:nvPr>
        </p:nvSpPr>
        <p:spPr>
          <a:xfrm>
            <a:off x="5939125" y="2259225"/>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2" name="Google Shape;82;p13"/>
          <p:cNvSpPr txBox="1">
            <a:spLocks noGrp="1"/>
          </p:cNvSpPr>
          <p:nvPr>
            <p:ph type="subTitle" idx="19"/>
          </p:nvPr>
        </p:nvSpPr>
        <p:spPr>
          <a:xfrm>
            <a:off x="997775"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3" name="Google Shape;83;p13"/>
          <p:cNvSpPr txBox="1">
            <a:spLocks noGrp="1"/>
          </p:cNvSpPr>
          <p:nvPr>
            <p:ph type="subTitle" idx="20"/>
          </p:nvPr>
        </p:nvSpPr>
        <p:spPr>
          <a:xfrm>
            <a:off x="3468450"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 name="Google Shape;84;p13"/>
          <p:cNvSpPr txBox="1">
            <a:spLocks noGrp="1"/>
          </p:cNvSpPr>
          <p:nvPr>
            <p:ph type="subTitle" idx="21"/>
          </p:nvPr>
        </p:nvSpPr>
        <p:spPr>
          <a:xfrm>
            <a:off x="5939125" y="4064600"/>
            <a:ext cx="2207100" cy="5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000287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191625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51"/>
        <p:cNvGrpSpPr/>
        <p:nvPr/>
      </p:nvGrpSpPr>
      <p:grpSpPr>
        <a:xfrm>
          <a:off x="0" y="0"/>
          <a:ext cx="0" cy="0"/>
          <a:chOff x="0" y="0"/>
          <a:chExt cx="0" cy="0"/>
        </a:xfrm>
      </p:grpSpPr>
      <p:sp>
        <p:nvSpPr>
          <p:cNvPr id="152" name="Google Shape;15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3" name="Google Shape;153;p21"/>
          <p:cNvSpPr/>
          <p:nvPr/>
        </p:nvSpPr>
        <p:spPr>
          <a:xfrm>
            <a:off x="8425975" y="3308650"/>
            <a:ext cx="5439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a:off x="8697225" y="3126350"/>
            <a:ext cx="341100" cy="341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rot="10800000">
            <a:off x="-27575" y="0"/>
            <a:ext cx="543900" cy="18522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rot="-5400000">
            <a:off x="50525" y="-542925"/>
            <a:ext cx="1325400" cy="13254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493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23"/>
          <p:cNvSpPr txBox="1">
            <a:spLocks noGrp="1"/>
          </p:cNvSpPr>
          <p:nvPr>
            <p:ph type="subTitle" idx="1"/>
          </p:nvPr>
        </p:nvSpPr>
        <p:spPr>
          <a:xfrm>
            <a:off x="1206750" y="2652000"/>
            <a:ext cx="4209900" cy="9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6" name="Google Shape;166;p23"/>
          <p:cNvSpPr/>
          <p:nvPr/>
        </p:nvSpPr>
        <p:spPr>
          <a:xfrm>
            <a:off x="345625" y="4354125"/>
            <a:ext cx="713100" cy="713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3"/>
          <p:cNvSpPr/>
          <p:nvPr/>
        </p:nvSpPr>
        <p:spPr>
          <a:xfrm>
            <a:off x="8204425" y="3329950"/>
            <a:ext cx="7554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a:off x="7836850" y="4473975"/>
            <a:ext cx="543600" cy="5436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2700000">
            <a:off x="-612875" y="3395628"/>
            <a:ext cx="1384798" cy="1384798"/>
          </a:xfrm>
          <a:prstGeom prst="roundRect">
            <a:avLst>
              <a:gd name="adj" fmla="val 2662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0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1pPr>
            <a:lvl2pPr lvl="1"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2pPr>
            <a:lvl3pPr lvl="2"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3pPr>
            <a:lvl4pPr lvl="3"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4pPr>
            <a:lvl5pPr lvl="4"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5pPr>
            <a:lvl6pPr lvl="5"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6pPr>
            <a:lvl7pPr lvl="6"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7pPr>
            <a:lvl8pPr lvl="7"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8pPr>
            <a:lvl9pPr lvl="8"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1pPr>
            <a:lvl2pPr marL="914400" lvl="1"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2pPr>
            <a:lvl3pPr marL="1371600" lvl="2"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3pPr>
            <a:lvl4pPr marL="1828800" lvl="3"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4pPr>
            <a:lvl5pPr marL="2286000" lvl="4"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5pPr>
            <a:lvl6pPr marL="2743200" lvl="5"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6pPr>
            <a:lvl7pPr marL="3200400" lvl="6"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7pPr>
            <a:lvl8pPr marL="3657600" lvl="7"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8pPr>
            <a:lvl9pPr marL="4114800" lvl="8" indent="-304800">
              <a:lnSpc>
                <a:spcPct val="100000"/>
              </a:lnSpc>
              <a:spcBef>
                <a:spcPts val="1600"/>
              </a:spcBef>
              <a:spcAft>
                <a:spcPts val="160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70" r:id="rId3"/>
    <p:sldLayoutId id="2147483671" r:id="rId4"/>
    <p:sldLayoutId id="2147483675" r:id="rId5"/>
    <p:sldLayoutId id="2147483676" r:id="rId6"/>
    <p:sldLayoutId id="2147483677" r:id="rId7"/>
    <p:sldLayoutId id="2147483678" r:id="rId8"/>
    <p:sldLayoutId id="2147483680" r:id="rId9"/>
    <p:sldLayoutId id="2147483681" r:id="rId10"/>
    <p:sldLayoutId id="214748368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hyperlink" Target="https://data.seattle.gov/dataset/2016-Building-Energy-Benchmarking/2bpz-gwpy"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ctrTitle"/>
          </p:nvPr>
        </p:nvSpPr>
        <p:spPr>
          <a:xfrm>
            <a:off x="2435025" y="747412"/>
            <a:ext cx="4273800" cy="2925300"/>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fr-FR" sz="3600" i="0" dirty="0"/>
              <a:t>Prédire l’émission de CO2 et la consommation d’énergie</a:t>
            </a:r>
            <a:endParaRPr sz="3600" dirty="0"/>
          </a:p>
        </p:txBody>
      </p:sp>
      <p:sp>
        <p:nvSpPr>
          <p:cNvPr id="194" name="Google Shape;194;p29"/>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p>
            <a:r>
              <a:rPr lang="fr-FR" dirty="0">
                <a:solidFill>
                  <a:schemeClr val="tx1">
                    <a:lumMod val="50000"/>
                    <a:lumOff val="50000"/>
                  </a:schemeClr>
                </a:solidFill>
              </a:rPr>
              <a:t>Laure </a:t>
            </a:r>
            <a:r>
              <a:rPr lang="fr-FR" dirty="0" err="1">
                <a:solidFill>
                  <a:schemeClr val="tx1">
                    <a:lumMod val="50000"/>
                    <a:lumOff val="50000"/>
                  </a:schemeClr>
                </a:solidFill>
              </a:rPr>
              <a:t>Agrech</a:t>
            </a:r>
            <a:r>
              <a:rPr lang="fr-FR" dirty="0">
                <a:solidFill>
                  <a:schemeClr val="tx1">
                    <a:lumMod val="50000"/>
                    <a:lumOff val="50000"/>
                  </a:schemeClr>
                </a:solidFill>
              </a:rPr>
              <a:t> P4</a:t>
            </a:r>
          </a:p>
        </p:txBody>
      </p:sp>
      <p:sp>
        <p:nvSpPr>
          <p:cNvPr id="195" name="Google Shape;195;p29"/>
          <p:cNvSpPr/>
          <p:nvPr/>
        </p:nvSpPr>
        <p:spPr>
          <a:xfrm>
            <a:off x="3767694" y="3794250"/>
            <a:ext cx="16086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584875" y="2841075"/>
            <a:ext cx="1327800" cy="23916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a:off x="584875" y="2710400"/>
            <a:ext cx="475800" cy="475800"/>
          </a:xfrm>
          <a:prstGeom prst="ellipse">
            <a:avLst/>
          </a:pr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a:off x="7786975" y="314675"/>
            <a:ext cx="2130900" cy="2130900"/>
          </a:xfrm>
          <a:prstGeom prst="ellipse">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rot="-5400000">
            <a:off x="7032742" y="-76500"/>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56CA7F-A714-8808-BDD9-6B12517A695A}"/>
              </a:ext>
            </a:extLst>
          </p:cNvPr>
          <p:cNvSpPr>
            <a:spLocks noGrp="1"/>
          </p:cNvSpPr>
          <p:nvPr>
            <p:ph type="title"/>
          </p:nvPr>
        </p:nvSpPr>
        <p:spPr>
          <a:xfrm>
            <a:off x="720000" y="86209"/>
            <a:ext cx="7704000" cy="572700"/>
          </a:xfrm>
        </p:spPr>
        <p:txBody>
          <a:bodyPr/>
          <a:lstStyle/>
          <a:p>
            <a:r>
              <a:rPr lang="fr-FR" dirty="0"/>
              <a:t>Introduction</a:t>
            </a:r>
          </a:p>
        </p:txBody>
      </p:sp>
      <p:sp>
        <p:nvSpPr>
          <p:cNvPr id="3" name="Titre 1">
            <a:extLst>
              <a:ext uri="{FF2B5EF4-FFF2-40B4-BE49-F238E27FC236}">
                <a16:creationId xmlns:a16="http://schemas.microsoft.com/office/drawing/2014/main" id="{4104DDBA-43CC-7939-AC4A-946C6378DF1F}"/>
              </a:ext>
            </a:extLst>
          </p:cNvPr>
          <p:cNvSpPr txBox="1">
            <a:spLocks/>
          </p:cNvSpPr>
          <p:nvPr/>
        </p:nvSpPr>
        <p:spPr>
          <a:xfrm>
            <a:off x="872400" y="89782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Poppins Medium"/>
              <a:buNone/>
              <a:defRPr sz="3200" b="0" i="0" u="none" strike="noStrike" cap="none">
                <a:solidFill>
                  <a:schemeClr val="dk1"/>
                </a:solidFill>
                <a:latin typeface="Poppins Medium"/>
                <a:ea typeface="Poppins Medium"/>
                <a:cs typeface="Poppins Medium"/>
                <a:sym typeface="Poppins Medium"/>
              </a:defRPr>
            </a:lvl1pPr>
            <a:lvl2pPr marR="0" lvl="1"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2pPr>
            <a:lvl3pPr marR="0" lvl="2"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3pPr>
            <a:lvl4pPr marR="0" lvl="3"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4pPr>
            <a:lvl5pPr marR="0" lvl="4"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5pPr>
            <a:lvl6pPr marR="0" lvl="5"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6pPr>
            <a:lvl7pPr marR="0" lvl="6"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7pPr>
            <a:lvl8pPr marR="0" lvl="7"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8pPr>
            <a:lvl9pPr marR="0" lvl="8"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9pPr>
          </a:lstStyle>
          <a:p>
            <a:r>
              <a:rPr lang="fr-FR" sz="1600" dirty="0"/>
              <a:t>Problématique : anticipez les besoins en consommation des bâtiments</a:t>
            </a:r>
          </a:p>
        </p:txBody>
      </p:sp>
      <p:sp>
        <p:nvSpPr>
          <p:cNvPr id="4" name="Espace réservé du texte 2">
            <a:extLst>
              <a:ext uri="{FF2B5EF4-FFF2-40B4-BE49-F238E27FC236}">
                <a16:creationId xmlns:a16="http://schemas.microsoft.com/office/drawing/2014/main" id="{57ABD8AB-640D-F4ED-3B83-768E5CBC2D13}"/>
              </a:ext>
            </a:extLst>
          </p:cNvPr>
          <p:cNvSpPr txBox="1">
            <a:spLocks/>
          </p:cNvSpPr>
          <p:nvPr/>
        </p:nvSpPr>
        <p:spPr>
          <a:xfrm>
            <a:off x="720000" y="1524947"/>
            <a:ext cx="7704000" cy="959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9pPr>
          </a:lstStyle>
          <a:p>
            <a:pPr>
              <a:spcBef>
                <a:spcPts val="1000"/>
              </a:spcBef>
              <a:buClr>
                <a:schemeClr val="dk2"/>
              </a:buClr>
            </a:pPr>
            <a:r>
              <a:rPr lang="fr-FR" dirty="0">
                <a:solidFill>
                  <a:schemeClr val="tx2">
                    <a:lumMod val="10000"/>
                  </a:schemeClr>
                </a:solidFill>
              </a:rPr>
              <a:t>Objectif : Prédire les émissions de CO2 et la consommation totale d'énergie des bâtiments non résidentiels.</a:t>
            </a:r>
          </a:p>
          <a:p>
            <a:pPr>
              <a:spcBef>
                <a:spcPts val="1000"/>
              </a:spcBef>
              <a:buClr>
                <a:schemeClr val="dk2"/>
              </a:buClr>
            </a:pPr>
            <a:r>
              <a:rPr lang="fr-FR" dirty="0">
                <a:solidFill>
                  <a:schemeClr val="tx2">
                    <a:lumMod val="10000"/>
                  </a:schemeClr>
                </a:solidFill>
              </a:rPr>
              <a:t>Méthodologie : Utilisation des données structurelles des bâtiments (taille, usage, date de construction, situation géographique, etc.).</a:t>
            </a:r>
          </a:p>
          <a:p>
            <a:pPr>
              <a:spcBef>
                <a:spcPts val="1000"/>
              </a:spcBef>
              <a:buClr>
                <a:schemeClr val="dk2"/>
              </a:buClr>
            </a:pPr>
            <a:r>
              <a:rPr lang="fr-FR" dirty="0">
                <a:solidFill>
                  <a:schemeClr val="tx2">
                    <a:lumMod val="10000"/>
                  </a:schemeClr>
                </a:solidFill>
              </a:rPr>
              <a:t>Evaluer de la pertinence de la variable </a:t>
            </a:r>
            <a:r>
              <a:rPr lang="fr-FR" dirty="0" err="1">
                <a:solidFill>
                  <a:schemeClr val="tx2">
                    <a:lumMod val="10000"/>
                  </a:schemeClr>
                </a:solidFill>
              </a:rPr>
              <a:t>ENERGYSTARScore</a:t>
            </a:r>
            <a:endParaRPr lang="fr-FR" dirty="0">
              <a:solidFill>
                <a:schemeClr val="tx2">
                  <a:lumMod val="10000"/>
                </a:schemeClr>
              </a:solidFill>
            </a:endParaRPr>
          </a:p>
          <a:p>
            <a:pPr>
              <a:spcBef>
                <a:spcPts val="1000"/>
              </a:spcBef>
              <a:buClr>
                <a:schemeClr val="dk2"/>
              </a:buClr>
            </a:pPr>
            <a:r>
              <a:rPr lang="fr-FR" dirty="0">
                <a:solidFill>
                  <a:schemeClr val="tx2">
                    <a:lumMod val="10000"/>
                  </a:schemeClr>
                </a:solidFill>
              </a:rPr>
              <a:t>But ultime : Contribuer à faire de Seattle une ville neutre en carbone d'ici 2050.</a:t>
            </a:r>
          </a:p>
          <a:p>
            <a:pPr>
              <a:spcBef>
                <a:spcPts val="1000"/>
              </a:spcBef>
              <a:buClr>
                <a:schemeClr val="dk2"/>
              </a:buClr>
            </a:pPr>
            <a:r>
              <a:rPr lang="fr-FR" dirty="0">
                <a:solidFill>
                  <a:schemeClr val="tx2">
                    <a:lumMod val="10000"/>
                  </a:schemeClr>
                </a:solidFill>
              </a:rPr>
              <a:t>Développement d'un modèle de prédiction réutilisable et efficace</a:t>
            </a:r>
          </a:p>
        </p:txBody>
      </p:sp>
    </p:spTree>
    <p:extLst>
      <p:ext uri="{BB962C8B-B14F-4D97-AF65-F5344CB8AC3E}">
        <p14:creationId xmlns:p14="http://schemas.microsoft.com/office/powerpoint/2010/main" val="422402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 name="Google Shape;583;p53">
            <a:extLst>
              <a:ext uri="{FF2B5EF4-FFF2-40B4-BE49-F238E27FC236}">
                <a16:creationId xmlns:a16="http://schemas.microsoft.com/office/drawing/2014/main" id="{C7892B76-B00D-A676-7830-0835D16DB08E}"/>
              </a:ext>
            </a:extLst>
          </p:cNvPr>
          <p:cNvSpPr/>
          <p:nvPr/>
        </p:nvSpPr>
        <p:spPr>
          <a:xfrm>
            <a:off x="3233854" y="4649512"/>
            <a:ext cx="2520176" cy="431643"/>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583;p53">
            <a:extLst>
              <a:ext uri="{FF2B5EF4-FFF2-40B4-BE49-F238E27FC236}">
                <a16:creationId xmlns:a16="http://schemas.microsoft.com/office/drawing/2014/main" id="{8EEF68BA-E79C-1DDE-B94D-08A09A3BBB97}"/>
              </a:ext>
            </a:extLst>
          </p:cNvPr>
          <p:cNvSpPr/>
          <p:nvPr/>
        </p:nvSpPr>
        <p:spPr>
          <a:xfrm>
            <a:off x="6541491" y="510175"/>
            <a:ext cx="1924228" cy="532304"/>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583;p53">
            <a:extLst>
              <a:ext uri="{FF2B5EF4-FFF2-40B4-BE49-F238E27FC236}">
                <a16:creationId xmlns:a16="http://schemas.microsoft.com/office/drawing/2014/main" id="{C29BE02D-DA4F-5249-25D7-C4DCC19CB04F}"/>
              </a:ext>
            </a:extLst>
          </p:cNvPr>
          <p:cNvSpPr/>
          <p:nvPr/>
        </p:nvSpPr>
        <p:spPr>
          <a:xfrm>
            <a:off x="568379" y="935194"/>
            <a:ext cx="2487337" cy="624904"/>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Timeline</a:t>
            </a:r>
            <a:endParaRPr dirty="0"/>
          </a:p>
        </p:txBody>
      </p:sp>
      <p:sp>
        <p:nvSpPr>
          <p:cNvPr id="401" name="Google Shape;401;p43"/>
          <p:cNvSpPr txBox="1"/>
          <p:nvPr/>
        </p:nvSpPr>
        <p:spPr>
          <a:xfrm flipH="1">
            <a:off x="719979" y="1041886"/>
            <a:ext cx="2173692"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1800" dirty="0">
                <a:solidFill>
                  <a:schemeClr val="bg1"/>
                </a:solidFill>
                <a:latin typeface="Quicksand SemiBold"/>
                <a:ea typeface="Quicksand SemiBold"/>
                <a:cs typeface="Quicksand SemiBold"/>
                <a:sym typeface="Quicksand SemiBold"/>
              </a:rPr>
              <a:t>P</a:t>
            </a:r>
            <a:r>
              <a:rPr lang="en" sz="1800" dirty="0" err="1">
                <a:solidFill>
                  <a:schemeClr val="bg1"/>
                </a:solidFill>
                <a:latin typeface="Quicksand SemiBold"/>
                <a:ea typeface="Quicksand SemiBold"/>
                <a:cs typeface="Quicksand SemiBold"/>
                <a:sym typeface="Quicksand SemiBold"/>
              </a:rPr>
              <a:t>rétraitement</a:t>
            </a:r>
            <a:r>
              <a:rPr lang="en" sz="1800" dirty="0">
                <a:solidFill>
                  <a:schemeClr val="bg1"/>
                </a:solidFill>
                <a:latin typeface="Quicksand SemiBold"/>
                <a:ea typeface="Quicksand SemiBold"/>
                <a:cs typeface="Quicksand SemiBold"/>
                <a:sym typeface="Quicksand SemiBold"/>
              </a:rPr>
              <a:t> des </a:t>
            </a:r>
            <a:r>
              <a:rPr lang="en" sz="1800" dirty="0" err="1">
                <a:solidFill>
                  <a:schemeClr val="bg1"/>
                </a:solidFill>
                <a:latin typeface="Quicksand SemiBold"/>
                <a:ea typeface="Quicksand SemiBold"/>
                <a:cs typeface="Quicksand SemiBold"/>
                <a:sym typeface="Quicksand SemiBold"/>
              </a:rPr>
              <a:t>données</a:t>
            </a:r>
            <a:endParaRPr sz="1800" dirty="0">
              <a:solidFill>
                <a:schemeClr val="dk2"/>
              </a:solidFill>
              <a:latin typeface="Quicksand SemiBold"/>
              <a:ea typeface="Quicksand SemiBold"/>
              <a:cs typeface="Quicksand SemiBold"/>
              <a:sym typeface="Quicksand SemiBold"/>
            </a:endParaRPr>
          </a:p>
        </p:txBody>
      </p:sp>
      <p:sp>
        <p:nvSpPr>
          <p:cNvPr id="402" name="Google Shape;402;p43"/>
          <p:cNvSpPr txBox="1"/>
          <p:nvPr/>
        </p:nvSpPr>
        <p:spPr>
          <a:xfrm flipH="1">
            <a:off x="720021" y="1935032"/>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Analyse exploratoire des données</a:t>
            </a:r>
            <a:endParaRPr sz="1200" dirty="0">
              <a:solidFill>
                <a:schemeClr val="dk1"/>
              </a:solidFill>
              <a:latin typeface="Quicksand Medium"/>
              <a:ea typeface="Quicksand Medium"/>
              <a:cs typeface="Quicksand Medium"/>
              <a:sym typeface="Quicksand Medium"/>
            </a:endParaRPr>
          </a:p>
        </p:txBody>
      </p:sp>
      <p:sp>
        <p:nvSpPr>
          <p:cNvPr id="403" name="Google Shape;403;p43"/>
          <p:cNvSpPr txBox="1"/>
          <p:nvPr/>
        </p:nvSpPr>
        <p:spPr>
          <a:xfrm flipH="1">
            <a:off x="2695332" y="1309237"/>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3</a:t>
            </a:r>
            <a:endParaRPr sz="3500" dirty="0">
              <a:solidFill>
                <a:schemeClr val="dk2"/>
              </a:solidFill>
              <a:latin typeface="Quicksand SemiBold"/>
              <a:ea typeface="Quicksand SemiBold"/>
              <a:cs typeface="Quicksand SemiBold"/>
              <a:sym typeface="Quicksand SemiBold"/>
            </a:endParaRPr>
          </a:p>
        </p:txBody>
      </p:sp>
      <p:sp>
        <p:nvSpPr>
          <p:cNvPr id="404" name="Google Shape;404;p43"/>
          <p:cNvSpPr txBox="1"/>
          <p:nvPr/>
        </p:nvSpPr>
        <p:spPr>
          <a:xfrm flipH="1">
            <a:off x="2683879" y="1722897"/>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sym typeface="Quicksand Medium"/>
              </a:rPr>
              <a:t>Transformation des données et choix d’un modèle de base de prédictions</a:t>
            </a:r>
            <a:endParaRPr sz="1200" dirty="0">
              <a:solidFill>
                <a:schemeClr val="dk1"/>
              </a:solidFill>
              <a:latin typeface="Quicksand Medium"/>
              <a:sym typeface="Quicksand Medium"/>
            </a:endParaRPr>
          </a:p>
        </p:txBody>
      </p:sp>
      <p:sp>
        <p:nvSpPr>
          <p:cNvPr id="405" name="Google Shape;405;p43"/>
          <p:cNvSpPr txBox="1"/>
          <p:nvPr/>
        </p:nvSpPr>
        <p:spPr>
          <a:xfrm flipH="1">
            <a:off x="4647779" y="131745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200" dirty="0">
                <a:solidFill>
                  <a:schemeClr val="dk1"/>
                </a:solidFill>
                <a:latin typeface="Quicksand SemiBold"/>
                <a:ea typeface="Quicksand SemiBold"/>
                <a:cs typeface="Quicksand SemiBold"/>
                <a:sym typeface="Quicksand SemiBold"/>
              </a:rPr>
              <a:t>Step</a:t>
            </a:r>
            <a:r>
              <a:rPr lang="en-GB" sz="3500" dirty="0">
                <a:solidFill>
                  <a:schemeClr val="dk2"/>
                </a:solidFill>
                <a:latin typeface="Quicksand SemiBold"/>
                <a:ea typeface="Quicksand SemiBold"/>
                <a:cs typeface="Quicksand SemiBold"/>
                <a:sym typeface="Quicksand SemiBold"/>
              </a:rPr>
              <a:t> 5</a:t>
            </a:r>
          </a:p>
        </p:txBody>
      </p:sp>
      <p:sp>
        <p:nvSpPr>
          <p:cNvPr id="406" name="Google Shape;406;p43"/>
          <p:cNvSpPr txBox="1"/>
          <p:nvPr/>
        </p:nvSpPr>
        <p:spPr>
          <a:xfrm flipH="1">
            <a:off x="4647022" y="1709816"/>
            <a:ext cx="1812300" cy="319800"/>
          </a:xfrm>
          <a:prstGeom prst="rect">
            <a:avLst/>
          </a:prstGeom>
          <a:noFill/>
          <a:ln>
            <a:noFill/>
          </a:ln>
        </p:spPr>
        <p:txBody>
          <a:bodyPr spcFirstLastPara="1" wrap="square" lIns="91425" tIns="91425" rIns="91425" bIns="91425" anchor="t" anchorCtr="0">
            <a:noAutofit/>
          </a:bodyPr>
          <a:lstStyle/>
          <a:p>
            <a:pPr algn="ctr"/>
            <a:r>
              <a:rPr lang="en-GB" sz="1200" dirty="0" err="1">
                <a:solidFill>
                  <a:schemeClr val="dk1"/>
                </a:solidFill>
                <a:latin typeface="Quicksand Medium"/>
              </a:rPr>
              <a:t>É</a:t>
            </a:r>
            <a:r>
              <a:rPr lang="fr-FR" sz="1200" dirty="0">
                <a:solidFill>
                  <a:schemeClr val="dk1"/>
                </a:solidFill>
                <a:latin typeface="Quicksand Medium"/>
                <a:sym typeface="Quicksand Medium"/>
              </a:rPr>
              <a:t>valuation </a:t>
            </a:r>
            <a:r>
              <a:rPr lang="fr-FR" sz="1200" dirty="0">
                <a:solidFill>
                  <a:schemeClr val="dk1"/>
                </a:solidFill>
                <a:latin typeface="Quicksand Medium"/>
                <a:ea typeface="Quicksand Medium"/>
                <a:cs typeface="Quicksand Medium"/>
                <a:sym typeface="Quicksand Medium"/>
              </a:rPr>
              <a:t>des modèles</a:t>
            </a:r>
            <a:endParaRPr lang="fr-FR" sz="1200" dirty="0">
              <a:solidFill>
                <a:srgbClr val="FF0000"/>
              </a:solidFill>
            </a:endParaRP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
        <p:nvSpPr>
          <p:cNvPr id="407" name="Google Shape;407;p43"/>
          <p:cNvSpPr txBox="1"/>
          <p:nvPr/>
        </p:nvSpPr>
        <p:spPr>
          <a:xfrm flipH="1">
            <a:off x="6559645" y="454504"/>
            <a:ext cx="1887920" cy="599103"/>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dirty="0" err="1">
                <a:solidFill>
                  <a:schemeClr val="bg1"/>
                </a:solidFill>
                <a:latin typeface="Quicksand SemiBold"/>
                <a:ea typeface="Quicksand SemiBold"/>
                <a:cs typeface="Quicksand SemiBold"/>
                <a:sym typeface="Quicksand SemiBold"/>
              </a:rPr>
              <a:t>É</a:t>
            </a:r>
            <a:r>
              <a:rPr lang="en" dirty="0">
                <a:solidFill>
                  <a:schemeClr val="bg1"/>
                </a:solidFill>
                <a:latin typeface="Quicksand SemiBold"/>
                <a:ea typeface="Quicksand SemiBold"/>
                <a:cs typeface="Quicksand SemiBold"/>
                <a:sym typeface="Quicksand SemiBold"/>
              </a:rPr>
              <a:t>valuation des </a:t>
            </a:r>
            <a:r>
              <a:rPr lang="en" dirty="0" err="1">
                <a:solidFill>
                  <a:schemeClr val="bg1"/>
                </a:solidFill>
                <a:latin typeface="Quicksand SemiBold"/>
                <a:ea typeface="Quicksand SemiBold"/>
                <a:cs typeface="Quicksand SemiBold"/>
                <a:sym typeface="Quicksand SemiBold"/>
              </a:rPr>
              <a:t>modèles</a:t>
            </a:r>
            <a:r>
              <a:rPr lang="en" dirty="0">
                <a:solidFill>
                  <a:schemeClr val="bg1"/>
                </a:solidFill>
                <a:latin typeface="Quicksand SemiBold"/>
                <a:ea typeface="Quicksand SemiBold"/>
                <a:cs typeface="Quicksand SemiBold"/>
                <a:sym typeface="Quicksand SemiBold"/>
              </a:rPr>
              <a:t>, conclusion</a:t>
            </a:r>
            <a:endParaRPr dirty="0">
              <a:solidFill>
                <a:schemeClr val="dk2"/>
              </a:solidFill>
              <a:latin typeface="Quicksand SemiBold"/>
              <a:ea typeface="Quicksand SemiBold"/>
              <a:cs typeface="Quicksand SemiBold"/>
              <a:sym typeface="Quicksand SemiBold"/>
            </a:endParaRPr>
          </a:p>
        </p:txBody>
      </p:sp>
      <p:sp>
        <p:nvSpPr>
          <p:cNvPr id="408" name="Google Shape;408;p43"/>
          <p:cNvSpPr txBox="1"/>
          <p:nvPr/>
        </p:nvSpPr>
        <p:spPr>
          <a:xfrm flipH="1">
            <a:off x="6635265" y="1497008"/>
            <a:ext cx="1812300" cy="94910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200" dirty="0">
                <a:solidFill>
                  <a:schemeClr val="dk1"/>
                </a:solidFill>
                <a:latin typeface="Quicksand SemiBold"/>
                <a:ea typeface="Quicksand SemiBold"/>
                <a:cs typeface="Quicksand SemiBold"/>
                <a:sym typeface="Quicksand SemiBold"/>
              </a:rPr>
              <a:t>Discussion des implications pour les </a:t>
            </a:r>
            <a:r>
              <a:rPr lang="en-GB" sz="1200" dirty="0" err="1">
                <a:solidFill>
                  <a:schemeClr val="dk1"/>
                </a:solidFill>
                <a:latin typeface="Quicksand SemiBold"/>
                <a:ea typeface="Quicksand SemiBold"/>
                <a:cs typeface="Quicksand SemiBold"/>
                <a:sym typeface="Quicksand SemiBold"/>
              </a:rPr>
              <a:t>prédictions</a:t>
            </a:r>
            <a:r>
              <a:rPr lang="en-GB" sz="1200" dirty="0">
                <a:solidFill>
                  <a:schemeClr val="dk1"/>
                </a:solidFill>
                <a:latin typeface="Quicksand SemiBold"/>
                <a:ea typeface="Quicksand SemiBold"/>
                <a:cs typeface="Quicksand SemiBold"/>
                <a:sym typeface="Quicksand SemiBold"/>
              </a:rPr>
              <a:t> de CO2 et de </a:t>
            </a:r>
            <a:r>
              <a:rPr lang="en-GB" sz="1200" dirty="0" err="1">
                <a:solidFill>
                  <a:schemeClr val="dk1"/>
                </a:solidFill>
                <a:latin typeface="Quicksand SemiBold"/>
                <a:ea typeface="Quicksand SemiBold"/>
                <a:cs typeface="Quicksand SemiBold"/>
                <a:sym typeface="Quicksand SemiBold"/>
              </a:rPr>
              <a:t>consommation</a:t>
            </a:r>
            <a:r>
              <a:rPr lang="en-GB" sz="1200" dirty="0">
                <a:solidFill>
                  <a:schemeClr val="dk1"/>
                </a:solidFill>
                <a:latin typeface="Quicksand SemiBold"/>
                <a:ea typeface="Quicksand SemiBold"/>
                <a:cs typeface="Quicksand SemiBold"/>
                <a:sym typeface="Quicksand SemiBold"/>
              </a:rPr>
              <a:t> </a:t>
            </a:r>
            <a:r>
              <a:rPr lang="en-GB" sz="1200" dirty="0" err="1">
                <a:solidFill>
                  <a:schemeClr val="dk1"/>
                </a:solidFill>
                <a:latin typeface="Quicksand SemiBold"/>
                <a:ea typeface="Quicksand SemiBold"/>
                <a:cs typeface="Quicksand SemiBold"/>
                <a:sym typeface="Quicksand SemiBold"/>
              </a:rPr>
              <a:t>d'énergie</a:t>
            </a:r>
            <a:endParaRPr lang="fr-FR" sz="1200" dirty="0">
              <a:solidFill>
                <a:schemeClr val="dk1"/>
              </a:solidFill>
              <a:latin typeface="Quicksand Medium"/>
              <a:ea typeface="Quicksand Medium"/>
              <a:cs typeface="Quicksand Medium"/>
              <a:sym typeface="Quicksand Medium"/>
            </a:endParaRPr>
          </a:p>
        </p:txBody>
      </p:sp>
      <p:sp>
        <p:nvSpPr>
          <p:cNvPr id="409" name="Google Shape;409;p43"/>
          <p:cNvSpPr txBox="1"/>
          <p:nvPr/>
        </p:nvSpPr>
        <p:spPr>
          <a:xfrm flipH="1">
            <a:off x="17019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a:solidFill>
                  <a:schemeClr val="dk1"/>
                </a:solidFill>
                <a:latin typeface="Quicksand SemiBold"/>
                <a:ea typeface="Quicksand SemiBold"/>
                <a:cs typeface="Quicksand SemiBold"/>
                <a:sym typeface="Quicksand SemiBold"/>
              </a:rPr>
              <a:t>Step</a:t>
            </a:r>
            <a:r>
              <a:rPr lang="en" sz="3500">
                <a:solidFill>
                  <a:schemeClr val="dk2"/>
                </a:solidFill>
                <a:latin typeface="Quicksand SemiBold"/>
                <a:ea typeface="Quicksand SemiBold"/>
                <a:cs typeface="Quicksand SemiBold"/>
                <a:sym typeface="Quicksand SemiBold"/>
              </a:rPr>
              <a:t> 2</a:t>
            </a:r>
            <a:endParaRPr sz="3500">
              <a:solidFill>
                <a:schemeClr val="dk2"/>
              </a:solidFill>
              <a:latin typeface="Quicksand SemiBold"/>
              <a:ea typeface="Quicksand SemiBold"/>
              <a:cs typeface="Quicksand SemiBold"/>
              <a:sym typeface="Quicksand SemiBold"/>
            </a:endParaRPr>
          </a:p>
        </p:txBody>
      </p:sp>
      <p:sp>
        <p:nvSpPr>
          <p:cNvPr id="410" name="Google Shape;410;p43"/>
          <p:cNvSpPr txBox="1"/>
          <p:nvPr/>
        </p:nvSpPr>
        <p:spPr>
          <a:xfrm flipH="1">
            <a:off x="1025569" y="3854011"/>
            <a:ext cx="2488618"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rPr>
              <a:t>Nettoyage des données, gestion des </a:t>
            </a:r>
            <a:r>
              <a:rPr lang="fr-FR" sz="1200" dirty="0" err="1">
                <a:solidFill>
                  <a:schemeClr val="dk1"/>
                </a:solidFill>
                <a:latin typeface="Quicksand Medium"/>
              </a:rPr>
              <a:t>outliers</a:t>
            </a:r>
            <a:r>
              <a:rPr lang="fr-FR" sz="1200" dirty="0">
                <a:solidFill>
                  <a:schemeClr val="dk1"/>
                </a:solidFill>
                <a:latin typeface="Quicksand Medium"/>
              </a:rPr>
              <a:t>, </a:t>
            </a:r>
            <a:r>
              <a:rPr lang="en-US" sz="1200" dirty="0" err="1">
                <a:solidFill>
                  <a:schemeClr val="dk1"/>
                </a:solidFill>
                <a:latin typeface="Quicksand Medium"/>
              </a:rPr>
              <a:t>sélection</a:t>
            </a:r>
            <a:r>
              <a:rPr lang="en-US" sz="1200" dirty="0">
                <a:solidFill>
                  <a:schemeClr val="dk1"/>
                </a:solidFill>
                <a:latin typeface="Quicksand Medium"/>
              </a:rPr>
              <a:t> des </a:t>
            </a:r>
            <a:r>
              <a:rPr lang="en-US" sz="1200" dirty="0" err="1">
                <a:solidFill>
                  <a:schemeClr val="dk1"/>
                </a:solidFill>
                <a:latin typeface="Quicksand Medium"/>
              </a:rPr>
              <a:t>caractéristiques</a:t>
            </a:r>
            <a:endParaRPr sz="1200" dirty="0">
              <a:solidFill>
                <a:schemeClr val="dk1"/>
              </a:solidFill>
              <a:latin typeface="Quicksand Medium"/>
              <a:sym typeface="Quicksand Medium"/>
            </a:endParaRPr>
          </a:p>
        </p:txBody>
      </p:sp>
      <p:sp>
        <p:nvSpPr>
          <p:cNvPr id="411" name="Google Shape;411;p43"/>
          <p:cNvSpPr txBox="1"/>
          <p:nvPr/>
        </p:nvSpPr>
        <p:spPr>
          <a:xfrm flipH="1">
            <a:off x="36658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412" name="Google Shape;412;p43"/>
          <p:cNvSpPr txBox="1"/>
          <p:nvPr/>
        </p:nvSpPr>
        <p:spPr>
          <a:xfrm flipH="1">
            <a:off x="2492787" y="4388375"/>
            <a:ext cx="4006784" cy="319800"/>
          </a:xfrm>
          <a:prstGeom prst="rect">
            <a:avLst/>
          </a:prstGeom>
          <a:noFill/>
          <a:ln>
            <a:noFill/>
          </a:ln>
        </p:spPr>
        <p:txBody>
          <a:bodyPr spcFirstLastPara="1" wrap="square" lIns="91425" tIns="91425" rIns="91425" bIns="91425" anchor="t" anchorCtr="0">
            <a:noAutofit/>
          </a:bodyPr>
          <a:lstStyle/>
          <a:p>
            <a:pPr algn="ctr"/>
            <a:endParaRPr lang="fr-FR" sz="1600" dirty="0">
              <a:solidFill>
                <a:schemeClr val="dk1"/>
              </a:solidFill>
              <a:latin typeface="Quicksand Medium"/>
            </a:endParaRPr>
          </a:p>
          <a:p>
            <a:pPr algn="ctr"/>
            <a:r>
              <a:rPr lang="fr-FR" sz="1600" dirty="0">
                <a:solidFill>
                  <a:schemeClr val="bg1"/>
                </a:solidFill>
                <a:latin typeface="Quicksand SemiBold"/>
                <a:ea typeface="Quicksand SemiBold"/>
                <a:cs typeface="Quicksand SemiBold"/>
                <a:sym typeface="Quicksand SemiBold"/>
              </a:rPr>
              <a:t>Pipeline de modélisation</a:t>
            </a:r>
            <a:endParaRPr lang="fr-FR" sz="1600" dirty="0">
              <a:solidFill>
                <a:schemeClr val="bg1"/>
              </a:solidFill>
              <a:latin typeface="Quicksand Medium"/>
              <a:sym typeface="Quicksand Medium"/>
            </a:endParaRPr>
          </a:p>
          <a:p>
            <a:pPr marL="0" lvl="0" indent="0" algn="ctr" rtl="0">
              <a:spcBef>
                <a:spcPts val="0"/>
              </a:spcBef>
              <a:spcAft>
                <a:spcPts val="0"/>
              </a:spcAft>
              <a:buNone/>
            </a:pPr>
            <a:endParaRPr sz="1600" dirty="0">
              <a:solidFill>
                <a:schemeClr val="dk1"/>
              </a:solidFill>
              <a:latin typeface="Quicksand Medium"/>
              <a:ea typeface="Quicksand Medium"/>
              <a:cs typeface="Quicksand Medium"/>
              <a:sym typeface="Quicksand Medium"/>
            </a:endParaRPr>
          </a:p>
        </p:txBody>
      </p:sp>
      <p:sp>
        <p:nvSpPr>
          <p:cNvPr id="413" name="Google Shape;413;p43"/>
          <p:cNvSpPr txBox="1"/>
          <p:nvPr/>
        </p:nvSpPr>
        <p:spPr>
          <a:xfrm flipH="1">
            <a:off x="56297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414" name="Google Shape;414;p43"/>
          <p:cNvSpPr txBox="1"/>
          <p:nvPr/>
        </p:nvSpPr>
        <p:spPr>
          <a:xfrm flipH="1">
            <a:off x="5609391" y="3907815"/>
            <a:ext cx="2508998"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Intérêt de l’</a:t>
            </a:r>
            <a:r>
              <a:rPr lang="fr-FR" sz="1200" dirty="0" err="1">
                <a:solidFill>
                  <a:schemeClr val="dk1"/>
                </a:solidFill>
                <a:latin typeface="Quicksand Medium"/>
              </a:rPr>
              <a:t>energieSTARScore</a:t>
            </a:r>
            <a:endParaRPr lang="fr-FR" sz="1200" dirty="0">
              <a:solidFill>
                <a:srgbClr val="FF0000"/>
              </a:solidFill>
            </a:endParaRP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415" name="Google Shape;415;p43"/>
          <p:cNvSpPr/>
          <p:nvPr/>
        </p:nvSpPr>
        <p:spPr>
          <a:xfrm>
            <a:off x="14921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3"/>
          <p:cNvSpPr/>
          <p:nvPr/>
        </p:nvSpPr>
        <p:spPr>
          <a:xfrm>
            <a:off x="24741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34560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443802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419" name="Google Shape;419;p43"/>
          <p:cNvSpPr/>
          <p:nvPr/>
        </p:nvSpPr>
        <p:spPr>
          <a:xfrm>
            <a:off x="54199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3"/>
          <p:cNvSpPr/>
          <p:nvPr/>
        </p:nvSpPr>
        <p:spPr>
          <a:xfrm>
            <a:off x="64019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3"/>
          <p:cNvSpPr/>
          <p:nvPr/>
        </p:nvSpPr>
        <p:spPr>
          <a:xfrm>
            <a:off x="73838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22" name="Google Shape;422;p43"/>
          <p:cNvCxnSpPr>
            <a:cxnSpLocks/>
          </p:cNvCxnSpPr>
          <p:nvPr/>
        </p:nvCxnSpPr>
        <p:spPr>
          <a:xfrm rot="10800000">
            <a:off x="1626129" y="24541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3" name="Google Shape;423;p43"/>
          <p:cNvCxnSpPr>
            <a:stCxn id="416" idx="4"/>
            <a:endCxn id="409" idx="0"/>
          </p:cNvCxnSpPr>
          <p:nvPr/>
        </p:nvCxnSpPr>
        <p:spPr>
          <a:xfrm>
            <a:off x="26080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4" name="Google Shape;424;p43"/>
          <p:cNvCxnSpPr>
            <a:cxnSpLocks/>
            <a:stCxn id="417" idx="0"/>
          </p:cNvCxnSpPr>
          <p:nvPr/>
        </p:nvCxnSpPr>
        <p:spPr>
          <a:xfrm flipV="1">
            <a:off x="3590029" y="2640724"/>
            <a:ext cx="0" cy="186600"/>
          </a:xfrm>
          <a:prstGeom prst="straightConnector1">
            <a:avLst/>
          </a:prstGeom>
          <a:noFill/>
          <a:ln w="19050" cap="flat" cmpd="sng">
            <a:solidFill>
              <a:schemeClr val="lt2"/>
            </a:solidFill>
            <a:prstDash val="solid"/>
            <a:round/>
            <a:headEnd type="none" w="med" len="med"/>
            <a:tailEnd type="oval" w="med" len="med"/>
          </a:ln>
        </p:spPr>
      </p:cxnSp>
      <p:cxnSp>
        <p:nvCxnSpPr>
          <p:cNvPr id="425" name="Google Shape;425;p43"/>
          <p:cNvCxnSpPr>
            <a:stCxn id="418" idx="4"/>
            <a:endCxn id="411" idx="0"/>
          </p:cNvCxnSpPr>
          <p:nvPr/>
        </p:nvCxnSpPr>
        <p:spPr>
          <a:xfrm>
            <a:off x="45719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6" name="Google Shape;426;p43"/>
          <p:cNvCxnSpPr>
            <a:stCxn id="420" idx="4"/>
            <a:endCxn id="413" idx="0"/>
          </p:cNvCxnSpPr>
          <p:nvPr/>
        </p:nvCxnSpPr>
        <p:spPr>
          <a:xfrm>
            <a:off x="65358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7" name="Google Shape;427;p43"/>
          <p:cNvCxnSpPr>
            <a:cxnSpLocks/>
          </p:cNvCxnSpPr>
          <p:nvPr/>
        </p:nvCxnSpPr>
        <p:spPr>
          <a:xfrm rot="10800000">
            <a:off x="5559455" y="2467570"/>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8" name="Google Shape;428;p43"/>
          <p:cNvCxnSpPr>
            <a:cxnSpLocks/>
            <a:stCxn id="421" idx="0"/>
          </p:cNvCxnSpPr>
          <p:nvPr/>
        </p:nvCxnSpPr>
        <p:spPr>
          <a:xfrm flipV="1">
            <a:off x="7517829" y="2640724"/>
            <a:ext cx="0" cy="186600"/>
          </a:xfrm>
          <a:prstGeom prst="straightConnector1">
            <a:avLst/>
          </a:prstGeom>
          <a:noFill/>
          <a:ln w="19050" cap="flat" cmpd="sng">
            <a:solidFill>
              <a:schemeClr val="lt2"/>
            </a:solidFill>
            <a:prstDash val="solid"/>
            <a:round/>
            <a:headEnd type="none" w="med" len="med"/>
            <a:tailEnd type="oval" w="med" len="med"/>
          </a:ln>
        </p:spPr>
      </p:cxnSp>
      <p:cxnSp>
        <p:nvCxnSpPr>
          <p:cNvPr id="429" name="Google Shape;429;p43"/>
          <p:cNvCxnSpPr>
            <a:stCxn id="415" idx="6"/>
            <a:endCxn id="416" idx="2"/>
          </p:cNvCxnSpPr>
          <p:nvPr/>
        </p:nvCxnSpPr>
        <p:spPr>
          <a:xfrm>
            <a:off x="17600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0" name="Google Shape;430;p43"/>
          <p:cNvCxnSpPr>
            <a:stCxn id="416" idx="6"/>
            <a:endCxn id="417" idx="2"/>
          </p:cNvCxnSpPr>
          <p:nvPr/>
        </p:nvCxnSpPr>
        <p:spPr>
          <a:xfrm>
            <a:off x="27420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1" name="Google Shape;431;p43"/>
          <p:cNvCxnSpPr>
            <a:stCxn id="417" idx="6"/>
            <a:endCxn id="418" idx="2"/>
          </p:cNvCxnSpPr>
          <p:nvPr/>
        </p:nvCxnSpPr>
        <p:spPr>
          <a:xfrm>
            <a:off x="37239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2" name="Google Shape;432;p43"/>
          <p:cNvCxnSpPr>
            <a:stCxn id="418" idx="6"/>
            <a:endCxn id="419" idx="2"/>
          </p:cNvCxnSpPr>
          <p:nvPr/>
        </p:nvCxnSpPr>
        <p:spPr>
          <a:xfrm>
            <a:off x="47059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3" name="Google Shape;433;p43"/>
          <p:cNvCxnSpPr>
            <a:stCxn id="419" idx="6"/>
            <a:endCxn id="420" idx="2"/>
          </p:cNvCxnSpPr>
          <p:nvPr/>
        </p:nvCxnSpPr>
        <p:spPr>
          <a:xfrm>
            <a:off x="56878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4" name="Google Shape;434;p43"/>
          <p:cNvCxnSpPr>
            <a:stCxn id="420" idx="6"/>
            <a:endCxn id="421" idx="2"/>
          </p:cNvCxnSpPr>
          <p:nvPr/>
        </p:nvCxnSpPr>
        <p:spPr>
          <a:xfrm>
            <a:off x="6669829" y="2961274"/>
            <a:ext cx="714000" cy="0"/>
          </a:xfrm>
          <a:prstGeom prst="straightConnector1">
            <a:avLst/>
          </a:prstGeom>
          <a:noFill/>
          <a:ln w="19050" cap="flat" cmpd="sng">
            <a:solidFill>
              <a:schemeClr val="lt2"/>
            </a:solidFill>
            <a:prstDash val="solid"/>
            <a:round/>
            <a:headEnd type="none" w="med" len="med"/>
            <a:tailEnd type="none" w="med" len="med"/>
          </a:ln>
        </p:spPr>
      </p:cxnSp>
      <p:sp>
        <p:nvSpPr>
          <p:cNvPr id="5" name="Google Shape;404;p43">
            <a:extLst>
              <a:ext uri="{FF2B5EF4-FFF2-40B4-BE49-F238E27FC236}">
                <a16:creationId xmlns:a16="http://schemas.microsoft.com/office/drawing/2014/main" id="{FFCAE693-C94E-A477-482F-7246ABE92BBF}"/>
              </a:ext>
            </a:extLst>
          </p:cNvPr>
          <p:cNvSpPr txBox="1"/>
          <p:nvPr/>
        </p:nvSpPr>
        <p:spPr>
          <a:xfrm flipH="1">
            <a:off x="3514187" y="3951279"/>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Feature</a:t>
            </a:r>
            <a:r>
              <a:rPr lang="fr-FR" sz="1200" dirty="0">
                <a:solidFill>
                  <a:schemeClr val="dk1"/>
                </a:solidFill>
                <a:latin typeface="Quicksand Medium"/>
                <a:sym typeface="Quicksand Medium"/>
              </a:rPr>
              <a:t> engineering</a:t>
            </a:r>
            <a:endParaRPr sz="1200" dirty="0">
              <a:solidFill>
                <a:schemeClr val="dk1"/>
              </a:solidFill>
              <a:latin typeface="Quicksand Medium"/>
              <a:sym typeface="Quicksand Medium"/>
            </a:endParaRPr>
          </a:p>
        </p:txBody>
      </p:sp>
      <p:sp>
        <p:nvSpPr>
          <p:cNvPr id="7" name="TextBox 6">
            <a:extLst>
              <a:ext uri="{FF2B5EF4-FFF2-40B4-BE49-F238E27FC236}">
                <a16:creationId xmlns:a16="http://schemas.microsoft.com/office/drawing/2014/main" id="{902422AE-91BB-9F24-06DD-51EE9BB05F54}"/>
              </a:ext>
            </a:extLst>
          </p:cNvPr>
          <p:cNvSpPr txBox="1"/>
          <p:nvPr/>
        </p:nvSpPr>
        <p:spPr>
          <a:xfrm>
            <a:off x="1192840" y="1615730"/>
            <a:ext cx="1368897" cy="430887"/>
          </a:xfrm>
          <a:prstGeom prst="rect">
            <a:avLst/>
          </a:prstGeom>
          <a:noFill/>
        </p:spPr>
        <p:txBody>
          <a:bodyPr wrap="square">
            <a:spAutoFit/>
          </a:bodyPr>
          <a:lstStyle/>
          <a:p>
            <a:r>
              <a:rPr lang="en" sz="2200" dirty="0">
                <a:solidFill>
                  <a:schemeClr val="dk1"/>
                </a:solidFill>
                <a:latin typeface="Quicksand SemiBold"/>
                <a:ea typeface="Quicksand SemiBold"/>
                <a:cs typeface="Quicksand SemiBold"/>
                <a:sym typeface="Quicksand SemiBold"/>
              </a:rPr>
              <a:t>Step</a:t>
            </a:r>
            <a:r>
              <a:rPr lang="en" sz="2200" dirty="0">
                <a:solidFill>
                  <a:schemeClr val="dk2"/>
                </a:solidFill>
                <a:latin typeface="Quicksand SemiBold"/>
                <a:ea typeface="Quicksand SemiBold"/>
                <a:cs typeface="Quicksand SemiBold"/>
                <a:sym typeface="Quicksand SemiBold"/>
              </a:rPr>
              <a:t> 1</a:t>
            </a:r>
            <a:endParaRPr lang="en-FR" sz="2200" dirty="0"/>
          </a:p>
        </p:txBody>
      </p:sp>
      <p:sp>
        <p:nvSpPr>
          <p:cNvPr id="17" name="Google Shape;405;p43">
            <a:extLst>
              <a:ext uri="{FF2B5EF4-FFF2-40B4-BE49-F238E27FC236}">
                <a16:creationId xmlns:a16="http://schemas.microsoft.com/office/drawing/2014/main" id="{F0E0C2E9-1736-010C-EFAF-0FEEC3A46E4C}"/>
              </a:ext>
            </a:extLst>
          </p:cNvPr>
          <p:cNvSpPr txBox="1"/>
          <p:nvPr/>
        </p:nvSpPr>
        <p:spPr>
          <a:xfrm flipH="1">
            <a:off x="6665776" y="1128753"/>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200" dirty="0">
                <a:solidFill>
                  <a:schemeClr val="dk1"/>
                </a:solidFill>
                <a:latin typeface="Quicksand SemiBold"/>
                <a:ea typeface="Quicksand SemiBold"/>
                <a:cs typeface="Quicksand SemiBold"/>
                <a:sym typeface="Quicksand SemiBold"/>
              </a:rPr>
              <a:t>Step</a:t>
            </a:r>
            <a:r>
              <a:rPr lang="en-GB" sz="3500" dirty="0">
                <a:solidFill>
                  <a:schemeClr val="dk2"/>
                </a:solidFill>
                <a:latin typeface="Quicksand SemiBold"/>
                <a:ea typeface="Quicksand SemiBold"/>
                <a:cs typeface="Quicksand SemiBold"/>
                <a:sym typeface="Quicksand SemiBold"/>
              </a:rPr>
              <a:t> 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5B0523EF-6664-9EF9-D82F-873F41C50DAE}"/>
              </a:ext>
            </a:extLst>
          </p:cNvPr>
          <p:cNvPicPr>
            <a:picLocks noChangeAspect="1"/>
          </p:cNvPicPr>
          <p:nvPr/>
        </p:nvPicPr>
        <p:blipFill>
          <a:blip r:embed="rId3"/>
          <a:stretch>
            <a:fillRect/>
          </a:stretch>
        </p:blipFill>
        <p:spPr>
          <a:xfrm>
            <a:off x="6785706" y="774866"/>
            <a:ext cx="2301362" cy="4313838"/>
          </a:xfrm>
          <a:prstGeom prst="rect">
            <a:avLst/>
          </a:prstGeom>
        </p:spPr>
      </p:pic>
      <p:sp>
        <p:nvSpPr>
          <p:cNvPr id="39" name="Google Shape;7023;p57">
            <a:extLst>
              <a:ext uri="{FF2B5EF4-FFF2-40B4-BE49-F238E27FC236}">
                <a16:creationId xmlns:a16="http://schemas.microsoft.com/office/drawing/2014/main" id="{9BD334F6-3C17-6F5F-F732-8EBBB39E9227}"/>
              </a:ext>
            </a:extLst>
          </p:cNvPr>
          <p:cNvSpPr/>
          <p:nvPr/>
        </p:nvSpPr>
        <p:spPr>
          <a:xfrm>
            <a:off x="5271477" y="1423873"/>
            <a:ext cx="1651969" cy="165196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chemeClr val="tx2"/>
          </a:solidFill>
          <a:ln w="19050"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031;p57">
            <a:extLst>
              <a:ext uri="{FF2B5EF4-FFF2-40B4-BE49-F238E27FC236}">
                <a16:creationId xmlns:a16="http://schemas.microsoft.com/office/drawing/2014/main" id="{4CB0C965-AAF8-4B07-161E-7C1EF8FE9C71}"/>
              </a:ext>
            </a:extLst>
          </p:cNvPr>
          <p:cNvSpPr/>
          <p:nvPr/>
        </p:nvSpPr>
        <p:spPr>
          <a:xfrm>
            <a:off x="161903" y="3076844"/>
            <a:ext cx="438011" cy="438010"/>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435C71"/>
          </a:solidFill>
          <a:ln w="19050" cap="flat" cmpd="sng">
            <a:solidFill>
              <a:srgbClr val="435C7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33" name="Google Shape;7031;p57">
            <a:extLst>
              <a:ext uri="{FF2B5EF4-FFF2-40B4-BE49-F238E27FC236}">
                <a16:creationId xmlns:a16="http://schemas.microsoft.com/office/drawing/2014/main" id="{243A16F9-A45A-8FC2-5D69-EBBFBA6D50F5}"/>
              </a:ext>
            </a:extLst>
          </p:cNvPr>
          <p:cNvSpPr/>
          <p:nvPr/>
        </p:nvSpPr>
        <p:spPr>
          <a:xfrm>
            <a:off x="147539" y="2451441"/>
            <a:ext cx="438011" cy="438010"/>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4" name="Google Shape;401;p43">
            <a:extLst>
              <a:ext uri="{FF2B5EF4-FFF2-40B4-BE49-F238E27FC236}">
                <a16:creationId xmlns:a16="http://schemas.microsoft.com/office/drawing/2014/main" id="{5A80446C-6FA3-E013-A06A-374AD4BD1DAC}"/>
              </a:ext>
            </a:extLst>
          </p:cNvPr>
          <p:cNvSpPr txBox="1"/>
          <p:nvPr/>
        </p:nvSpPr>
        <p:spPr>
          <a:xfrm flipH="1">
            <a:off x="48907" y="20216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1</a:t>
            </a:r>
            <a:endParaRPr sz="3500" dirty="0">
              <a:solidFill>
                <a:schemeClr val="dk2"/>
              </a:solidFill>
              <a:latin typeface="Quicksand SemiBold"/>
              <a:ea typeface="Quicksand SemiBold"/>
              <a:cs typeface="Quicksand SemiBold"/>
              <a:sym typeface="Quicksand SemiBold"/>
            </a:endParaRPr>
          </a:p>
        </p:txBody>
      </p:sp>
      <p:sp>
        <p:nvSpPr>
          <p:cNvPr id="5" name="Google Shape;402;p43">
            <a:extLst>
              <a:ext uri="{FF2B5EF4-FFF2-40B4-BE49-F238E27FC236}">
                <a16:creationId xmlns:a16="http://schemas.microsoft.com/office/drawing/2014/main" id="{F38CB365-1851-8D12-2A71-13261D1D9E0E}"/>
              </a:ext>
            </a:extLst>
          </p:cNvPr>
          <p:cNvSpPr txBox="1"/>
          <p:nvPr/>
        </p:nvSpPr>
        <p:spPr>
          <a:xfrm flipH="1">
            <a:off x="48907" y="631111"/>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Analyse exploratoire des données (EDA)</a:t>
            </a:r>
            <a:endParaRPr sz="1200" dirty="0">
              <a:solidFill>
                <a:schemeClr val="dk1"/>
              </a:solidFill>
              <a:latin typeface="Quicksand Medium"/>
              <a:ea typeface="Quicksand Medium"/>
              <a:cs typeface="Quicksand Medium"/>
              <a:sym typeface="Quicksand Medium"/>
            </a:endParaRPr>
          </a:p>
        </p:txBody>
      </p:sp>
      <p:sp>
        <p:nvSpPr>
          <p:cNvPr id="6" name="ZoneTexte 5">
            <a:extLst>
              <a:ext uri="{FF2B5EF4-FFF2-40B4-BE49-F238E27FC236}">
                <a16:creationId xmlns:a16="http://schemas.microsoft.com/office/drawing/2014/main" id="{CF2F80C1-2419-1729-0D39-A35504D8C2A4}"/>
              </a:ext>
            </a:extLst>
          </p:cNvPr>
          <p:cNvSpPr txBox="1"/>
          <p:nvPr/>
        </p:nvSpPr>
        <p:spPr>
          <a:xfrm>
            <a:off x="1637659" y="1571075"/>
            <a:ext cx="4572000" cy="954107"/>
          </a:xfrm>
          <a:prstGeom prst="rect">
            <a:avLst/>
          </a:prstGeom>
          <a:noFill/>
        </p:spPr>
        <p:txBody>
          <a:bodyPr wrap="square">
            <a:spAutoFit/>
          </a:bodyPr>
          <a:lstStyle/>
          <a:p>
            <a:endParaRPr lang="fr-FR" dirty="0"/>
          </a:p>
          <a:p>
            <a:endParaRPr lang="fr-FR" dirty="0"/>
          </a:p>
          <a:p>
            <a:endParaRPr lang="fr-FR" dirty="0"/>
          </a:p>
          <a:p>
            <a:r>
              <a:rPr lang="fr-FR" b="1" dirty="0"/>
              <a:t>46 </a:t>
            </a:r>
            <a:r>
              <a:rPr lang="fr-FR" dirty="0"/>
              <a:t>variables</a:t>
            </a:r>
          </a:p>
        </p:txBody>
      </p:sp>
      <p:sp>
        <p:nvSpPr>
          <p:cNvPr id="7" name="ZoneTexte 6">
            <a:extLst>
              <a:ext uri="{FF2B5EF4-FFF2-40B4-BE49-F238E27FC236}">
                <a16:creationId xmlns:a16="http://schemas.microsoft.com/office/drawing/2014/main" id="{A0908BF7-FACC-444E-4FDB-4B7ABE9BAB04}"/>
              </a:ext>
            </a:extLst>
          </p:cNvPr>
          <p:cNvSpPr txBox="1"/>
          <p:nvPr/>
        </p:nvSpPr>
        <p:spPr>
          <a:xfrm>
            <a:off x="3402091" y="1924018"/>
            <a:ext cx="1434243" cy="1384995"/>
          </a:xfrm>
          <a:prstGeom prst="rect">
            <a:avLst/>
          </a:prstGeom>
          <a:noFill/>
        </p:spPr>
        <p:txBody>
          <a:bodyPr wrap="square" rtlCol="0">
            <a:spAutoFit/>
          </a:bodyPr>
          <a:lstStyle/>
          <a:p>
            <a:pPr algn="ctr"/>
            <a:r>
              <a:rPr lang="fr-FR" b="1" dirty="0"/>
              <a:t>aucun doublons</a:t>
            </a:r>
          </a:p>
          <a:p>
            <a:pPr algn="ctr"/>
            <a:endParaRPr lang="fr-FR" b="1" dirty="0"/>
          </a:p>
          <a:p>
            <a:pPr algn="ctr"/>
            <a:endParaRPr lang="fr-FR" b="1" dirty="0"/>
          </a:p>
          <a:p>
            <a:pPr algn="ctr"/>
            <a:endParaRPr lang="fr-FR" b="1" dirty="0"/>
          </a:p>
          <a:p>
            <a:pPr algn="ctr"/>
            <a:endParaRPr lang="fr-FR" b="1" dirty="0"/>
          </a:p>
        </p:txBody>
      </p:sp>
      <p:grpSp>
        <p:nvGrpSpPr>
          <p:cNvPr id="8" name="Google Shape;7017;p57">
            <a:extLst>
              <a:ext uri="{FF2B5EF4-FFF2-40B4-BE49-F238E27FC236}">
                <a16:creationId xmlns:a16="http://schemas.microsoft.com/office/drawing/2014/main" id="{F48CD80B-CB2C-0A65-57B8-85FD4D17FDD2}"/>
              </a:ext>
            </a:extLst>
          </p:cNvPr>
          <p:cNvGrpSpPr/>
          <p:nvPr/>
        </p:nvGrpSpPr>
        <p:grpSpPr>
          <a:xfrm>
            <a:off x="1159640" y="1231521"/>
            <a:ext cx="5916407" cy="2465442"/>
            <a:chOff x="5194708" y="3484366"/>
            <a:chExt cx="2369266" cy="987304"/>
          </a:xfrm>
        </p:grpSpPr>
        <p:grpSp>
          <p:nvGrpSpPr>
            <p:cNvPr id="10" name="Google Shape;7022;p57">
              <a:extLst>
                <a:ext uri="{FF2B5EF4-FFF2-40B4-BE49-F238E27FC236}">
                  <a16:creationId xmlns:a16="http://schemas.microsoft.com/office/drawing/2014/main" id="{9132E625-5D38-05D6-B1CA-530DDA542132}"/>
                </a:ext>
              </a:extLst>
            </p:cNvPr>
            <p:cNvGrpSpPr/>
            <p:nvPr/>
          </p:nvGrpSpPr>
          <p:grpSpPr>
            <a:xfrm>
              <a:off x="6752546" y="3484366"/>
              <a:ext cx="811428" cy="987304"/>
              <a:chOff x="2332275" y="1617275"/>
              <a:chExt cx="1090775" cy="1327200"/>
            </a:xfrm>
          </p:grpSpPr>
          <p:sp>
            <p:nvSpPr>
              <p:cNvPr id="19" name="Google Shape;7023;p57">
                <a:extLst>
                  <a:ext uri="{FF2B5EF4-FFF2-40B4-BE49-F238E27FC236}">
                    <a16:creationId xmlns:a16="http://schemas.microsoft.com/office/drawing/2014/main" id="{D253F86B-B94A-A85E-B461-56DC1AB33123}"/>
                  </a:ext>
                </a:extLst>
              </p:cNvPr>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24;p57">
                <a:extLst>
                  <a:ext uri="{FF2B5EF4-FFF2-40B4-BE49-F238E27FC236}">
                    <a16:creationId xmlns:a16="http://schemas.microsoft.com/office/drawing/2014/main" id="{389AF92D-B190-3A0C-A638-2A4AA8D91080}"/>
                  </a:ext>
                </a:extLst>
              </p:cNvPr>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25;p57">
                <a:extLst>
                  <a:ext uri="{FF2B5EF4-FFF2-40B4-BE49-F238E27FC236}">
                    <a16:creationId xmlns:a16="http://schemas.microsoft.com/office/drawing/2014/main" id="{95E84971-5333-CC64-1529-80EBDDAB0EC3}"/>
                  </a:ext>
                </a:extLst>
              </p:cNvPr>
              <p:cNvSpPr/>
              <p:nvPr/>
            </p:nvSpPr>
            <p:spPr>
              <a:xfrm>
                <a:off x="2727924"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7026;p57">
              <a:extLst>
                <a:ext uri="{FF2B5EF4-FFF2-40B4-BE49-F238E27FC236}">
                  <a16:creationId xmlns:a16="http://schemas.microsoft.com/office/drawing/2014/main" id="{5DF3CA7A-877A-C6BF-0CEE-F15B7B778A3D}"/>
                </a:ext>
              </a:extLst>
            </p:cNvPr>
            <p:cNvGrpSpPr/>
            <p:nvPr/>
          </p:nvGrpSpPr>
          <p:grpSpPr>
            <a:xfrm>
              <a:off x="5973664" y="3484366"/>
              <a:ext cx="811335" cy="987304"/>
              <a:chOff x="1285250" y="1617275"/>
              <a:chExt cx="1090650" cy="1327200"/>
            </a:xfrm>
          </p:grpSpPr>
          <p:sp>
            <p:nvSpPr>
              <p:cNvPr id="16" name="Google Shape;7027;p57">
                <a:extLst>
                  <a:ext uri="{FF2B5EF4-FFF2-40B4-BE49-F238E27FC236}">
                    <a16:creationId xmlns:a16="http://schemas.microsoft.com/office/drawing/2014/main" id="{2672C549-1733-A789-F7CC-4B7ACEBDDBCF}"/>
                  </a:ext>
                </a:extLst>
              </p:cNvPr>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w="19050" cap="flat" cmpd="sng">
                <a:solidFill>
                  <a:srgbClr val="445D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028;p57">
                <a:extLst>
                  <a:ext uri="{FF2B5EF4-FFF2-40B4-BE49-F238E27FC236}">
                    <a16:creationId xmlns:a16="http://schemas.microsoft.com/office/drawing/2014/main" id="{ED4E4D51-EFFF-EFB3-5BFE-DA43CE0A307E}"/>
                  </a:ext>
                </a:extLst>
              </p:cNvPr>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29;p57">
                <a:extLst>
                  <a:ext uri="{FF2B5EF4-FFF2-40B4-BE49-F238E27FC236}">
                    <a16:creationId xmlns:a16="http://schemas.microsoft.com/office/drawing/2014/main" id="{2DF06288-9363-C8C0-2629-29A0536600CA}"/>
                  </a:ext>
                </a:extLst>
              </p:cNvPr>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7030;p57">
              <a:extLst>
                <a:ext uri="{FF2B5EF4-FFF2-40B4-BE49-F238E27FC236}">
                  <a16:creationId xmlns:a16="http://schemas.microsoft.com/office/drawing/2014/main" id="{EFEC8A9C-D701-D720-23CC-1C18CCDAB7C9}"/>
                </a:ext>
              </a:extLst>
            </p:cNvPr>
            <p:cNvGrpSpPr/>
            <p:nvPr/>
          </p:nvGrpSpPr>
          <p:grpSpPr>
            <a:xfrm>
              <a:off x="5194708" y="3484366"/>
              <a:ext cx="811409" cy="987304"/>
              <a:chOff x="238125" y="1617275"/>
              <a:chExt cx="1090750" cy="1327200"/>
            </a:xfrm>
          </p:grpSpPr>
          <p:sp>
            <p:nvSpPr>
              <p:cNvPr id="13" name="Google Shape;7031;p57">
                <a:extLst>
                  <a:ext uri="{FF2B5EF4-FFF2-40B4-BE49-F238E27FC236}">
                    <a16:creationId xmlns:a16="http://schemas.microsoft.com/office/drawing/2014/main" id="{9E080707-4B2D-68FA-33CF-4948A9546FDC}"/>
                  </a:ext>
                </a:extLst>
              </p:cNvPr>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w="19050"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fr-FR" dirty="0"/>
              </a:p>
            </p:txBody>
          </p:sp>
          <p:sp>
            <p:nvSpPr>
              <p:cNvPr id="14" name="Google Shape;7032;p57">
                <a:extLst>
                  <a:ext uri="{FF2B5EF4-FFF2-40B4-BE49-F238E27FC236}">
                    <a16:creationId xmlns:a16="http://schemas.microsoft.com/office/drawing/2014/main" id="{4E9D7CCB-AA9E-2B93-E9AB-06930FF030A4}"/>
                  </a:ext>
                </a:extLst>
              </p:cNvPr>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033;p57">
                <a:extLst>
                  <a:ext uri="{FF2B5EF4-FFF2-40B4-BE49-F238E27FC236}">
                    <a16:creationId xmlns:a16="http://schemas.microsoft.com/office/drawing/2014/main" id="{FA079E24-05C0-5A3E-CEF8-1E5180CCDD04}"/>
                  </a:ext>
                </a:extLst>
              </p:cNvPr>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 name="ZoneTexte 25">
            <a:extLst>
              <a:ext uri="{FF2B5EF4-FFF2-40B4-BE49-F238E27FC236}">
                <a16:creationId xmlns:a16="http://schemas.microsoft.com/office/drawing/2014/main" id="{BB4FC9E5-79DF-0829-6C3E-731DC577F6A5}"/>
              </a:ext>
            </a:extLst>
          </p:cNvPr>
          <p:cNvSpPr txBox="1"/>
          <p:nvPr/>
        </p:nvSpPr>
        <p:spPr>
          <a:xfrm>
            <a:off x="1662170" y="1933936"/>
            <a:ext cx="4572000" cy="307777"/>
          </a:xfrm>
          <a:prstGeom prst="rect">
            <a:avLst/>
          </a:prstGeom>
          <a:noFill/>
        </p:spPr>
        <p:txBody>
          <a:bodyPr wrap="square">
            <a:spAutoFit/>
          </a:bodyPr>
          <a:lstStyle/>
          <a:p>
            <a:r>
              <a:rPr lang="fr-FR" b="1" dirty="0"/>
              <a:t>3376</a:t>
            </a:r>
            <a:r>
              <a:rPr lang="fr-FR" dirty="0"/>
              <a:t> lignes</a:t>
            </a:r>
          </a:p>
        </p:txBody>
      </p:sp>
      <p:sp>
        <p:nvSpPr>
          <p:cNvPr id="28" name="ZoneTexte 27">
            <a:extLst>
              <a:ext uri="{FF2B5EF4-FFF2-40B4-BE49-F238E27FC236}">
                <a16:creationId xmlns:a16="http://schemas.microsoft.com/office/drawing/2014/main" id="{8819B2A3-5786-B7A8-555F-E3C69DF8E532}"/>
              </a:ext>
            </a:extLst>
          </p:cNvPr>
          <p:cNvSpPr txBox="1"/>
          <p:nvPr/>
        </p:nvSpPr>
        <p:spPr>
          <a:xfrm>
            <a:off x="192103" y="2067395"/>
            <a:ext cx="2243377" cy="1384995"/>
          </a:xfrm>
          <a:prstGeom prst="rect">
            <a:avLst/>
          </a:prstGeom>
          <a:noFill/>
        </p:spPr>
        <p:txBody>
          <a:bodyPr wrap="square" rtlCol="0">
            <a:spAutoFit/>
          </a:bodyPr>
          <a:lstStyle/>
          <a:p>
            <a:r>
              <a:rPr lang="fr-FR" dirty="0"/>
              <a:t>Dont :</a:t>
            </a:r>
          </a:p>
          <a:p>
            <a:endParaRPr lang="fr-FR" dirty="0"/>
          </a:p>
          <a:p>
            <a:r>
              <a:rPr lang="fr-FR" dirty="0"/>
              <a:t>31    numériques</a:t>
            </a:r>
          </a:p>
          <a:p>
            <a:endParaRPr lang="fr-FR" dirty="0"/>
          </a:p>
          <a:p>
            <a:endParaRPr lang="fr-FR" dirty="0"/>
          </a:p>
          <a:p>
            <a:r>
              <a:rPr lang="fr-FR" dirty="0">
                <a:solidFill>
                  <a:schemeClr val="accent1"/>
                </a:solidFill>
              </a:rPr>
              <a:t>15</a:t>
            </a:r>
            <a:r>
              <a:rPr lang="fr-FR" dirty="0"/>
              <a:t>    catégorielles</a:t>
            </a:r>
          </a:p>
        </p:txBody>
      </p:sp>
      <p:sp>
        <p:nvSpPr>
          <p:cNvPr id="2" name="ZoneTexte 1">
            <a:extLst>
              <a:ext uri="{FF2B5EF4-FFF2-40B4-BE49-F238E27FC236}">
                <a16:creationId xmlns:a16="http://schemas.microsoft.com/office/drawing/2014/main" id="{351E9C68-7419-311D-C357-D5C29B73B606}"/>
              </a:ext>
            </a:extLst>
          </p:cNvPr>
          <p:cNvSpPr txBox="1"/>
          <p:nvPr/>
        </p:nvSpPr>
        <p:spPr>
          <a:xfrm>
            <a:off x="1963180" y="17619"/>
            <a:ext cx="6335302" cy="1384995"/>
          </a:xfrm>
          <a:prstGeom prst="rect">
            <a:avLst/>
          </a:prstGeom>
          <a:noFill/>
        </p:spPr>
        <p:txBody>
          <a:bodyPr wrap="square" rtlCol="0">
            <a:spAutoFit/>
          </a:bodyPr>
          <a:lstStyle/>
          <a:p>
            <a:r>
              <a:rPr lang="fr-FR" dirty="0"/>
              <a:t>Nature du </a:t>
            </a:r>
            <a:r>
              <a:rPr lang="fr-FR" dirty="0" err="1"/>
              <a:t>dataset</a:t>
            </a:r>
            <a:r>
              <a:rPr lang="fr-FR" dirty="0"/>
              <a:t> initial :</a:t>
            </a:r>
          </a:p>
          <a:p>
            <a:r>
              <a:rPr lang="en-US" b="0" i="0" u="none" strike="noStrike" dirty="0">
                <a:effectLst/>
                <a:latin typeface="-apple-system"/>
                <a:hlinkClick r:id="rId4"/>
              </a:rPr>
              <a:t>https://data.seattle.gov/dataset/2016-Building-Energy-Benchmarking/2bpz-gwpy</a:t>
            </a:r>
            <a:endParaRPr lang="fr-FR" dirty="0"/>
          </a:p>
          <a:p>
            <a:endParaRPr lang="fr-FR" dirty="0"/>
          </a:p>
          <a:p>
            <a:r>
              <a:rPr lang="fr-FR" dirty="0"/>
              <a:t>• Source des données : </a:t>
            </a:r>
            <a:r>
              <a:rPr lang="fr-FR" dirty="0">
                <a:solidFill>
                  <a:schemeClr val="tx1"/>
                </a:solidFill>
              </a:rPr>
              <a:t>data en provenance du site </a:t>
            </a:r>
          </a:p>
          <a:p>
            <a:r>
              <a:rPr lang="fr-FR" dirty="0">
                <a:solidFill>
                  <a:schemeClr val="tx1"/>
                </a:solidFill>
              </a:rPr>
              <a:t>du gouvernement de </a:t>
            </a:r>
            <a:r>
              <a:rPr lang="fr-FR" dirty="0" err="1">
                <a:solidFill>
                  <a:schemeClr val="tx1"/>
                </a:solidFill>
              </a:rPr>
              <a:t>Seatle</a:t>
            </a:r>
            <a:endParaRPr lang="fr-FR" dirty="0">
              <a:solidFill>
                <a:schemeClr val="tx1"/>
              </a:solidFill>
            </a:endParaRPr>
          </a:p>
          <a:p>
            <a:endParaRPr lang="fr-FR" dirty="0"/>
          </a:p>
        </p:txBody>
      </p:sp>
      <p:sp>
        <p:nvSpPr>
          <p:cNvPr id="38" name="ZoneTexte 37">
            <a:extLst>
              <a:ext uri="{FF2B5EF4-FFF2-40B4-BE49-F238E27FC236}">
                <a16:creationId xmlns:a16="http://schemas.microsoft.com/office/drawing/2014/main" id="{35EDAC90-0CBF-FD78-2C94-8DB3BFA8F40D}"/>
              </a:ext>
            </a:extLst>
          </p:cNvPr>
          <p:cNvSpPr txBox="1"/>
          <p:nvPr/>
        </p:nvSpPr>
        <p:spPr>
          <a:xfrm>
            <a:off x="5409423" y="1574928"/>
            <a:ext cx="1375342" cy="1261884"/>
          </a:xfrm>
          <a:prstGeom prst="rect">
            <a:avLst/>
          </a:prstGeom>
          <a:noFill/>
        </p:spPr>
        <p:txBody>
          <a:bodyPr wrap="square">
            <a:spAutoFit/>
          </a:bodyPr>
          <a:lstStyle/>
          <a:p>
            <a:pPr algn="ctr"/>
            <a:endParaRPr lang="fr-FR" b="0" i="0" dirty="0">
              <a:effectLst/>
              <a:latin typeface="-apple-system"/>
            </a:endParaRPr>
          </a:p>
          <a:p>
            <a:pPr algn="ctr"/>
            <a:r>
              <a:rPr lang="fr-FR" sz="1600" b="0" i="0" dirty="0">
                <a:effectLst/>
                <a:latin typeface="-apple-system"/>
              </a:rPr>
              <a:t>~12,85%</a:t>
            </a:r>
          </a:p>
          <a:p>
            <a:pPr algn="ctr"/>
            <a:r>
              <a:rPr lang="fr-FR" sz="1600" dirty="0">
                <a:latin typeface="-apple-system"/>
              </a:rPr>
              <a:t>Valeurs manquantes</a:t>
            </a:r>
            <a:endParaRPr lang="fr-FR" sz="1600" b="0" i="0" dirty="0">
              <a:effectLst/>
              <a:latin typeface="-apple-system"/>
            </a:endParaRPr>
          </a:p>
          <a:p>
            <a:pPr algn="ctr"/>
            <a:endParaRPr lang="fr-FR" b="0" i="0" dirty="0">
              <a:effectLst/>
              <a:latin typeface="-apple-system"/>
            </a:endParaRPr>
          </a:p>
        </p:txBody>
      </p:sp>
      <p:sp>
        <p:nvSpPr>
          <p:cNvPr id="23" name="TextBox 22">
            <a:extLst>
              <a:ext uri="{FF2B5EF4-FFF2-40B4-BE49-F238E27FC236}">
                <a16:creationId xmlns:a16="http://schemas.microsoft.com/office/drawing/2014/main" id="{74244520-78F0-A57F-660B-B5DA91C6DD64}"/>
              </a:ext>
            </a:extLst>
          </p:cNvPr>
          <p:cNvSpPr txBox="1"/>
          <p:nvPr/>
        </p:nvSpPr>
        <p:spPr>
          <a:xfrm>
            <a:off x="4836334" y="4702334"/>
            <a:ext cx="4572000" cy="338554"/>
          </a:xfrm>
          <a:prstGeom prst="rect">
            <a:avLst/>
          </a:prstGeom>
          <a:noFill/>
        </p:spPr>
        <p:txBody>
          <a:bodyPr wrap="square">
            <a:spAutoFit/>
          </a:bodyPr>
          <a:lstStyle/>
          <a:p>
            <a:pPr marL="0" indent="0" algn="l">
              <a:buSzPts val="1100"/>
            </a:pPr>
            <a:r>
              <a:rPr lang="fr-FR" sz="1600" dirty="0">
                <a:solidFill>
                  <a:schemeClr val="dk1"/>
                </a:solidFill>
                <a:latin typeface="Quicksand SemiBold"/>
              </a:rPr>
              <a:t>Aperçu des données, analyse univariée   </a:t>
            </a:r>
            <a:r>
              <a:rPr lang="fr-FR" sz="1600" dirty="0">
                <a:solidFill>
                  <a:schemeClr val="dk1"/>
                </a:solidFill>
                <a:latin typeface="Quicksand SemiBold"/>
                <a:sym typeface="Wingdings" pitchFamily="2" charset="2"/>
              </a:rPr>
              <a:t></a:t>
            </a:r>
            <a:endParaRPr lang="fr-FR" sz="1600" dirty="0">
              <a:solidFill>
                <a:schemeClr val="dk1"/>
              </a:solidFill>
              <a:latin typeface="Quicksand SemiBold"/>
            </a:endParaRPr>
          </a:p>
        </p:txBody>
      </p:sp>
      <p:sp>
        <p:nvSpPr>
          <p:cNvPr id="24" name="ZoneTexte 9">
            <a:extLst>
              <a:ext uri="{FF2B5EF4-FFF2-40B4-BE49-F238E27FC236}">
                <a16:creationId xmlns:a16="http://schemas.microsoft.com/office/drawing/2014/main" id="{3FCDE5F9-BB87-BC6B-8463-9B2852BEDD09}"/>
              </a:ext>
            </a:extLst>
          </p:cNvPr>
          <p:cNvSpPr txBox="1"/>
          <p:nvPr/>
        </p:nvSpPr>
        <p:spPr>
          <a:xfrm>
            <a:off x="114348" y="3989021"/>
            <a:ext cx="8006803" cy="1015663"/>
          </a:xfrm>
          <a:prstGeom prst="rect">
            <a:avLst/>
          </a:prstGeom>
          <a:noFill/>
        </p:spPr>
        <p:txBody>
          <a:bodyPr wrap="square">
            <a:spAutoFit/>
          </a:bodyPr>
          <a:lstStyle/>
          <a:p>
            <a:r>
              <a:rPr lang="fr-FR" b="1" dirty="0">
                <a:solidFill>
                  <a:srgbClr val="374151"/>
                </a:solidFill>
                <a:highlight>
                  <a:srgbClr val="53CFA2"/>
                </a:highlight>
                <a:latin typeface="Söhne"/>
              </a:rPr>
              <a:t>Identification des cibles correspondant à l’</a:t>
            </a:r>
            <a:r>
              <a:rPr lang="fr-FR" b="1" dirty="0" err="1">
                <a:solidFill>
                  <a:srgbClr val="374151"/>
                </a:solidFill>
                <a:highlight>
                  <a:srgbClr val="53CFA2"/>
                </a:highlight>
                <a:latin typeface="Söhne"/>
              </a:rPr>
              <a:t>emission</a:t>
            </a:r>
            <a:r>
              <a:rPr lang="fr-FR" b="1" dirty="0">
                <a:solidFill>
                  <a:srgbClr val="374151"/>
                </a:solidFill>
                <a:highlight>
                  <a:srgbClr val="53CFA2"/>
                </a:highlight>
                <a:latin typeface="Söhne"/>
              </a:rPr>
              <a:t> de CO2 et à la consommation d’énergie :</a:t>
            </a:r>
          </a:p>
          <a:p>
            <a:endParaRPr lang="fr-FR" sz="1600" dirty="0">
              <a:solidFill>
                <a:schemeClr val="dk1"/>
              </a:solidFill>
              <a:latin typeface="Quicksand SemiBold"/>
            </a:endParaRPr>
          </a:p>
          <a:p>
            <a:r>
              <a:rPr lang="fr-FR" sz="1600" dirty="0">
                <a:solidFill>
                  <a:schemeClr val="dk1"/>
                </a:solidFill>
                <a:latin typeface="Quicksand SemiBold"/>
              </a:rPr>
              <a:t>« </a:t>
            </a:r>
            <a:r>
              <a:rPr lang="fr-FR" sz="1600" dirty="0" err="1">
                <a:solidFill>
                  <a:schemeClr val="dk1"/>
                </a:solidFill>
                <a:latin typeface="Quicksand SemiBold"/>
              </a:rPr>
              <a:t>TotalGHGEmissions</a:t>
            </a:r>
            <a:r>
              <a:rPr lang="fr-FR" sz="1600" dirty="0">
                <a:solidFill>
                  <a:schemeClr val="dk1"/>
                </a:solidFill>
                <a:latin typeface="Quicksand SemiBold"/>
              </a:rPr>
              <a:t> » </a:t>
            </a:r>
            <a:r>
              <a:rPr lang="fr-FR" b="1" dirty="0">
                <a:solidFill>
                  <a:srgbClr val="374151"/>
                </a:solidFill>
                <a:latin typeface="Söhne"/>
              </a:rPr>
              <a:t>et « </a:t>
            </a:r>
            <a:r>
              <a:rPr lang="fr-FR" sz="1600" dirty="0" err="1">
                <a:solidFill>
                  <a:schemeClr val="dk1"/>
                </a:solidFill>
                <a:latin typeface="Quicksand SemiBold"/>
              </a:rPr>
              <a:t>SiteEnergyUse</a:t>
            </a:r>
            <a:r>
              <a:rPr lang="fr-FR" sz="1600" dirty="0">
                <a:solidFill>
                  <a:schemeClr val="dk1"/>
                </a:solidFill>
                <a:latin typeface="Quicksand SemiBold"/>
              </a:rPr>
              <a:t>(</a:t>
            </a:r>
            <a:r>
              <a:rPr lang="fr-FR" sz="1600" dirty="0" err="1">
                <a:solidFill>
                  <a:schemeClr val="dk1"/>
                </a:solidFill>
                <a:latin typeface="Quicksand SemiBold"/>
              </a:rPr>
              <a:t>kBtu</a:t>
            </a:r>
            <a:r>
              <a:rPr lang="fr-FR" sz="1600" dirty="0">
                <a:solidFill>
                  <a:schemeClr val="dk1"/>
                </a:solidFill>
                <a:latin typeface="Quicksand SemiBold"/>
              </a:rPr>
              <a:t>) »</a:t>
            </a:r>
          </a:p>
          <a:p>
            <a:endParaRPr lang="fr-FR" dirty="0">
              <a:highlight>
                <a:srgbClr val="53CFA2"/>
              </a:highlight>
            </a:endParaRPr>
          </a:p>
        </p:txBody>
      </p:sp>
      <p:sp>
        <p:nvSpPr>
          <p:cNvPr id="9" name="ZoneTexte 9">
            <a:extLst>
              <a:ext uri="{FF2B5EF4-FFF2-40B4-BE49-F238E27FC236}">
                <a16:creationId xmlns:a16="http://schemas.microsoft.com/office/drawing/2014/main" id="{31C27B06-3EDF-6B4A-AD8D-2F0908143837}"/>
              </a:ext>
            </a:extLst>
          </p:cNvPr>
          <p:cNvSpPr txBox="1"/>
          <p:nvPr/>
        </p:nvSpPr>
        <p:spPr>
          <a:xfrm>
            <a:off x="6406775" y="529401"/>
            <a:ext cx="4572000" cy="523220"/>
          </a:xfrm>
          <a:prstGeom prst="rect">
            <a:avLst/>
          </a:prstGeom>
          <a:noFill/>
        </p:spPr>
        <p:txBody>
          <a:bodyPr wrap="square">
            <a:spAutoFit/>
          </a:bodyPr>
          <a:lstStyle/>
          <a:p>
            <a:r>
              <a:rPr lang="fr-FR" b="1" dirty="0">
                <a:solidFill>
                  <a:srgbClr val="374151"/>
                </a:solidFill>
                <a:highlight>
                  <a:srgbClr val="53CFA2"/>
                </a:highlight>
                <a:latin typeface="Söhne"/>
              </a:rPr>
              <a:t>Concentration des valeurs </a:t>
            </a:r>
          </a:p>
          <a:p>
            <a:r>
              <a:rPr lang="fr-FR" b="1" dirty="0">
                <a:solidFill>
                  <a:srgbClr val="374151"/>
                </a:solidFill>
                <a:highlight>
                  <a:srgbClr val="53CFA2"/>
                </a:highlight>
                <a:latin typeface="Söhne"/>
              </a:rPr>
              <a:t>manquantes</a:t>
            </a:r>
            <a:endParaRPr lang="fr-FR" dirty="0">
              <a:highlight>
                <a:srgbClr val="53CFA2"/>
              </a:highlight>
            </a:endParaRPr>
          </a:p>
        </p:txBody>
      </p:sp>
      <p:sp>
        <p:nvSpPr>
          <p:cNvPr id="22" name="Oval 21">
            <a:extLst>
              <a:ext uri="{FF2B5EF4-FFF2-40B4-BE49-F238E27FC236}">
                <a16:creationId xmlns:a16="http://schemas.microsoft.com/office/drawing/2014/main" id="{BA44D4A9-DC8F-9C9C-BA91-ADA118AB1FE6}"/>
              </a:ext>
            </a:extLst>
          </p:cNvPr>
          <p:cNvSpPr/>
          <p:nvPr/>
        </p:nvSpPr>
        <p:spPr>
          <a:xfrm rot="5400000">
            <a:off x="7620636" y="1549549"/>
            <a:ext cx="1519127" cy="525275"/>
          </a:xfrm>
          <a:prstGeom prst="ellipse">
            <a:avLst/>
          </a:prstGeom>
          <a:noFill/>
          <a:ln>
            <a:solidFill>
              <a:srgbClr val="53CFA2">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solidFill>
                <a:srgbClr val="53CFA2"/>
              </a:solidFill>
            </a:endParaRPr>
          </a:p>
        </p:txBody>
      </p:sp>
    </p:spTree>
    <p:extLst>
      <p:ext uri="{BB962C8B-B14F-4D97-AF65-F5344CB8AC3E}">
        <p14:creationId xmlns:p14="http://schemas.microsoft.com/office/powerpoint/2010/main" val="4289741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graph with blue squares and white text&#10;&#10;Description automatically generated">
            <a:extLst>
              <a:ext uri="{FF2B5EF4-FFF2-40B4-BE49-F238E27FC236}">
                <a16:creationId xmlns:a16="http://schemas.microsoft.com/office/drawing/2014/main" id="{404D0EB7-5531-DDE9-C548-1CEEE24EAC7A}"/>
              </a:ext>
            </a:extLst>
          </p:cNvPr>
          <p:cNvPicPr>
            <a:picLocks noChangeAspect="1"/>
          </p:cNvPicPr>
          <p:nvPr/>
        </p:nvPicPr>
        <p:blipFill>
          <a:blip r:embed="rId3"/>
          <a:stretch>
            <a:fillRect/>
          </a:stretch>
        </p:blipFill>
        <p:spPr>
          <a:xfrm>
            <a:off x="5396291" y="3056862"/>
            <a:ext cx="2087002" cy="1891600"/>
          </a:xfrm>
          <a:prstGeom prst="rect">
            <a:avLst/>
          </a:prstGeom>
        </p:spPr>
      </p:pic>
      <p:pic>
        <p:nvPicPr>
          <p:cNvPr id="19" name="Picture 18" descr="A graph with a bar and a number of data&#10;&#10;Description automatically generated">
            <a:extLst>
              <a:ext uri="{FF2B5EF4-FFF2-40B4-BE49-F238E27FC236}">
                <a16:creationId xmlns:a16="http://schemas.microsoft.com/office/drawing/2014/main" id="{BA463892-E1A5-3616-F8F8-E6126664B1DF}"/>
              </a:ext>
            </a:extLst>
          </p:cNvPr>
          <p:cNvPicPr>
            <a:picLocks noChangeAspect="1"/>
          </p:cNvPicPr>
          <p:nvPr/>
        </p:nvPicPr>
        <p:blipFill>
          <a:blip r:embed="rId4"/>
          <a:stretch>
            <a:fillRect/>
          </a:stretch>
        </p:blipFill>
        <p:spPr>
          <a:xfrm>
            <a:off x="2966979" y="2845069"/>
            <a:ext cx="2429312" cy="2184361"/>
          </a:xfrm>
          <a:prstGeom prst="rect">
            <a:avLst/>
          </a:prstGeom>
        </p:spPr>
      </p:pic>
      <p:pic>
        <p:nvPicPr>
          <p:cNvPr id="22" name="Picture 21" descr="A graph of different types of numbers&#10;&#10;Description automatically generated">
            <a:extLst>
              <a:ext uri="{FF2B5EF4-FFF2-40B4-BE49-F238E27FC236}">
                <a16:creationId xmlns:a16="http://schemas.microsoft.com/office/drawing/2014/main" id="{DBE1FF80-BA72-112D-10FC-7366BE1C72F5}"/>
              </a:ext>
            </a:extLst>
          </p:cNvPr>
          <p:cNvPicPr>
            <a:picLocks noChangeAspect="1"/>
          </p:cNvPicPr>
          <p:nvPr/>
        </p:nvPicPr>
        <p:blipFill>
          <a:blip r:embed="rId5"/>
          <a:stretch>
            <a:fillRect/>
          </a:stretch>
        </p:blipFill>
        <p:spPr>
          <a:xfrm>
            <a:off x="3546469" y="636607"/>
            <a:ext cx="2590800" cy="2286000"/>
          </a:xfrm>
          <a:prstGeom prst="rect">
            <a:avLst/>
          </a:prstGeom>
        </p:spPr>
      </p:pic>
      <p:pic>
        <p:nvPicPr>
          <p:cNvPr id="24" name="Picture 23" descr="A graph with numbers and text&#10;&#10;Description automatically generated">
            <a:extLst>
              <a:ext uri="{FF2B5EF4-FFF2-40B4-BE49-F238E27FC236}">
                <a16:creationId xmlns:a16="http://schemas.microsoft.com/office/drawing/2014/main" id="{6889D991-9CDE-4B54-EB65-14F5C0C13ABC}"/>
              </a:ext>
            </a:extLst>
          </p:cNvPr>
          <p:cNvPicPr>
            <a:picLocks noChangeAspect="1"/>
          </p:cNvPicPr>
          <p:nvPr/>
        </p:nvPicPr>
        <p:blipFill>
          <a:blip r:embed="rId6"/>
          <a:stretch>
            <a:fillRect/>
          </a:stretch>
        </p:blipFill>
        <p:spPr>
          <a:xfrm>
            <a:off x="6153232" y="507095"/>
            <a:ext cx="2867157" cy="2574486"/>
          </a:xfrm>
          <a:prstGeom prst="rect">
            <a:avLst/>
          </a:prstGeom>
        </p:spPr>
      </p:pic>
      <p:sp>
        <p:nvSpPr>
          <p:cNvPr id="5" name="ZoneTexte 9">
            <a:extLst>
              <a:ext uri="{FF2B5EF4-FFF2-40B4-BE49-F238E27FC236}">
                <a16:creationId xmlns:a16="http://schemas.microsoft.com/office/drawing/2014/main" id="{5E2B315D-598B-9A16-8EC4-B7EFA3A09863}"/>
              </a:ext>
            </a:extLst>
          </p:cNvPr>
          <p:cNvSpPr txBox="1"/>
          <p:nvPr/>
        </p:nvSpPr>
        <p:spPr>
          <a:xfrm>
            <a:off x="-49073" y="72841"/>
            <a:ext cx="4572000" cy="307777"/>
          </a:xfrm>
          <a:prstGeom prst="rect">
            <a:avLst/>
          </a:prstGeom>
          <a:noFill/>
        </p:spPr>
        <p:txBody>
          <a:bodyPr wrap="square">
            <a:spAutoFit/>
          </a:bodyPr>
          <a:lstStyle/>
          <a:p>
            <a:r>
              <a:rPr lang="fr-FR" b="1" dirty="0">
                <a:solidFill>
                  <a:srgbClr val="374151"/>
                </a:solidFill>
                <a:highlight>
                  <a:srgbClr val="53CFA2"/>
                </a:highlight>
                <a:latin typeface="Söhne"/>
              </a:rPr>
              <a:t>Distribution des variables</a:t>
            </a:r>
            <a:endParaRPr lang="fr-FR" dirty="0">
              <a:highlight>
                <a:srgbClr val="53CFA2"/>
              </a:highlight>
            </a:endParaRPr>
          </a:p>
        </p:txBody>
      </p:sp>
      <p:sp>
        <p:nvSpPr>
          <p:cNvPr id="7" name="ZoneTexte 1">
            <a:extLst>
              <a:ext uri="{FF2B5EF4-FFF2-40B4-BE49-F238E27FC236}">
                <a16:creationId xmlns:a16="http://schemas.microsoft.com/office/drawing/2014/main" id="{01798D07-7569-B1C8-9915-9174764F0E3C}"/>
              </a:ext>
            </a:extLst>
          </p:cNvPr>
          <p:cNvSpPr txBox="1"/>
          <p:nvPr/>
        </p:nvSpPr>
        <p:spPr>
          <a:xfrm>
            <a:off x="1067282" y="4683604"/>
            <a:ext cx="543805" cy="738664"/>
          </a:xfrm>
          <a:prstGeom prst="rect">
            <a:avLst/>
          </a:prstGeom>
          <a:noFill/>
        </p:spPr>
        <p:txBody>
          <a:bodyPr wrap="square" rtlCol="0">
            <a:spAutoFit/>
          </a:bodyPr>
          <a:lstStyle/>
          <a:p>
            <a:r>
              <a:rPr lang="fr-FR" sz="2800" b="1" dirty="0">
                <a:solidFill>
                  <a:schemeClr val="tx1"/>
                </a:solidFill>
                <a:latin typeface="Chalkboard" panose="03050602040202020205" pitchFamily="66" charset="77"/>
                <a:cs typeface="Al Tarikh" pitchFamily="2" charset="-78"/>
              </a:rPr>
              <a:t>…</a:t>
            </a:r>
          </a:p>
          <a:p>
            <a:endParaRPr lang="fr-FR" dirty="0">
              <a:latin typeface="Chalkboard" panose="03050602040202020205" pitchFamily="66" charset="77"/>
              <a:cs typeface="Al Tarikh" pitchFamily="2" charset="-78"/>
            </a:endParaRPr>
          </a:p>
        </p:txBody>
      </p:sp>
      <p:sp>
        <p:nvSpPr>
          <p:cNvPr id="8" name="ZoneTexte 9">
            <a:extLst>
              <a:ext uri="{FF2B5EF4-FFF2-40B4-BE49-F238E27FC236}">
                <a16:creationId xmlns:a16="http://schemas.microsoft.com/office/drawing/2014/main" id="{ACFB1216-B660-E545-9D22-AE8BD66E54AA}"/>
              </a:ext>
            </a:extLst>
          </p:cNvPr>
          <p:cNvSpPr txBox="1"/>
          <p:nvPr/>
        </p:nvSpPr>
        <p:spPr>
          <a:xfrm>
            <a:off x="3619542" y="328830"/>
            <a:ext cx="4572000" cy="307777"/>
          </a:xfrm>
          <a:prstGeom prst="rect">
            <a:avLst/>
          </a:prstGeom>
          <a:noFill/>
        </p:spPr>
        <p:txBody>
          <a:bodyPr wrap="square">
            <a:spAutoFit/>
          </a:bodyPr>
          <a:lstStyle/>
          <a:p>
            <a:r>
              <a:rPr lang="fr-FR" b="1" dirty="0">
                <a:solidFill>
                  <a:srgbClr val="374151"/>
                </a:solidFill>
                <a:highlight>
                  <a:srgbClr val="53CFA2"/>
                </a:highlight>
                <a:latin typeface="Söhne"/>
              </a:rPr>
              <a:t>Building type (résidentiel ou non)</a:t>
            </a:r>
            <a:endParaRPr lang="fr-FR" dirty="0">
              <a:highlight>
                <a:srgbClr val="53CFA2"/>
              </a:highlight>
            </a:endParaRPr>
          </a:p>
        </p:txBody>
      </p:sp>
      <p:sp>
        <p:nvSpPr>
          <p:cNvPr id="9" name="ZoneTexte 9">
            <a:extLst>
              <a:ext uri="{FF2B5EF4-FFF2-40B4-BE49-F238E27FC236}">
                <a16:creationId xmlns:a16="http://schemas.microsoft.com/office/drawing/2014/main" id="{2697B40D-8743-7150-4C84-5689A09A9159}"/>
              </a:ext>
            </a:extLst>
          </p:cNvPr>
          <p:cNvSpPr txBox="1"/>
          <p:nvPr/>
        </p:nvSpPr>
        <p:spPr>
          <a:xfrm>
            <a:off x="4448669" y="3081581"/>
            <a:ext cx="1102964" cy="307777"/>
          </a:xfrm>
          <a:prstGeom prst="rect">
            <a:avLst/>
          </a:prstGeom>
          <a:noFill/>
        </p:spPr>
        <p:txBody>
          <a:bodyPr wrap="square">
            <a:spAutoFit/>
          </a:bodyPr>
          <a:lstStyle/>
          <a:p>
            <a:r>
              <a:rPr lang="fr-FR" b="1" dirty="0">
                <a:solidFill>
                  <a:srgbClr val="374151"/>
                </a:solidFill>
                <a:highlight>
                  <a:srgbClr val="53CFA2"/>
                </a:highlight>
                <a:latin typeface="Söhne"/>
              </a:rPr>
              <a:t>Conformité</a:t>
            </a:r>
            <a:endParaRPr lang="fr-FR" dirty="0">
              <a:highlight>
                <a:srgbClr val="53CFA2"/>
              </a:highlight>
            </a:endParaRPr>
          </a:p>
        </p:txBody>
      </p:sp>
      <p:sp>
        <p:nvSpPr>
          <p:cNvPr id="10" name="ZoneTexte 9">
            <a:extLst>
              <a:ext uri="{FF2B5EF4-FFF2-40B4-BE49-F238E27FC236}">
                <a16:creationId xmlns:a16="http://schemas.microsoft.com/office/drawing/2014/main" id="{4AE1A704-2C8C-43E4-0B5D-AF39D6CAB5C5}"/>
              </a:ext>
            </a:extLst>
          </p:cNvPr>
          <p:cNvSpPr txBox="1"/>
          <p:nvPr/>
        </p:nvSpPr>
        <p:spPr>
          <a:xfrm>
            <a:off x="6878246" y="3234924"/>
            <a:ext cx="915730" cy="307777"/>
          </a:xfrm>
          <a:prstGeom prst="rect">
            <a:avLst/>
          </a:prstGeom>
          <a:noFill/>
        </p:spPr>
        <p:txBody>
          <a:bodyPr wrap="square">
            <a:spAutoFit/>
          </a:bodyPr>
          <a:lstStyle/>
          <a:p>
            <a:r>
              <a:rPr lang="fr-FR" b="1" dirty="0" err="1">
                <a:solidFill>
                  <a:srgbClr val="374151"/>
                </a:solidFill>
                <a:highlight>
                  <a:srgbClr val="53CFA2"/>
                </a:highlight>
                <a:latin typeface="Söhne"/>
              </a:rPr>
              <a:t>Outliers</a:t>
            </a:r>
            <a:endParaRPr lang="fr-FR" dirty="0">
              <a:highlight>
                <a:srgbClr val="53CFA2"/>
              </a:highlight>
            </a:endParaRPr>
          </a:p>
        </p:txBody>
      </p:sp>
      <p:sp>
        <p:nvSpPr>
          <p:cNvPr id="11" name="ZoneTexte 9">
            <a:extLst>
              <a:ext uri="{FF2B5EF4-FFF2-40B4-BE49-F238E27FC236}">
                <a16:creationId xmlns:a16="http://schemas.microsoft.com/office/drawing/2014/main" id="{CBB8B4AE-45DC-37B2-DDDF-A390A8780326}"/>
              </a:ext>
            </a:extLst>
          </p:cNvPr>
          <p:cNvSpPr txBox="1"/>
          <p:nvPr/>
        </p:nvSpPr>
        <p:spPr>
          <a:xfrm>
            <a:off x="5604391" y="994995"/>
            <a:ext cx="3891358" cy="307777"/>
          </a:xfrm>
          <a:prstGeom prst="rect">
            <a:avLst/>
          </a:prstGeom>
          <a:noFill/>
        </p:spPr>
        <p:txBody>
          <a:bodyPr wrap="square">
            <a:spAutoFit/>
          </a:bodyPr>
          <a:lstStyle/>
          <a:p>
            <a:r>
              <a:rPr lang="fr-FR" b="1" dirty="0">
                <a:solidFill>
                  <a:srgbClr val="374151"/>
                </a:solidFill>
                <a:highlight>
                  <a:srgbClr val="53CFA2"/>
                </a:highlight>
                <a:latin typeface="Söhne"/>
              </a:rPr>
              <a:t>Type principal d’utilisation du bien immobiliers</a:t>
            </a:r>
            <a:endParaRPr lang="fr-FR" dirty="0">
              <a:highlight>
                <a:srgbClr val="53CFA2"/>
              </a:highlight>
            </a:endParaRPr>
          </a:p>
        </p:txBody>
      </p:sp>
      <p:sp>
        <p:nvSpPr>
          <p:cNvPr id="12" name="TextBox 11">
            <a:extLst>
              <a:ext uri="{FF2B5EF4-FFF2-40B4-BE49-F238E27FC236}">
                <a16:creationId xmlns:a16="http://schemas.microsoft.com/office/drawing/2014/main" id="{D16A6514-66F2-EC03-9DB3-CA71CA75E72F}"/>
              </a:ext>
            </a:extLst>
          </p:cNvPr>
          <p:cNvSpPr txBox="1"/>
          <p:nvPr/>
        </p:nvSpPr>
        <p:spPr>
          <a:xfrm>
            <a:off x="2526739" y="70367"/>
            <a:ext cx="6969010" cy="323165"/>
          </a:xfrm>
          <a:prstGeom prst="rect">
            <a:avLst/>
          </a:prstGeom>
          <a:noFill/>
        </p:spPr>
        <p:txBody>
          <a:bodyPr wrap="square">
            <a:spAutoFit/>
          </a:bodyPr>
          <a:lstStyle/>
          <a:p>
            <a:pPr marL="0" indent="0" algn="l">
              <a:buSzPts val="1100"/>
            </a:pPr>
            <a:r>
              <a:rPr lang="fr-FR" sz="1500" dirty="0">
                <a:solidFill>
                  <a:schemeClr val="dk1"/>
                </a:solidFill>
                <a:latin typeface="Quicksand SemiBold"/>
              </a:rPr>
              <a:t>Aperçu des colonnes pertinentes pour le prétraitement des données :</a:t>
            </a:r>
          </a:p>
        </p:txBody>
      </p:sp>
      <p:pic>
        <p:nvPicPr>
          <p:cNvPr id="6" name="Picture 5" descr="A graph of a distribution of a number of data&#10;&#10;Description automatically generated">
            <a:extLst>
              <a:ext uri="{FF2B5EF4-FFF2-40B4-BE49-F238E27FC236}">
                <a16:creationId xmlns:a16="http://schemas.microsoft.com/office/drawing/2014/main" id="{14B8325E-0287-647E-5B9F-C9BA1E2AECC2}"/>
              </a:ext>
            </a:extLst>
          </p:cNvPr>
          <p:cNvPicPr>
            <a:picLocks noChangeAspect="1"/>
          </p:cNvPicPr>
          <p:nvPr/>
        </p:nvPicPr>
        <p:blipFill>
          <a:blip r:embed="rId7"/>
          <a:stretch>
            <a:fillRect/>
          </a:stretch>
        </p:blipFill>
        <p:spPr>
          <a:xfrm>
            <a:off x="0" y="342726"/>
            <a:ext cx="3468933" cy="1742792"/>
          </a:xfrm>
          <a:prstGeom prst="rect">
            <a:avLst/>
          </a:prstGeom>
        </p:spPr>
      </p:pic>
      <p:pic>
        <p:nvPicPr>
          <p:cNvPr id="14" name="Picture 13" descr="A screenshot of a graph&#10;&#10;Description automatically generated">
            <a:extLst>
              <a:ext uri="{FF2B5EF4-FFF2-40B4-BE49-F238E27FC236}">
                <a16:creationId xmlns:a16="http://schemas.microsoft.com/office/drawing/2014/main" id="{E37112AC-381E-FF39-456C-BA4CBB3A1406}"/>
              </a:ext>
            </a:extLst>
          </p:cNvPr>
          <p:cNvPicPr>
            <a:picLocks noChangeAspect="1"/>
          </p:cNvPicPr>
          <p:nvPr/>
        </p:nvPicPr>
        <p:blipFill>
          <a:blip r:embed="rId8"/>
          <a:stretch>
            <a:fillRect/>
          </a:stretch>
        </p:blipFill>
        <p:spPr>
          <a:xfrm>
            <a:off x="106552" y="2021077"/>
            <a:ext cx="2805021" cy="2621801"/>
          </a:xfrm>
          <a:prstGeom prst="rect">
            <a:avLst/>
          </a:prstGeom>
        </p:spPr>
      </p:pic>
    </p:spTree>
    <p:extLst>
      <p:ext uri="{BB962C8B-B14F-4D97-AF65-F5344CB8AC3E}">
        <p14:creationId xmlns:p14="http://schemas.microsoft.com/office/powerpoint/2010/main" val="1056414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A graph of different colored squares&#10;&#10;Description automatically generated">
            <a:extLst>
              <a:ext uri="{FF2B5EF4-FFF2-40B4-BE49-F238E27FC236}">
                <a16:creationId xmlns:a16="http://schemas.microsoft.com/office/drawing/2014/main" id="{0DD19C9F-F15F-5EDC-B200-F8116AA3861F}"/>
              </a:ext>
            </a:extLst>
          </p:cNvPr>
          <p:cNvPicPr>
            <a:picLocks noChangeAspect="1"/>
          </p:cNvPicPr>
          <p:nvPr/>
        </p:nvPicPr>
        <p:blipFill>
          <a:blip r:embed="rId3"/>
          <a:stretch>
            <a:fillRect/>
          </a:stretch>
        </p:blipFill>
        <p:spPr>
          <a:xfrm>
            <a:off x="-50629" y="1354606"/>
            <a:ext cx="4352192" cy="3409965"/>
          </a:xfrm>
          <a:prstGeom prst="rect">
            <a:avLst/>
          </a:prstGeom>
        </p:spPr>
      </p:pic>
      <p:pic>
        <p:nvPicPr>
          <p:cNvPr id="3" name="Picture 2" descr="A blue and white grid with numbers&#10;&#10;Description automatically generated">
            <a:extLst>
              <a:ext uri="{FF2B5EF4-FFF2-40B4-BE49-F238E27FC236}">
                <a16:creationId xmlns:a16="http://schemas.microsoft.com/office/drawing/2014/main" id="{FACE448E-D74F-FE8A-CF9C-67CEA86B0DAB}"/>
              </a:ext>
            </a:extLst>
          </p:cNvPr>
          <p:cNvPicPr>
            <a:picLocks noChangeAspect="1"/>
          </p:cNvPicPr>
          <p:nvPr/>
        </p:nvPicPr>
        <p:blipFill rotWithShape="1">
          <a:blip r:embed="rId4"/>
          <a:srcRect l="1" r="962"/>
          <a:stretch/>
        </p:blipFill>
        <p:spPr>
          <a:xfrm>
            <a:off x="4152461" y="854364"/>
            <a:ext cx="5134608" cy="2950032"/>
          </a:xfrm>
          <a:prstGeom prst="rect">
            <a:avLst/>
          </a:prstGeom>
        </p:spPr>
      </p:pic>
      <p:sp>
        <p:nvSpPr>
          <p:cNvPr id="6" name="ZoneTexte 9">
            <a:extLst>
              <a:ext uri="{FF2B5EF4-FFF2-40B4-BE49-F238E27FC236}">
                <a16:creationId xmlns:a16="http://schemas.microsoft.com/office/drawing/2014/main" id="{1404BA00-7E87-512C-7C83-BF4582776BDC}"/>
              </a:ext>
            </a:extLst>
          </p:cNvPr>
          <p:cNvSpPr txBox="1"/>
          <p:nvPr/>
        </p:nvSpPr>
        <p:spPr>
          <a:xfrm>
            <a:off x="6030685" y="236041"/>
            <a:ext cx="4572000" cy="523220"/>
          </a:xfrm>
          <a:prstGeom prst="rect">
            <a:avLst/>
          </a:prstGeom>
          <a:noFill/>
        </p:spPr>
        <p:txBody>
          <a:bodyPr wrap="square">
            <a:spAutoFit/>
          </a:bodyPr>
          <a:lstStyle/>
          <a:p>
            <a:r>
              <a:rPr lang="fr-FR" b="1" dirty="0">
                <a:solidFill>
                  <a:srgbClr val="374151"/>
                </a:solidFill>
                <a:highlight>
                  <a:srgbClr val="53CFA2"/>
                </a:highlight>
                <a:latin typeface="Söhne"/>
              </a:rPr>
              <a:t>Matrice de corrélation des variables avec </a:t>
            </a:r>
          </a:p>
          <a:p>
            <a:r>
              <a:rPr lang="fr-FR" b="1" dirty="0">
                <a:solidFill>
                  <a:srgbClr val="374151"/>
                </a:solidFill>
                <a:highlight>
                  <a:srgbClr val="53CFA2"/>
                </a:highlight>
                <a:latin typeface="Söhne"/>
              </a:rPr>
              <a:t>plus de 0.5 de corrélation    </a:t>
            </a:r>
            <a:endParaRPr lang="fr-FR" dirty="0">
              <a:highlight>
                <a:srgbClr val="53CFA2"/>
              </a:highlight>
            </a:endParaRPr>
          </a:p>
        </p:txBody>
      </p:sp>
      <p:sp>
        <p:nvSpPr>
          <p:cNvPr id="9" name="Oval 8">
            <a:extLst>
              <a:ext uri="{FF2B5EF4-FFF2-40B4-BE49-F238E27FC236}">
                <a16:creationId xmlns:a16="http://schemas.microsoft.com/office/drawing/2014/main" id="{C366FFE0-2080-F845-AF59-78EAE0D90A71}"/>
              </a:ext>
            </a:extLst>
          </p:cNvPr>
          <p:cNvSpPr/>
          <p:nvPr/>
        </p:nvSpPr>
        <p:spPr>
          <a:xfrm rot="5400000">
            <a:off x="8377460" y="1631017"/>
            <a:ext cx="319800" cy="323780"/>
          </a:xfrm>
          <a:prstGeom prst="ellipse">
            <a:avLst/>
          </a:prstGeom>
          <a:noFill/>
          <a:ln>
            <a:solidFill>
              <a:srgbClr val="C00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Google Shape;402;p43">
            <a:extLst>
              <a:ext uri="{FF2B5EF4-FFF2-40B4-BE49-F238E27FC236}">
                <a16:creationId xmlns:a16="http://schemas.microsoft.com/office/drawing/2014/main" id="{5CD13E79-D397-F33C-967C-F8A336EA16E4}"/>
              </a:ext>
            </a:extLst>
          </p:cNvPr>
          <p:cNvSpPr txBox="1"/>
          <p:nvPr/>
        </p:nvSpPr>
        <p:spPr>
          <a:xfrm flipH="1">
            <a:off x="5623076" y="3848838"/>
            <a:ext cx="3236685" cy="319800"/>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p>
            <a:pPr marL="0" lvl="0" indent="0" algn="ctr" rtl="0">
              <a:spcBef>
                <a:spcPts val="0"/>
              </a:spcBef>
              <a:spcAft>
                <a:spcPts val="0"/>
              </a:spcAft>
              <a:buNone/>
            </a:pPr>
            <a:r>
              <a:rPr lang="fr-FR" sz="1000" dirty="0">
                <a:solidFill>
                  <a:schemeClr val="dk1"/>
                </a:solidFill>
                <a:latin typeface="Quicksand Medium"/>
                <a:ea typeface="Quicksand Medium"/>
                <a:cs typeface="Quicksand Medium"/>
                <a:sym typeface="Quicksand Medium"/>
              </a:rPr>
              <a:t>Les deux variables cibles sont fortement corrélés</a:t>
            </a:r>
            <a:endParaRPr sz="1000" dirty="0">
              <a:solidFill>
                <a:schemeClr val="dk1"/>
              </a:solidFill>
              <a:latin typeface="Quicksand Medium"/>
              <a:ea typeface="Quicksand Medium"/>
              <a:cs typeface="Quicksand Medium"/>
              <a:sym typeface="Quicksand Medium"/>
            </a:endParaRPr>
          </a:p>
        </p:txBody>
      </p:sp>
      <p:sp>
        <p:nvSpPr>
          <p:cNvPr id="16" name="Subtitle 2">
            <a:extLst>
              <a:ext uri="{FF2B5EF4-FFF2-40B4-BE49-F238E27FC236}">
                <a16:creationId xmlns:a16="http://schemas.microsoft.com/office/drawing/2014/main" id="{763260AB-80C8-ABFE-40A6-B575F5043844}"/>
              </a:ext>
            </a:extLst>
          </p:cNvPr>
          <p:cNvSpPr txBox="1">
            <a:spLocks/>
          </p:cNvSpPr>
          <p:nvPr/>
        </p:nvSpPr>
        <p:spPr>
          <a:xfrm>
            <a:off x="-121336" y="568761"/>
            <a:ext cx="4273800" cy="381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Quicksand Medium"/>
              <a:buNone/>
              <a:defRPr sz="1400" b="0" i="0" u="none" strike="noStrike" cap="none">
                <a:solidFill>
                  <a:schemeClr val="dk1"/>
                </a:solidFill>
                <a:latin typeface="Quicksand Medium"/>
                <a:ea typeface="Quicksand Medium"/>
                <a:cs typeface="Quicksand Medium"/>
                <a:sym typeface="Quicksand Medium"/>
              </a:defRPr>
            </a:lvl1pPr>
            <a:lvl2pPr marL="914400" marR="0" lvl="1"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2pPr>
            <a:lvl3pPr marL="1371600" marR="0" lvl="2"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3pPr>
            <a:lvl4pPr marL="1828800" marR="0" lvl="3"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4pPr>
            <a:lvl5pPr marL="2286000" marR="0" lvl="4"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5pPr>
            <a:lvl6pPr marL="2743200" marR="0" lvl="5"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6pPr>
            <a:lvl7pPr marL="3200400" marR="0" lvl="6"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7pPr>
            <a:lvl8pPr marL="3657600" marR="0" lvl="7"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8pPr>
            <a:lvl9pPr marL="4114800" marR="0" lvl="8" indent="-304800" algn="ctr" rtl="0">
              <a:lnSpc>
                <a:spcPct val="100000"/>
              </a:lnSpc>
              <a:spcBef>
                <a:spcPts val="0"/>
              </a:spcBef>
              <a:spcAft>
                <a:spcPts val="0"/>
              </a:spcAft>
              <a:buClr>
                <a:schemeClr val="dk1"/>
              </a:buClr>
              <a:buSzPts val="1800"/>
              <a:buFont typeface="Quicksand Medium"/>
              <a:buNone/>
              <a:defRPr sz="1800" b="0" i="0" u="none" strike="noStrike" cap="none">
                <a:solidFill>
                  <a:schemeClr val="dk1"/>
                </a:solidFill>
                <a:latin typeface="Quicksand Medium"/>
                <a:ea typeface="Quicksand Medium"/>
                <a:cs typeface="Quicksand Medium"/>
                <a:sym typeface="Quicksand Medium"/>
              </a:defRPr>
            </a:lvl9pPr>
          </a:lstStyle>
          <a:p>
            <a:r>
              <a:rPr lang="fr-FR" dirty="0"/>
              <a:t>Densité énergétique par usage premier du bâtiment</a:t>
            </a:r>
            <a:endParaRPr lang="en-FR" dirty="0"/>
          </a:p>
        </p:txBody>
      </p:sp>
      <p:sp>
        <p:nvSpPr>
          <p:cNvPr id="18" name="ZoneTexte 9">
            <a:extLst>
              <a:ext uri="{FF2B5EF4-FFF2-40B4-BE49-F238E27FC236}">
                <a16:creationId xmlns:a16="http://schemas.microsoft.com/office/drawing/2014/main" id="{308D2E74-0B75-8C1B-F050-4D8FB1505D06}"/>
              </a:ext>
            </a:extLst>
          </p:cNvPr>
          <p:cNvSpPr txBox="1"/>
          <p:nvPr/>
        </p:nvSpPr>
        <p:spPr>
          <a:xfrm>
            <a:off x="-109904" y="1210522"/>
            <a:ext cx="4572000" cy="307777"/>
          </a:xfrm>
          <a:prstGeom prst="rect">
            <a:avLst/>
          </a:prstGeom>
          <a:noFill/>
        </p:spPr>
        <p:txBody>
          <a:bodyPr wrap="square">
            <a:spAutoFit/>
          </a:bodyPr>
          <a:lstStyle/>
          <a:p>
            <a:r>
              <a:rPr lang="fr-FR" b="1" dirty="0" err="1">
                <a:solidFill>
                  <a:srgbClr val="374151"/>
                </a:solidFill>
                <a:highlight>
                  <a:srgbClr val="53CFA2"/>
                </a:highlight>
                <a:latin typeface="Söhne"/>
              </a:rPr>
              <a:t>GHEmissionIntensity</a:t>
            </a:r>
            <a:endParaRPr lang="fr-FR" dirty="0">
              <a:highlight>
                <a:srgbClr val="53CFA2"/>
              </a:highlight>
            </a:endParaRPr>
          </a:p>
        </p:txBody>
      </p:sp>
      <p:sp>
        <p:nvSpPr>
          <p:cNvPr id="4" name="Oval 3">
            <a:extLst>
              <a:ext uri="{FF2B5EF4-FFF2-40B4-BE49-F238E27FC236}">
                <a16:creationId xmlns:a16="http://schemas.microsoft.com/office/drawing/2014/main" id="{90A8DB01-8446-B94A-378B-1FFC24478724}"/>
              </a:ext>
            </a:extLst>
          </p:cNvPr>
          <p:cNvSpPr/>
          <p:nvPr/>
        </p:nvSpPr>
        <p:spPr>
          <a:xfrm rot="5400000">
            <a:off x="8117850" y="2932809"/>
            <a:ext cx="839019" cy="253561"/>
          </a:xfrm>
          <a:prstGeom prst="ellipse">
            <a:avLst/>
          </a:prstGeom>
          <a:noFill/>
          <a:ln>
            <a:solidFill>
              <a:srgbClr val="C00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5" name="Oval 4">
            <a:extLst>
              <a:ext uri="{FF2B5EF4-FFF2-40B4-BE49-F238E27FC236}">
                <a16:creationId xmlns:a16="http://schemas.microsoft.com/office/drawing/2014/main" id="{971F903D-08AD-9068-FE74-B848FF16E5FB}"/>
              </a:ext>
            </a:extLst>
          </p:cNvPr>
          <p:cNvSpPr/>
          <p:nvPr/>
        </p:nvSpPr>
        <p:spPr>
          <a:xfrm>
            <a:off x="4450664" y="1689909"/>
            <a:ext cx="839019" cy="103871"/>
          </a:xfrm>
          <a:prstGeom prst="ellipse">
            <a:avLst/>
          </a:prstGeom>
          <a:noFill/>
          <a:ln>
            <a:solidFill>
              <a:srgbClr val="C00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7" name="Oval 26">
            <a:extLst>
              <a:ext uri="{FF2B5EF4-FFF2-40B4-BE49-F238E27FC236}">
                <a16:creationId xmlns:a16="http://schemas.microsoft.com/office/drawing/2014/main" id="{F43F6A53-D6C1-8EE6-1210-B20C3BAE6D18}"/>
              </a:ext>
            </a:extLst>
          </p:cNvPr>
          <p:cNvSpPr/>
          <p:nvPr/>
        </p:nvSpPr>
        <p:spPr>
          <a:xfrm rot="5400000">
            <a:off x="3037092" y="3188364"/>
            <a:ext cx="1507273" cy="723464"/>
          </a:xfrm>
          <a:prstGeom prst="ellipse">
            <a:avLst/>
          </a:prstGeom>
          <a:noFill/>
          <a:ln>
            <a:solidFill>
              <a:srgbClr val="C00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8" name="Oval 27">
            <a:extLst>
              <a:ext uri="{FF2B5EF4-FFF2-40B4-BE49-F238E27FC236}">
                <a16:creationId xmlns:a16="http://schemas.microsoft.com/office/drawing/2014/main" id="{FCE57745-37EF-1BA7-DE52-34BDFD9D3263}"/>
              </a:ext>
            </a:extLst>
          </p:cNvPr>
          <p:cNvSpPr/>
          <p:nvPr/>
        </p:nvSpPr>
        <p:spPr>
          <a:xfrm rot="5400000">
            <a:off x="6896316" y="1930867"/>
            <a:ext cx="166353" cy="323780"/>
          </a:xfrm>
          <a:prstGeom prst="ellipse">
            <a:avLst/>
          </a:prstGeom>
          <a:noFill/>
          <a:ln>
            <a:solidFill>
              <a:srgbClr val="FFC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9" name="Oval 28">
            <a:extLst>
              <a:ext uri="{FF2B5EF4-FFF2-40B4-BE49-F238E27FC236}">
                <a16:creationId xmlns:a16="http://schemas.microsoft.com/office/drawing/2014/main" id="{7C6969BD-558A-8827-0749-33EFC5577372}"/>
              </a:ext>
            </a:extLst>
          </p:cNvPr>
          <p:cNvSpPr/>
          <p:nvPr/>
        </p:nvSpPr>
        <p:spPr>
          <a:xfrm rot="5400000">
            <a:off x="6525818" y="2863534"/>
            <a:ext cx="907349" cy="323780"/>
          </a:xfrm>
          <a:prstGeom prst="ellipse">
            <a:avLst/>
          </a:prstGeom>
          <a:noFill/>
          <a:ln>
            <a:solidFill>
              <a:srgbClr val="FFC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0" name="Oval 29">
            <a:extLst>
              <a:ext uri="{FF2B5EF4-FFF2-40B4-BE49-F238E27FC236}">
                <a16:creationId xmlns:a16="http://schemas.microsoft.com/office/drawing/2014/main" id="{4E82DBF7-28D3-F271-C49E-21F7C58EA9F3}"/>
              </a:ext>
            </a:extLst>
          </p:cNvPr>
          <p:cNvSpPr/>
          <p:nvPr/>
        </p:nvSpPr>
        <p:spPr>
          <a:xfrm rot="5400000">
            <a:off x="4948430" y="1600882"/>
            <a:ext cx="103872" cy="921268"/>
          </a:xfrm>
          <a:prstGeom prst="ellipse">
            <a:avLst/>
          </a:prstGeom>
          <a:noFill/>
          <a:ln>
            <a:solidFill>
              <a:srgbClr val="FFC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1" name="Oval 30">
            <a:extLst>
              <a:ext uri="{FF2B5EF4-FFF2-40B4-BE49-F238E27FC236}">
                <a16:creationId xmlns:a16="http://schemas.microsoft.com/office/drawing/2014/main" id="{10F60694-B30F-F54D-B776-FCD190AD1337}"/>
              </a:ext>
            </a:extLst>
          </p:cNvPr>
          <p:cNvSpPr/>
          <p:nvPr/>
        </p:nvSpPr>
        <p:spPr>
          <a:xfrm rot="5400000">
            <a:off x="5760431" y="979713"/>
            <a:ext cx="103872" cy="702733"/>
          </a:xfrm>
          <a:prstGeom prst="ellipse">
            <a:avLst/>
          </a:prstGeom>
          <a:noFill/>
          <a:ln>
            <a:solidFill>
              <a:srgbClr val="FFC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2" name="Oval 31">
            <a:extLst>
              <a:ext uri="{FF2B5EF4-FFF2-40B4-BE49-F238E27FC236}">
                <a16:creationId xmlns:a16="http://schemas.microsoft.com/office/drawing/2014/main" id="{977298FA-41DD-AC03-D455-F07E1F4D058F}"/>
              </a:ext>
            </a:extLst>
          </p:cNvPr>
          <p:cNvSpPr/>
          <p:nvPr/>
        </p:nvSpPr>
        <p:spPr>
          <a:xfrm rot="5400000">
            <a:off x="4764089" y="738984"/>
            <a:ext cx="237077" cy="1038209"/>
          </a:xfrm>
          <a:prstGeom prst="ellipse">
            <a:avLst/>
          </a:prstGeom>
          <a:noFill/>
          <a:ln>
            <a:solidFill>
              <a:srgbClr val="FFC00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981190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11">
            <a:extLst>
              <a:ext uri="{FF2B5EF4-FFF2-40B4-BE49-F238E27FC236}">
                <a16:creationId xmlns:a16="http://schemas.microsoft.com/office/drawing/2014/main" id="{61CFB6EC-ABDB-F3C1-E7E5-C89EAD3E3C46}"/>
              </a:ext>
            </a:extLst>
          </p:cNvPr>
          <p:cNvSpPr txBox="1"/>
          <p:nvPr/>
        </p:nvSpPr>
        <p:spPr>
          <a:xfrm>
            <a:off x="357554" y="174659"/>
            <a:ext cx="5334000" cy="523220"/>
          </a:xfrm>
          <a:prstGeom prst="rect">
            <a:avLst/>
          </a:prstGeom>
          <a:noFill/>
        </p:spPr>
        <p:txBody>
          <a:bodyPr wrap="square">
            <a:spAutoFit/>
          </a:bodyPr>
          <a:lstStyle/>
          <a:p>
            <a:r>
              <a:rPr lang="fr-FR" dirty="0"/>
              <a:t>1</a:t>
            </a:r>
            <a:r>
              <a:rPr lang="fr-FR" baseline="30000" dirty="0"/>
              <a:t>er</a:t>
            </a:r>
            <a:r>
              <a:rPr lang="fr-FR" dirty="0"/>
              <a:t> filtre sur le </a:t>
            </a:r>
            <a:r>
              <a:rPr lang="fr-FR" dirty="0" err="1"/>
              <a:t>dataset</a:t>
            </a:r>
            <a:r>
              <a:rPr lang="fr-FR" dirty="0"/>
              <a:t> pour ne garder que les bâtiments non destinés à l'habitation </a:t>
            </a:r>
          </a:p>
        </p:txBody>
      </p:sp>
      <p:pic>
        <p:nvPicPr>
          <p:cNvPr id="4" name="Picture 3" descr="A close-up of a web page&#10;&#10;Description automatically generated with low confidence">
            <a:extLst>
              <a:ext uri="{FF2B5EF4-FFF2-40B4-BE49-F238E27FC236}">
                <a16:creationId xmlns:a16="http://schemas.microsoft.com/office/drawing/2014/main" id="{1F36B491-C182-C9DA-4CFE-B53AFD644612}"/>
              </a:ext>
            </a:extLst>
          </p:cNvPr>
          <p:cNvPicPr>
            <a:picLocks noChangeAspect="1"/>
          </p:cNvPicPr>
          <p:nvPr/>
        </p:nvPicPr>
        <p:blipFill>
          <a:blip r:embed="rId3"/>
          <a:stretch>
            <a:fillRect/>
          </a:stretch>
        </p:blipFill>
        <p:spPr>
          <a:xfrm>
            <a:off x="357554" y="742875"/>
            <a:ext cx="3327400" cy="596900"/>
          </a:xfrm>
          <a:prstGeom prst="rect">
            <a:avLst/>
          </a:prstGeom>
        </p:spPr>
      </p:pic>
      <p:pic>
        <p:nvPicPr>
          <p:cNvPr id="5" name="Picture 4" descr="A close-up of a computer code&#10;&#10;Description automatically generated with low confidence">
            <a:extLst>
              <a:ext uri="{FF2B5EF4-FFF2-40B4-BE49-F238E27FC236}">
                <a16:creationId xmlns:a16="http://schemas.microsoft.com/office/drawing/2014/main" id="{A01B9B57-E508-DECE-4313-0422D66599BA}"/>
              </a:ext>
            </a:extLst>
          </p:cNvPr>
          <p:cNvPicPr>
            <a:picLocks noChangeAspect="1"/>
          </p:cNvPicPr>
          <p:nvPr/>
        </p:nvPicPr>
        <p:blipFill>
          <a:blip r:embed="rId4"/>
          <a:stretch>
            <a:fillRect/>
          </a:stretch>
        </p:blipFill>
        <p:spPr>
          <a:xfrm>
            <a:off x="357554" y="1699821"/>
            <a:ext cx="3136900" cy="596900"/>
          </a:xfrm>
          <a:prstGeom prst="rect">
            <a:avLst/>
          </a:prstGeom>
        </p:spPr>
      </p:pic>
      <p:sp>
        <p:nvSpPr>
          <p:cNvPr id="6" name="ZoneTexte 11">
            <a:extLst>
              <a:ext uri="{FF2B5EF4-FFF2-40B4-BE49-F238E27FC236}">
                <a16:creationId xmlns:a16="http://schemas.microsoft.com/office/drawing/2014/main" id="{D0AF9364-0631-05A8-FE5E-4B332E754ADC}"/>
              </a:ext>
            </a:extLst>
          </p:cNvPr>
          <p:cNvSpPr txBox="1"/>
          <p:nvPr/>
        </p:nvSpPr>
        <p:spPr>
          <a:xfrm>
            <a:off x="357554" y="1366930"/>
            <a:ext cx="6983772" cy="307777"/>
          </a:xfrm>
          <a:prstGeom prst="rect">
            <a:avLst/>
          </a:prstGeom>
          <a:noFill/>
        </p:spPr>
        <p:txBody>
          <a:bodyPr wrap="square">
            <a:spAutoFit/>
          </a:bodyPr>
          <a:lstStyle/>
          <a:p>
            <a:r>
              <a:rPr lang="fr-FR" dirty="0"/>
              <a:t>2</a:t>
            </a:r>
            <a:r>
              <a:rPr lang="fr-FR" baseline="30000" dirty="0"/>
              <a:t>e</a:t>
            </a:r>
            <a:r>
              <a:rPr lang="fr-FR" dirty="0"/>
              <a:t> suppression des lignes </a:t>
            </a:r>
            <a:r>
              <a:rPr lang="fr-FR" dirty="0" err="1"/>
              <a:t>outliers</a:t>
            </a:r>
            <a:r>
              <a:rPr lang="fr-FR" dirty="0"/>
              <a:t> et remplacement des valeurs aberrantes</a:t>
            </a:r>
          </a:p>
        </p:txBody>
      </p:sp>
      <p:sp>
        <p:nvSpPr>
          <p:cNvPr id="7" name="ZoneTexte 11">
            <a:extLst>
              <a:ext uri="{FF2B5EF4-FFF2-40B4-BE49-F238E27FC236}">
                <a16:creationId xmlns:a16="http://schemas.microsoft.com/office/drawing/2014/main" id="{7CD52769-95DD-A294-A8ED-F45FE13A2915}"/>
              </a:ext>
            </a:extLst>
          </p:cNvPr>
          <p:cNvSpPr txBox="1"/>
          <p:nvPr/>
        </p:nvSpPr>
        <p:spPr>
          <a:xfrm>
            <a:off x="389304" y="2938399"/>
            <a:ext cx="6210300" cy="307777"/>
          </a:xfrm>
          <a:prstGeom prst="rect">
            <a:avLst/>
          </a:prstGeom>
          <a:noFill/>
        </p:spPr>
        <p:txBody>
          <a:bodyPr wrap="square">
            <a:spAutoFit/>
          </a:bodyPr>
          <a:lstStyle/>
          <a:p>
            <a:r>
              <a:rPr lang="fr-FR" dirty="0"/>
              <a:t>4</a:t>
            </a:r>
            <a:r>
              <a:rPr lang="fr-FR" baseline="30000" dirty="0"/>
              <a:t>e</a:t>
            </a:r>
            <a:r>
              <a:rPr lang="fr-FR" dirty="0"/>
              <a:t> filtre suppression des données indiquées comme non-conformes</a:t>
            </a:r>
          </a:p>
        </p:txBody>
      </p:sp>
      <p:pic>
        <p:nvPicPr>
          <p:cNvPr id="8" name="Picture 7">
            <a:extLst>
              <a:ext uri="{FF2B5EF4-FFF2-40B4-BE49-F238E27FC236}">
                <a16:creationId xmlns:a16="http://schemas.microsoft.com/office/drawing/2014/main" id="{09C2B077-4891-C8A9-9E6A-1D7B9E4B3E3A}"/>
              </a:ext>
            </a:extLst>
          </p:cNvPr>
          <p:cNvPicPr>
            <a:picLocks noChangeAspect="1"/>
          </p:cNvPicPr>
          <p:nvPr/>
        </p:nvPicPr>
        <p:blipFill>
          <a:blip r:embed="rId5"/>
          <a:stretch>
            <a:fillRect/>
          </a:stretch>
        </p:blipFill>
        <p:spPr>
          <a:xfrm>
            <a:off x="357554" y="3244624"/>
            <a:ext cx="6210300" cy="381000"/>
          </a:xfrm>
          <a:prstGeom prst="rect">
            <a:avLst/>
          </a:prstGeom>
        </p:spPr>
      </p:pic>
      <p:sp>
        <p:nvSpPr>
          <p:cNvPr id="27" name="ZoneTexte 7">
            <a:extLst>
              <a:ext uri="{FF2B5EF4-FFF2-40B4-BE49-F238E27FC236}">
                <a16:creationId xmlns:a16="http://schemas.microsoft.com/office/drawing/2014/main" id="{8E735312-3EEC-1782-5B66-33C4F5DC5258}"/>
              </a:ext>
            </a:extLst>
          </p:cNvPr>
          <p:cNvSpPr txBox="1"/>
          <p:nvPr/>
        </p:nvSpPr>
        <p:spPr>
          <a:xfrm>
            <a:off x="389304" y="2306682"/>
            <a:ext cx="8563708" cy="523220"/>
          </a:xfrm>
          <a:prstGeom prst="rect">
            <a:avLst/>
          </a:prstGeom>
          <a:noFill/>
        </p:spPr>
        <p:txBody>
          <a:bodyPr wrap="square">
            <a:spAutoFit/>
          </a:bodyPr>
          <a:lstStyle/>
          <a:p>
            <a:r>
              <a:rPr lang="fr-FR" b="0" i="0" dirty="0">
                <a:effectLst/>
                <a:latin typeface="Arial" panose="020B0604020202020204" pitchFamily="34" charset="0"/>
                <a:cs typeface="Arial" panose="020B0604020202020204" pitchFamily="34" charset="0"/>
              </a:rPr>
              <a:t>3</a:t>
            </a:r>
            <a:r>
              <a:rPr lang="fr-FR" b="0" i="0" baseline="30000" dirty="0">
                <a:effectLst/>
                <a:latin typeface="Arial" panose="020B0604020202020204" pitchFamily="34" charset="0"/>
                <a:cs typeface="Arial" panose="020B0604020202020204" pitchFamily="34" charset="0"/>
              </a:rPr>
              <a:t>e</a:t>
            </a:r>
            <a:r>
              <a:rPr lang="fr-FR" b="0" i="0" dirty="0">
                <a:effectLst/>
                <a:latin typeface="Arial" panose="020B0604020202020204" pitchFamily="34" charset="0"/>
                <a:cs typeface="Arial" panose="020B0604020202020204" pitchFamily="34" charset="0"/>
              </a:rPr>
              <a:t> transformation des données en </a:t>
            </a:r>
            <a:r>
              <a:rPr lang="fr-FR" dirty="0">
                <a:latin typeface="Arial" panose="020B0604020202020204" pitchFamily="34" charset="0"/>
                <a:cs typeface="Arial" panose="020B0604020202020204" pitchFamily="34" charset="0"/>
              </a:rPr>
              <a:t>remplaçant les </a:t>
            </a:r>
            <a:r>
              <a:rPr lang="fr-FR" dirty="0">
                <a:highlight>
                  <a:srgbClr val="53CFA2"/>
                </a:highlight>
                <a:latin typeface="Arial" panose="020B0604020202020204" pitchFamily="34" charset="0"/>
                <a:cs typeface="Arial" panose="020B0604020202020204" pitchFamily="34" charset="0"/>
              </a:rPr>
              <a:t>valeurs des mesures </a:t>
            </a:r>
            <a:r>
              <a:rPr lang="fr-FR" dirty="0" err="1">
                <a:highlight>
                  <a:srgbClr val="53CFA2"/>
                </a:highlight>
                <a:latin typeface="Arial" panose="020B0604020202020204" pitchFamily="34" charset="0"/>
                <a:cs typeface="Arial" panose="020B0604020202020204" pitchFamily="34" charset="0"/>
              </a:rPr>
              <a:t>abberantes</a:t>
            </a:r>
            <a:r>
              <a:rPr lang="fr-FR" dirty="0">
                <a:highlight>
                  <a:srgbClr val="53CFA2"/>
                </a:highlight>
                <a:latin typeface="Arial" panose="020B0604020202020204" pitchFamily="34" charset="0"/>
                <a:cs typeface="Arial" panose="020B0604020202020204" pitchFamily="34" charset="0"/>
              </a:rPr>
              <a:t> &lt;0 </a:t>
            </a:r>
            <a:r>
              <a:rPr lang="fr-FR" dirty="0">
                <a:latin typeface="Arial" panose="020B0604020202020204" pitchFamily="34" charset="0"/>
                <a:cs typeface="Arial" panose="020B0604020202020204" pitchFamily="34" charset="0"/>
              </a:rPr>
              <a:t> par la valeur </a:t>
            </a:r>
            <a:r>
              <a:rPr lang="fr-FR" dirty="0">
                <a:highlight>
                  <a:srgbClr val="53CFA2"/>
                </a:highlight>
                <a:latin typeface="Arial" panose="020B0604020202020204" pitchFamily="34" charset="0"/>
                <a:cs typeface="Arial" panose="020B0604020202020204" pitchFamily="34" charset="0"/>
              </a:rPr>
              <a:t>NaN </a:t>
            </a:r>
            <a:r>
              <a:rPr lang="fr-FR" b="0" i="0" u="none" strike="noStrike" dirty="0">
                <a:effectLst/>
                <a:latin typeface="Arial" panose="020B0604020202020204" pitchFamily="34" charset="0"/>
                <a:cs typeface="Arial" panose="020B0604020202020204" pitchFamily="34" charset="0"/>
              </a:rPr>
              <a:t> excepté les valeurs négatives légitimes telles que les données sur la longitude</a:t>
            </a:r>
            <a:endParaRPr lang="fr-FR" dirty="0">
              <a:latin typeface="Arial" panose="020B0604020202020204" pitchFamily="34" charset="0"/>
              <a:cs typeface="Arial" panose="020B0604020202020204" pitchFamily="34" charset="0"/>
            </a:endParaRPr>
          </a:p>
        </p:txBody>
      </p:sp>
      <p:sp>
        <p:nvSpPr>
          <p:cNvPr id="2" name="Google Shape;409;p43">
            <a:extLst>
              <a:ext uri="{FF2B5EF4-FFF2-40B4-BE49-F238E27FC236}">
                <a16:creationId xmlns:a16="http://schemas.microsoft.com/office/drawing/2014/main" id="{2C33356B-B8AC-9DC4-B74A-33DF4C487DC6}"/>
              </a:ext>
            </a:extLst>
          </p:cNvPr>
          <p:cNvSpPr txBox="1"/>
          <p:nvPr/>
        </p:nvSpPr>
        <p:spPr>
          <a:xfrm flipH="1">
            <a:off x="7041554" y="27751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2</a:t>
            </a:r>
            <a:endParaRPr sz="3500" dirty="0">
              <a:solidFill>
                <a:schemeClr val="dk2"/>
              </a:solidFill>
              <a:latin typeface="Quicksand SemiBold"/>
              <a:ea typeface="Quicksand SemiBold"/>
              <a:cs typeface="Quicksand SemiBold"/>
              <a:sym typeface="Quicksand SemiBold"/>
            </a:endParaRPr>
          </a:p>
        </p:txBody>
      </p:sp>
      <p:sp>
        <p:nvSpPr>
          <p:cNvPr id="10" name="Google Shape;410;p43">
            <a:extLst>
              <a:ext uri="{FF2B5EF4-FFF2-40B4-BE49-F238E27FC236}">
                <a16:creationId xmlns:a16="http://schemas.microsoft.com/office/drawing/2014/main" id="{AC04F58A-B933-CC69-7BA5-DB805F27E49E}"/>
              </a:ext>
            </a:extLst>
          </p:cNvPr>
          <p:cNvSpPr txBox="1"/>
          <p:nvPr/>
        </p:nvSpPr>
        <p:spPr>
          <a:xfrm flipH="1">
            <a:off x="6974146" y="742875"/>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rPr>
              <a:t>Nettoyage des données, gestion des </a:t>
            </a:r>
            <a:r>
              <a:rPr lang="fr-FR" sz="1200" dirty="0" err="1">
                <a:solidFill>
                  <a:schemeClr val="dk1"/>
                </a:solidFill>
                <a:latin typeface="Quicksand Medium"/>
              </a:rPr>
              <a:t>outliers</a:t>
            </a:r>
            <a:r>
              <a:rPr lang="fr-FR" sz="1200" dirty="0">
                <a:solidFill>
                  <a:schemeClr val="dk1"/>
                </a:solidFill>
                <a:latin typeface="Quicksand Medium"/>
              </a:rPr>
              <a:t>, sélection des caractéristiques</a:t>
            </a:r>
            <a:endParaRPr lang="fr-FR" sz="1200" dirty="0">
              <a:solidFill>
                <a:schemeClr val="dk1"/>
              </a:solidFill>
              <a:latin typeface="Quicksand Medium"/>
              <a:sym typeface="Quicksand Medium"/>
            </a:endParaRPr>
          </a:p>
        </p:txBody>
      </p:sp>
      <p:sp>
        <p:nvSpPr>
          <p:cNvPr id="13" name="ZoneTexte 11">
            <a:extLst>
              <a:ext uri="{FF2B5EF4-FFF2-40B4-BE49-F238E27FC236}">
                <a16:creationId xmlns:a16="http://schemas.microsoft.com/office/drawing/2014/main" id="{C3AEE748-EDD8-F174-D71F-9AF707A9DB19}"/>
              </a:ext>
            </a:extLst>
          </p:cNvPr>
          <p:cNvSpPr txBox="1"/>
          <p:nvPr/>
        </p:nvSpPr>
        <p:spPr>
          <a:xfrm>
            <a:off x="389304" y="3670410"/>
            <a:ext cx="7312437" cy="1384995"/>
          </a:xfrm>
          <a:prstGeom prst="rect">
            <a:avLst/>
          </a:prstGeom>
          <a:noFill/>
        </p:spPr>
        <p:txBody>
          <a:bodyPr wrap="square">
            <a:spAutoFit/>
          </a:bodyPr>
          <a:lstStyle/>
          <a:p>
            <a:r>
              <a:rPr lang="fr-FR" dirty="0"/>
              <a:t>5</a:t>
            </a:r>
            <a:r>
              <a:rPr lang="fr-FR" baseline="30000" dirty="0"/>
              <a:t>e</a:t>
            </a:r>
            <a:r>
              <a:rPr lang="fr-FR" dirty="0"/>
              <a:t> Suppression des colonnes avec un fort taux de valeurs manquantes, filtre sur les colonnes pertinentes et suppression des variables restantes pouvant provoquer des </a:t>
            </a:r>
            <a:r>
              <a:rPr lang="fr-FR" dirty="0">
                <a:highlight>
                  <a:srgbClr val="53CFA2"/>
                </a:highlight>
              </a:rPr>
              <a:t>fuites de données</a:t>
            </a:r>
          </a:p>
          <a:p>
            <a:endParaRPr lang="fr-FR" dirty="0">
              <a:highlight>
                <a:srgbClr val="53CFA2"/>
              </a:highlight>
            </a:endParaRPr>
          </a:p>
          <a:p>
            <a:r>
              <a:rPr lang="en-US" b="1" dirty="0" err="1">
                <a:solidFill>
                  <a:srgbClr val="374151"/>
                </a:solidFill>
                <a:latin typeface="Söhne"/>
              </a:rPr>
              <a:t>OnehotEncoding</a:t>
            </a:r>
            <a:r>
              <a:rPr lang="en-US" b="1" dirty="0">
                <a:solidFill>
                  <a:srgbClr val="374151"/>
                </a:solidFill>
                <a:latin typeface="Söhne"/>
              </a:rPr>
              <a:t> et elimination des </a:t>
            </a:r>
            <a:r>
              <a:rPr lang="en-US" b="1" dirty="0" err="1">
                <a:solidFill>
                  <a:srgbClr val="374151"/>
                </a:solidFill>
                <a:latin typeface="Söhne"/>
              </a:rPr>
              <a:t>valeurs</a:t>
            </a:r>
            <a:r>
              <a:rPr lang="en-US" b="1" dirty="0">
                <a:solidFill>
                  <a:srgbClr val="374151"/>
                </a:solidFill>
                <a:latin typeface="Söhne"/>
              </a:rPr>
              <a:t> </a:t>
            </a:r>
            <a:r>
              <a:rPr lang="en-US" b="1" dirty="0" err="1">
                <a:solidFill>
                  <a:srgbClr val="374151"/>
                </a:solidFill>
                <a:latin typeface="Söhne"/>
              </a:rPr>
              <a:t>manquantes</a:t>
            </a:r>
            <a:r>
              <a:rPr lang="en-US" b="1" dirty="0">
                <a:solidFill>
                  <a:srgbClr val="374151"/>
                </a:solidFill>
                <a:latin typeface="Söhne"/>
              </a:rPr>
              <a:t> avec la </a:t>
            </a:r>
            <a:r>
              <a:rPr lang="en-US" b="1" dirty="0" err="1">
                <a:solidFill>
                  <a:srgbClr val="374151"/>
                </a:solidFill>
                <a:latin typeface="Söhne"/>
              </a:rPr>
              <a:t>méthode</a:t>
            </a:r>
            <a:r>
              <a:rPr lang="en-US" b="1" dirty="0">
                <a:solidFill>
                  <a:srgbClr val="374151"/>
                </a:solidFill>
                <a:latin typeface="Söhne"/>
              </a:rPr>
              <a:t> du KNN imputer</a:t>
            </a:r>
            <a:endParaRPr lang="fr-FR" dirty="0"/>
          </a:p>
          <a:p>
            <a:endParaRPr lang="fr-FR" dirty="0"/>
          </a:p>
        </p:txBody>
      </p:sp>
      <p:sp>
        <p:nvSpPr>
          <p:cNvPr id="9" name="TextBox 8">
            <a:extLst>
              <a:ext uri="{FF2B5EF4-FFF2-40B4-BE49-F238E27FC236}">
                <a16:creationId xmlns:a16="http://schemas.microsoft.com/office/drawing/2014/main" id="{74AAA7A4-E65A-8924-2D6E-E4E891FB6050}"/>
              </a:ext>
            </a:extLst>
          </p:cNvPr>
          <p:cNvSpPr txBox="1"/>
          <p:nvPr/>
        </p:nvSpPr>
        <p:spPr>
          <a:xfrm>
            <a:off x="180753" y="4799564"/>
            <a:ext cx="8859617" cy="338554"/>
          </a:xfrm>
          <a:prstGeom prst="rect">
            <a:avLst/>
          </a:prstGeom>
          <a:noFill/>
        </p:spPr>
        <p:txBody>
          <a:bodyPr wrap="square">
            <a:spAutoFit/>
          </a:bodyPr>
          <a:lstStyle/>
          <a:p>
            <a:pPr marL="0" indent="0" algn="l">
              <a:buSzPts val="1100"/>
            </a:pPr>
            <a:r>
              <a:rPr lang="fr-FR" sz="1600" dirty="0">
                <a:solidFill>
                  <a:schemeClr val="dk1"/>
                </a:solidFill>
                <a:latin typeface="Quicksand SemiBold"/>
                <a:sym typeface="Wingdings" pitchFamily="2" charset="2"/>
              </a:rPr>
              <a:t></a:t>
            </a:r>
            <a:r>
              <a:rPr lang="fr-FR" sz="1600" dirty="0">
                <a:solidFill>
                  <a:schemeClr val="dk1"/>
                </a:solidFill>
                <a:latin typeface="Quicksand SemiBold"/>
              </a:rPr>
              <a:t>  </a:t>
            </a:r>
            <a:r>
              <a:rPr lang="fr-FR" sz="1600" dirty="0" err="1">
                <a:solidFill>
                  <a:schemeClr val="dk1"/>
                </a:solidFill>
                <a:latin typeface="Quicksand SemiBold"/>
              </a:rPr>
              <a:t>dataset</a:t>
            </a:r>
            <a:r>
              <a:rPr lang="fr-FR" sz="1600" dirty="0">
                <a:solidFill>
                  <a:schemeClr val="dk1"/>
                </a:solidFill>
                <a:latin typeface="Quicksand SemiBold"/>
              </a:rPr>
              <a:t>  initial de 46 colonnes et 3376 lignes à un </a:t>
            </a:r>
            <a:r>
              <a:rPr lang="fr-FR" sz="1600" dirty="0" err="1">
                <a:solidFill>
                  <a:schemeClr val="dk1"/>
                </a:solidFill>
                <a:latin typeface="Quicksand SemiBold"/>
              </a:rPr>
              <a:t>dataset</a:t>
            </a:r>
            <a:r>
              <a:rPr lang="fr-FR" sz="1600" dirty="0">
                <a:solidFill>
                  <a:schemeClr val="dk1"/>
                </a:solidFill>
                <a:latin typeface="Quicksand SemiBold"/>
              </a:rPr>
              <a:t> de 8 colonnes et 1545 lignes</a:t>
            </a:r>
          </a:p>
        </p:txBody>
      </p:sp>
    </p:spTree>
    <p:extLst>
      <p:ext uri="{BB962C8B-B14F-4D97-AF65-F5344CB8AC3E}">
        <p14:creationId xmlns:p14="http://schemas.microsoft.com/office/powerpoint/2010/main" val="3500383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720000" y="16801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err="1"/>
              <a:t>Modélisations</a:t>
            </a:r>
            <a:r>
              <a:rPr lang="en-GB" dirty="0"/>
              <a:t> et </a:t>
            </a:r>
            <a:r>
              <a:rPr lang="en-GB" dirty="0" err="1"/>
              <a:t>prédictions</a:t>
            </a:r>
            <a:endParaRPr lang="en-GB" dirty="0"/>
          </a:p>
        </p:txBody>
      </p:sp>
      <p:sp>
        <p:nvSpPr>
          <p:cNvPr id="2" name="Google Shape;403;p43">
            <a:extLst>
              <a:ext uri="{FF2B5EF4-FFF2-40B4-BE49-F238E27FC236}">
                <a16:creationId xmlns:a16="http://schemas.microsoft.com/office/drawing/2014/main" id="{C3DE99EB-ACFA-7FD6-FA3D-586A0C34F1F3}"/>
              </a:ext>
            </a:extLst>
          </p:cNvPr>
          <p:cNvSpPr txBox="1"/>
          <p:nvPr/>
        </p:nvSpPr>
        <p:spPr>
          <a:xfrm flipH="1">
            <a:off x="7411092" y="102706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3</a:t>
            </a:r>
          </a:p>
          <a:p>
            <a:pPr algn="ctr"/>
            <a:r>
              <a:rPr lang="fr-FR" sz="1200" dirty="0">
                <a:solidFill>
                  <a:schemeClr val="dk1"/>
                </a:solidFill>
                <a:latin typeface="Quicksand Medium"/>
                <a:sym typeface="Quicksand Medium"/>
              </a:rPr>
              <a:t>Choix d’un modèle de base de prédictions</a:t>
            </a:r>
          </a:p>
          <a:p>
            <a:pPr marL="0" lvl="0" indent="0" algn="ctr" rtl="0">
              <a:spcBef>
                <a:spcPts val="0"/>
              </a:spcBef>
              <a:spcAft>
                <a:spcPts val="0"/>
              </a:spcAft>
              <a:buNone/>
            </a:pPr>
            <a:endParaRPr sz="3500" dirty="0">
              <a:solidFill>
                <a:schemeClr val="dk2"/>
              </a:solidFill>
              <a:latin typeface="Quicksand SemiBold"/>
              <a:ea typeface="Quicksand SemiBold"/>
              <a:cs typeface="Quicksand SemiBold"/>
              <a:sym typeface="Quicksand SemiBold"/>
            </a:endParaRPr>
          </a:p>
        </p:txBody>
      </p:sp>
      <p:sp>
        <p:nvSpPr>
          <p:cNvPr id="3" name="Espace réservé du texte 2">
            <a:extLst>
              <a:ext uri="{FF2B5EF4-FFF2-40B4-BE49-F238E27FC236}">
                <a16:creationId xmlns:a16="http://schemas.microsoft.com/office/drawing/2014/main" id="{8B6697AB-A033-AE7C-851B-E6DA3A77A9EB}"/>
              </a:ext>
            </a:extLst>
          </p:cNvPr>
          <p:cNvSpPr txBox="1">
            <a:spLocks/>
          </p:cNvSpPr>
          <p:nvPr/>
        </p:nvSpPr>
        <p:spPr>
          <a:xfrm>
            <a:off x="297969" y="868916"/>
            <a:ext cx="7704000" cy="40937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9pPr>
          </a:lstStyle>
          <a:p>
            <a:pPr marL="152400" indent="0" algn="l">
              <a:buNone/>
            </a:pPr>
            <a:r>
              <a:rPr lang="en-US" b="1" i="0" dirty="0">
                <a:solidFill>
                  <a:srgbClr val="374151"/>
                </a:solidFill>
                <a:effectLst/>
                <a:latin typeface="Söhne"/>
              </a:rPr>
              <a:t>Passage au log des </a:t>
            </a:r>
            <a:r>
              <a:rPr lang="en-US" b="1" i="0" dirty="0" err="1">
                <a:solidFill>
                  <a:srgbClr val="374151"/>
                </a:solidFill>
                <a:effectLst/>
                <a:latin typeface="Söhne"/>
              </a:rPr>
              <a:t>valeurs</a:t>
            </a:r>
            <a:r>
              <a:rPr lang="en-US" b="1" i="0" dirty="0">
                <a:solidFill>
                  <a:srgbClr val="374151"/>
                </a:solidFill>
                <a:effectLst/>
                <a:latin typeface="Söhne"/>
              </a:rPr>
              <a:t> </a:t>
            </a:r>
            <a:r>
              <a:rPr lang="en-US" b="1" i="0" dirty="0" err="1">
                <a:solidFill>
                  <a:srgbClr val="374151"/>
                </a:solidFill>
                <a:effectLst/>
                <a:latin typeface="Söhne"/>
              </a:rPr>
              <a:t>cibles</a:t>
            </a:r>
            <a:r>
              <a:rPr lang="en-US" b="1" i="0" dirty="0">
                <a:solidFill>
                  <a:srgbClr val="374151"/>
                </a:solidFill>
                <a:effectLst/>
                <a:latin typeface="Söhne"/>
              </a:rPr>
              <a:t> et </a:t>
            </a:r>
            <a:r>
              <a:rPr lang="en-US" b="1" i="0" dirty="0" err="1">
                <a:solidFill>
                  <a:srgbClr val="374151"/>
                </a:solidFill>
                <a:effectLst/>
                <a:latin typeface="Söhne"/>
              </a:rPr>
              <a:t>caractéristiques</a:t>
            </a:r>
            <a:r>
              <a:rPr lang="en-US" b="1" i="0" dirty="0">
                <a:solidFill>
                  <a:srgbClr val="374151"/>
                </a:solidFill>
                <a:effectLst/>
                <a:latin typeface="Söhne"/>
              </a:rPr>
              <a:t> </a:t>
            </a:r>
            <a:r>
              <a:rPr lang="en-US" b="0" i="0" dirty="0">
                <a:solidFill>
                  <a:srgbClr val="374151"/>
                </a:solidFill>
                <a:effectLst/>
                <a:latin typeface="Söhne"/>
              </a:rPr>
              <a:t>:</a:t>
            </a:r>
          </a:p>
          <a:p>
            <a:pPr marL="457200" lvl="1" indent="0" algn="l">
              <a:buNone/>
            </a:pPr>
            <a:r>
              <a:rPr lang="en-US" i="0" dirty="0" err="1">
                <a:solidFill>
                  <a:srgbClr val="374151"/>
                </a:solidFill>
                <a:effectLst/>
                <a:latin typeface="Söhne"/>
              </a:rPr>
              <a:t>Encodage</a:t>
            </a:r>
            <a:r>
              <a:rPr lang="en-US" i="0" dirty="0">
                <a:solidFill>
                  <a:srgbClr val="374151"/>
                </a:solidFill>
                <a:effectLst/>
                <a:latin typeface="Söhne"/>
              </a:rPr>
              <a:t> des </a:t>
            </a:r>
            <a:r>
              <a:rPr lang="en-US" i="0" dirty="0" err="1">
                <a:solidFill>
                  <a:srgbClr val="374151"/>
                </a:solidFill>
                <a:effectLst/>
                <a:latin typeface="Söhne"/>
              </a:rPr>
              <a:t>valeurs</a:t>
            </a:r>
            <a:r>
              <a:rPr lang="en-US" i="0" dirty="0">
                <a:solidFill>
                  <a:srgbClr val="374151"/>
                </a:solidFill>
                <a:effectLst/>
                <a:latin typeface="Söhne"/>
              </a:rPr>
              <a:t> </a:t>
            </a:r>
            <a:r>
              <a:rPr lang="en-US" i="0" dirty="0" err="1">
                <a:solidFill>
                  <a:srgbClr val="374151"/>
                </a:solidFill>
                <a:effectLst/>
                <a:latin typeface="Söhne"/>
              </a:rPr>
              <a:t>qualitatives</a:t>
            </a:r>
            <a:r>
              <a:rPr lang="en-US" i="0" dirty="0">
                <a:solidFill>
                  <a:srgbClr val="374151"/>
                </a:solidFill>
                <a:effectLst/>
                <a:latin typeface="Söhne"/>
              </a:rPr>
              <a:t> </a:t>
            </a:r>
            <a:r>
              <a:rPr lang="en-US" i="0" dirty="0" err="1">
                <a:solidFill>
                  <a:srgbClr val="374151"/>
                </a:solidFill>
                <a:effectLst/>
                <a:latin typeface="Söhne"/>
              </a:rPr>
              <a:t>nominales</a:t>
            </a:r>
            <a:r>
              <a:rPr lang="en-US" i="0" dirty="0">
                <a:solidFill>
                  <a:srgbClr val="374151"/>
                </a:solidFill>
                <a:effectLst/>
                <a:latin typeface="Söhne"/>
              </a:rPr>
              <a:t> “</a:t>
            </a:r>
            <a:r>
              <a:rPr lang="en-US" i="0" dirty="0" err="1">
                <a:solidFill>
                  <a:srgbClr val="374151"/>
                </a:solidFill>
                <a:effectLst/>
                <a:latin typeface="Söhne"/>
              </a:rPr>
              <a:t>primarypropertytype</a:t>
            </a:r>
            <a:r>
              <a:rPr lang="en-US" i="0" dirty="0">
                <a:solidFill>
                  <a:srgbClr val="374151"/>
                </a:solidFill>
                <a:effectLst/>
                <a:latin typeface="Söhne"/>
              </a:rPr>
              <a:t>”, </a:t>
            </a:r>
            <a:r>
              <a:rPr lang="en-US" b="0" i="0" dirty="0">
                <a:solidFill>
                  <a:srgbClr val="374151"/>
                </a:solidFill>
                <a:effectLst/>
                <a:latin typeface="Söhne"/>
              </a:rPr>
              <a:t>passage au log des </a:t>
            </a:r>
            <a:r>
              <a:rPr lang="en-US" b="0" i="0" dirty="0" err="1">
                <a:solidFill>
                  <a:srgbClr val="374151"/>
                </a:solidFill>
                <a:effectLst/>
                <a:latin typeface="Söhne"/>
              </a:rPr>
              <a:t>valeurs</a:t>
            </a:r>
            <a:r>
              <a:rPr lang="en-US" b="0" i="0" dirty="0">
                <a:solidFill>
                  <a:srgbClr val="374151"/>
                </a:solidFill>
                <a:effectLst/>
                <a:latin typeface="Söhne"/>
              </a:rPr>
              <a:t> continues et target </a:t>
            </a:r>
            <a:r>
              <a:rPr lang="en-US" b="0" i="0" dirty="0" err="1">
                <a:solidFill>
                  <a:srgbClr val="374151"/>
                </a:solidFill>
                <a:effectLst/>
                <a:latin typeface="Söhne"/>
              </a:rPr>
              <a:t>afin</a:t>
            </a:r>
            <a:r>
              <a:rPr lang="en-US" b="0" i="0" dirty="0">
                <a:solidFill>
                  <a:srgbClr val="374151"/>
                </a:solidFill>
                <a:effectLst/>
                <a:latin typeface="Söhne"/>
              </a:rPr>
              <a:t> de les </a:t>
            </a:r>
            <a:r>
              <a:rPr lang="en-US" b="0" i="0" dirty="0" err="1">
                <a:solidFill>
                  <a:srgbClr val="374151"/>
                </a:solidFill>
                <a:effectLst/>
                <a:latin typeface="Söhne"/>
              </a:rPr>
              <a:t>rendre</a:t>
            </a:r>
            <a:r>
              <a:rPr lang="en-US" b="0" i="0" dirty="0">
                <a:solidFill>
                  <a:srgbClr val="374151"/>
                </a:solidFill>
                <a:effectLst/>
                <a:latin typeface="Söhne"/>
              </a:rPr>
              <a:t> plus </a:t>
            </a:r>
            <a:r>
              <a:rPr lang="en-US" b="0" i="0" dirty="0" err="1">
                <a:solidFill>
                  <a:srgbClr val="374151"/>
                </a:solidFill>
                <a:effectLst/>
                <a:latin typeface="Söhne"/>
              </a:rPr>
              <a:t>adaptées</a:t>
            </a:r>
            <a:r>
              <a:rPr lang="en-US" b="0" i="0" dirty="0">
                <a:solidFill>
                  <a:srgbClr val="374151"/>
                </a:solidFill>
                <a:effectLst/>
                <a:latin typeface="Söhne"/>
              </a:rPr>
              <a:t> </a:t>
            </a:r>
            <a:r>
              <a:rPr lang="en-US" b="0" i="0" dirty="0" err="1">
                <a:solidFill>
                  <a:srgbClr val="374151"/>
                </a:solidFill>
                <a:effectLst/>
                <a:latin typeface="Söhne"/>
              </a:rPr>
              <a:t>à</a:t>
            </a:r>
            <a:r>
              <a:rPr lang="en-US" b="0" i="0" dirty="0">
                <a:solidFill>
                  <a:srgbClr val="374151"/>
                </a:solidFill>
                <a:effectLst/>
                <a:latin typeface="Söhne"/>
              </a:rPr>
              <a:t> </a:t>
            </a:r>
            <a:r>
              <a:rPr lang="en-US" b="0" i="0" dirty="0" err="1">
                <a:solidFill>
                  <a:srgbClr val="374151"/>
                </a:solidFill>
                <a:effectLst/>
                <a:latin typeface="Söhne"/>
              </a:rPr>
              <a:t>l'entraînement</a:t>
            </a:r>
            <a:r>
              <a:rPr lang="en-US" b="0" i="0" dirty="0">
                <a:solidFill>
                  <a:srgbClr val="374151"/>
                </a:solidFill>
                <a:effectLst/>
                <a:latin typeface="Söhne"/>
              </a:rPr>
              <a:t> des </a:t>
            </a:r>
            <a:r>
              <a:rPr lang="en-US" b="0" i="0" dirty="0" err="1">
                <a:solidFill>
                  <a:srgbClr val="374151"/>
                </a:solidFill>
                <a:effectLst/>
                <a:latin typeface="Söhne"/>
              </a:rPr>
              <a:t>modèles</a:t>
            </a:r>
            <a:r>
              <a:rPr lang="en-US" b="0" i="0" dirty="0">
                <a:solidFill>
                  <a:srgbClr val="374151"/>
                </a:solidFill>
                <a:effectLst/>
                <a:latin typeface="Söhne"/>
              </a:rPr>
              <a:t> de </a:t>
            </a:r>
            <a:r>
              <a:rPr lang="en-US" b="0" i="0" dirty="0" err="1">
                <a:solidFill>
                  <a:srgbClr val="374151"/>
                </a:solidFill>
                <a:effectLst/>
                <a:latin typeface="Söhne"/>
              </a:rPr>
              <a:t>régression</a:t>
            </a:r>
            <a:r>
              <a:rPr lang="en-US" b="0" i="0" dirty="0">
                <a:solidFill>
                  <a:srgbClr val="374151"/>
                </a:solidFill>
                <a:effectLst/>
                <a:latin typeface="Söhne"/>
              </a:rPr>
              <a:t>.</a:t>
            </a:r>
            <a:br>
              <a:rPr lang="en-US" b="0" i="0" dirty="0">
                <a:solidFill>
                  <a:srgbClr val="374151"/>
                </a:solidFill>
                <a:effectLst/>
                <a:latin typeface="Söhne"/>
              </a:rPr>
            </a:br>
            <a:endParaRPr lang="en-US" b="0" i="0" dirty="0">
              <a:solidFill>
                <a:srgbClr val="374151"/>
              </a:solidFill>
              <a:effectLst/>
              <a:latin typeface="Söhne"/>
            </a:endParaRPr>
          </a:p>
          <a:p>
            <a:pPr marL="152400" indent="0" algn="l">
              <a:buNone/>
            </a:pPr>
            <a:r>
              <a:rPr lang="en-US" b="1" i="0" dirty="0" err="1">
                <a:solidFill>
                  <a:srgbClr val="374151"/>
                </a:solidFill>
                <a:effectLst/>
                <a:latin typeface="Söhne"/>
              </a:rPr>
              <a:t>RandomForestRegressor</a:t>
            </a:r>
            <a:r>
              <a:rPr lang="en-US" b="1" i="0" dirty="0">
                <a:solidFill>
                  <a:srgbClr val="374151"/>
                </a:solidFill>
                <a:effectLst/>
                <a:latin typeface="Söhne"/>
              </a:rPr>
              <a:t> et </a:t>
            </a:r>
            <a:r>
              <a:rPr lang="en-US" b="1" i="0" dirty="0" err="1">
                <a:solidFill>
                  <a:srgbClr val="374151"/>
                </a:solidFill>
                <a:effectLst/>
                <a:latin typeface="Söhne"/>
              </a:rPr>
              <a:t>GradientBoostingRegressor</a:t>
            </a:r>
            <a:r>
              <a:rPr lang="en-US" b="0" i="0" dirty="0">
                <a:solidFill>
                  <a:srgbClr val="374151"/>
                </a:solidFill>
                <a:effectLst/>
                <a:latin typeface="Söhne"/>
              </a:rPr>
              <a:t> :</a:t>
            </a:r>
          </a:p>
          <a:p>
            <a:pPr marL="457200" lvl="1" indent="0" algn="l">
              <a:buNone/>
            </a:pPr>
            <a:r>
              <a:rPr lang="en-US" b="0" i="0" dirty="0" err="1">
                <a:solidFill>
                  <a:srgbClr val="374151"/>
                </a:solidFill>
                <a:effectLst/>
                <a:latin typeface="Söhne"/>
              </a:rPr>
              <a:t>Modèles</a:t>
            </a:r>
            <a:r>
              <a:rPr lang="en-US" b="0" i="0" dirty="0">
                <a:solidFill>
                  <a:srgbClr val="374151"/>
                </a:solidFill>
                <a:effectLst/>
                <a:latin typeface="Söhne"/>
              </a:rPr>
              <a:t> </a:t>
            </a:r>
            <a:r>
              <a:rPr lang="en-US" b="0" i="0" dirty="0" err="1">
                <a:solidFill>
                  <a:srgbClr val="374151"/>
                </a:solidFill>
                <a:effectLst/>
                <a:latin typeface="Söhne"/>
              </a:rPr>
              <a:t>basés</a:t>
            </a:r>
            <a:r>
              <a:rPr lang="en-US" b="0" i="0" dirty="0">
                <a:solidFill>
                  <a:srgbClr val="374151"/>
                </a:solidFill>
                <a:effectLst/>
                <a:latin typeface="Söhne"/>
              </a:rPr>
              <a:t> sur les </a:t>
            </a:r>
            <a:r>
              <a:rPr lang="en-US" b="0" i="0" dirty="0" err="1">
                <a:solidFill>
                  <a:srgbClr val="374151"/>
                </a:solidFill>
                <a:effectLst/>
                <a:latin typeface="Söhne"/>
              </a:rPr>
              <a:t>arbres</a:t>
            </a:r>
            <a:r>
              <a:rPr lang="en-US" b="0" i="0" dirty="0">
                <a:solidFill>
                  <a:srgbClr val="374151"/>
                </a:solidFill>
                <a:effectLst/>
                <a:latin typeface="Söhne"/>
              </a:rPr>
              <a:t> de </a:t>
            </a:r>
            <a:r>
              <a:rPr lang="en-US" b="0" i="0" dirty="0" err="1">
                <a:solidFill>
                  <a:srgbClr val="374151"/>
                </a:solidFill>
                <a:effectLst/>
                <a:latin typeface="Söhne"/>
              </a:rPr>
              <a:t>décision</a:t>
            </a:r>
            <a:r>
              <a:rPr lang="en-US" b="0" i="0" dirty="0">
                <a:solidFill>
                  <a:srgbClr val="374151"/>
                </a:solidFill>
                <a:effectLst/>
                <a:latin typeface="Söhne"/>
              </a:rPr>
              <a:t>.</a:t>
            </a:r>
          </a:p>
          <a:p>
            <a:pPr marL="457200" lvl="1" indent="0" algn="l">
              <a:buNone/>
            </a:pPr>
            <a:r>
              <a:rPr lang="en-US" b="0" i="0" dirty="0" err="1">
                <a:solidFill>
                  <a:srgbClr val="374151"/>
                </a:solidFill>
                <a:effectLst/>
                <a:latin typeface="Söhne"/>
              </a:rPr>
              <a:t>Robustes</a:t>
            </a:r>
            <a:r>
              <a:rPr lang="en-US" b="0" i="0" dirty="0">
                <a:solidFill>
                  <a:srgbClr val="374151"/>
                </a:solidFill>
                <a:effectLst/>
                <a:latin typeface="Söhne"/>
              </a:rPr>
              <a:t> aux outliers et </a:t>
            </a:r>
            <a:r>
              <a:rPr lang="en-US" b="0" i="0" dirty="0" err="1">
                <a:solidFill>
                  <a:srgbClr val="374151"/>
                </a:solidFill>
                <a:effectLst/>
                <a:latin typeface="Söhne"/>
              </a:rPr>
              <a:t>capables</a:t>
            </a:r>
            <a:r>
              <a:rPr lang="en-US" b="0" i="0" dirty="0">
                <a:solidFill>
                  <a:srgbClr val="374151"/>
                </a:solidFill>
                <a:effectLst/>
                <a:latin typeface="Söhne"/>
              </a:rPr>
              <a:t> de capturer des relations non </a:t>
            </a:r>
            <a:r>
              <a:rPr lang="en-US" b="0" i="0" dirty="0" err="1">
                <a:solidFill>
                  <a:srgbClr val="374151"/>
                </a:solidFill>
                <a:effectLst/>
                <a:latin typeface="Söhne"/>
              </a:rPr>
              <a:t>linéaires</a:t>
            </a:r>
            <a:r>
              <a:rPr lang="en-US" b="0" i="0" dirty="0">
                <a:solidFill>
                  <a:srgbClr val="374151"/>
                </a:solidFill>
                <a:effectLst/>
                <a:latin typeface="Söhne"/>
              </a:rPr>
              <a:t>.</a:t>
            </a:r>
          </a:p>
          <a:p>
            <a:pPr marL="457200" lvl="1" indent="0" algn="l">
              <a:buNone/>
            </a:pPr>
            <a:endParaRPr lang="en-US" b="0" i="0" dirty="0">
              <a:solidFill>
                <a:srgbClr val="374151"/>
              </a:solidFill>
              <a:effectLst/>
              <a:latin typeface="Söhne"/>
            </a:endParaRPr>
          </a:p>
          <a:p>
            <a:pPr marL="152400" indent="0" algn="l">
              <a:buNone/>
            </a:pPr>
            <a:r>
              <a:rPr lang="en-US" b="1" i="0" dirty="0" err="1">
                <a:solidFill>
                  <a:srgbClr val="374151"/>
                </a:solidFill>
                <a:effectLst/>
                <a:latin typeface="Söhne"/>
              </a:rPr>
              <a:t>Modèles</a:t>
            </a:r>
            <a:r>
              <a:rPr lang="en-US" b="1" i="0" dirty="0">
                <a:solidFill>
                  <a:srgbClr val="374151"/>
                </a:solidFill>
                <a:effectLst/>
                <a:latin typeface="Söhne"/>
              </a:rPr>
              <a:t> de </a:t>
            </a:r>
            <a:r>
              <a:rPr lang="en-US" b="1" i="0" dirty="0" err="1">
                <a:solidFill>
                  <a:srgbClr val="374151"/>
                </a:solidFill>
                <a:effectLst/>
                <a:latin typeface="Söhne"/>
              </a:rPr>
              <a:t>régression</a:t>
            </a:r>
            <a:r>
              <a:rPr lang="en-US" b="1" i="0" dirty="0">
                <a:solidFill>
                  <a:srgbClr val="374151"/>
                </a:solidFill>
                <a:effectLst/>
                <a:latin typeface="Söhne"/>
              </a:rPr>
              <a:t> </a:t>
            </a:r>
            <a:r>
              <a:rPr lang="en-US" b="1" i="0" dirty="0" err="1">
                <a:solidFill>
                  <a:srgbClr val="374151"/>
                </a:solidFill>
                <a:effectLst/>
                <a:latin typeface="Söhne"/>
              </a:rPr>
              <a:t>linéaire</a:t>
            </a:r>
            <a:r>
              <a:rPr lang="en-US" b="0" i="0" dirty="0">
                <a:solidFill>
                  <a:srgbClr val="374151"/>
                </a:solidFill>
                <a:effectLst/>
                <a:latin typeface="Söhne"/>
              </a:rPr>
              <a:t> :</a:t>
            </a:r>
          </a:p>
          <a:p>
            <a:pPr marL="457200" lvl="1" indent="0" algn="l">
              <a:buNone/>
            </a:pPr>
            <a:r>
              <a:rPr lang="en-US" b="0" i="0" dirty="0">
                <a:solidFill>
                  <a:srgbClr val="374151"/>
                </a:solidFill>
                <a:effectLst/>
                <a:latin typeface="Söhne"/>
              </a:rPr>
              <a:t>Ridge : </a:t>
            </a:r>
            <a:r>
              <a:rPr lang="en-US" b="0" i="0" dirty="0" err="1">
                <a:solidFill>
                  <a:srgbClr val="374151"/>
                </a:solidFill>
                <a:effectLst/>
                <a:latin typeface="Söhne"/>
              </a:rPr>
              <a:t>Régression</a:t>
            </a:r>
            <a:r>
              <a:rPr lang="en-US" b="0" i="0" dirty="0">
                <a:solidFill>
                  <a:srgbClr val="374151"/>
                </a:solidFill>
                <a:effectLst/>
                <a:latin typeface="Söhne"/>
              </a:rPr>
              <a:t> avec </a:t>
            </a:r>
            <a:r>
              <a:rPr lang="en-US" b="0" i="0" dirty="0" err="1">
                <a:solidFill>
                  <a:srgbClr val="374151"/>
                </a:solidFill>
                <a:effectLst/>
                <a:latin typeface="Söhne"/>
              </a:rPr>
              <a:t>régularisation</a:t>
            </a:r>
            <a:r>
              <a:rPr lang="en-US" b="0" i="0" dirty="0">
                <a:solidFill>
                  <a:srgbClr val="374151"/>
                </a:solidFill>
                <a:effectLst/>
                <a:latin typeface="Söhne"/>
              </a:rPr>
              <a:t> L2 pour </a:t>
            </a:r>
            <a:r>
              <a:rPr lang="en-US" b="0" i="0" dirty="0" err="1">
                <a:solidFill>
                  <a:srgbClr val="374151"/>
                </a:solidFill>
                <a:effectLst/>
                <a:latin typeface="Söhne"/>
              </a:rPr>
              <a:t>prévenir</a:t>
            </a:r>
            <a:r>
              <a:rPr lang="en-US" b="0" i="0" dirty="0">
                <a:solidFill>
                  <a:srgbClr val="374151"/>
                </a:solidFill>
                <a:effectLst/>
                <a:latin typeface="Söhne"/>
              </a:rPr>
              <a:t> le </a:t>
            </a:r>
            <a:r>
              <a:rPr lang="en-US" b="0" i="0" dirty="0" err="1">
                <a:solidFill>
                  <a:srgbClr val="374151"/>
                </a:solidFill>
                <a:effectLst/>
                <a:latin typeface="Söhne"/>
              </a:rPr>
              <a:t>surajustement</a:t>
            </a:r>
            <a:r>
              <a:rPr lang="en-US" b="0" i="0" dirty="0">
                <a:solidFill>
                  <a:srgbClr val="374151"/>
                </a:solidFill>
                <a:effectLst/>
                <a:latin typeface="Söhne"/>
              </a:rPr>
              <a:t>.</a:t>
            </a:r>
          </a:p>
          <a:p>
            <a:pPr marL="457200" lvl="1" indent="0" algn="l">
              <a:buNone/>
            </a:pPr>
            <a:r>
              <a:rPr lang="en-US" b="0" i="0" dirty="0">
                <a:solidFill>
                  <a:srgbClr val="374151"/>
                </a:solidFill>
                <a:effectLst/>
                <a:latin typeface="Söhne"/>
              </a:rPr>
              <a:t>Lasso : </a:t>
            </a:r>
            <a:r>
              <a:rPr lang="en-US" b="0" i="0" dirty="0" err="1">
                <a:solidFill>
                  <a:srgbClr val="374151"/>
                </a:solidFill>
                <a:effectLst/>
                <a:latin typeface="Söhne"/>
              </a:rPr>
              <a:t>Régression</a:t>
            </a:r>
            <a:r>
              <a:rPr lang="en-US" b="0" i="0" dirty="0">
                <a:solidFill>
                  <a:srgbClr val="374151"/>
                </a:solidFill>
                <a:effectLst/>
                <a:latin typeface="Söhne"/>
              </a:rPr>
              <a:t> avec </a:t>
            </a:r>
            <a:r>
              <a:rPr lang="en-US" b="0" i="0" dirty="0" err="1">
                <a:solidFill>
                  <a:srgbClr val="374151"/>
                </a:solidFill>
                <a:effectLst/>
                <a:latin typeface="Söhne"/>
              </a:rPr>
              <a:t>régularisation</a:t>
            </a:r>
            <a:r>
              <a:rPr lang="en-US" b="0" i="0" dirty="0">
                <a:solidFill>
                  <a:srgbClr val="374151"/>
                </a:solidFill>
                <a:effectLst/>
                <a:latin typeface="Söhne"/>
              </a:rPr>
              <a:t> L1, </a:t>
            </a:r>
            <a:r>
              <a:rPr lang="en-US" b="0" i="0" dirty="0" err="1">
                <a:solidFill>
                  <a:srgbClr val="374151"/>
                </a:solidFill>
                <a:effectLst/>
                <a:latin typeface="Söhne"/>
              </a:rPr>
              <a:t>également</a:t>
            </a:r>
            <a:r>
              <a:rPr lang="en-US" b="0" i="0" dirty="0">
                <a:solidFill>
                  <a:srgbClr val="374151"/>
                </a:solidFill>
                <a:effectLst/>
                <a:latin typeface="Söhne"/>
              </a:rPr>
              <a:t> pour </a:t>
            </a:r>
            <a:r>
              <a:rPr lang="en-US" b="0" i="0" dirty="0" err="1">
                <a:solidFill>
                  <a:srgbClr val="374151"/>
                </a:solidFill>
                <a:effectLst/>
                <a:latin typeface="Söhne"/>
              </a:rPr>
              <a:t>prévenir</a:t>
            </a:r>
            <a:r>
              <a:rPr lang="en-US" b="0" i="0" dirty="0">
                <a:solidFill>
                  <a:srgbClr val="374151"/>
                </a:solidFill>
                <a:effectLst/>
                <a:latin typeface="Söhne"/>
              </a:rPr>
              <a:t> le </a:t>
            </a:r>
            <a:r>
              <a:rPr lang="en-US" b="0" i="0" dirty="0" err="1">
                <a:solidFill>
                  <a:srgbClr val="374151"/>
                </a:solidFill>
                <a:effectLst/>
                <a:latin typeface="Söhne"/>
              </a:rPr>
              <a:t>surajustement</a:t>
            </a:r>
            <a:r>
              <a:rPr lang="en-US" b="0" i="0" dirty="0">
                <a:solidFill>
                  <a:srgbClr val="374151"/>
                </a:solidFill>
                <a:effectLst/>
                <a:latin typeface="Söhne"/>
              </a:rPr>
              <a:t>, </a:t>
            </a:r>
            <a:r>
              <a:rPr lang="en-US" b="0" i="0" dirty="0" err="1">
                <a:solidFill>
                  <a:srgbClr val="374151"/>
                </a:solidFill>
                <a:effectLst/>
                <a:latin typeface="Söhne"/>
              </a:rPr>
              <a:t>peut</a:t>
            </a:r>
            <a:r>
              <a:rPr lang="en-US" b="0" i="0" dirty="0">
                <a:solidFill>
                  <a:srgbClr val="374151"/>
                </a:solidFill>
                <a:effectLst/>
                <a:latin typeface="Söhne"/>
              </a:rPr>
              <a:t> </a:t>
            </a:r>
            <a:r>
              <a:rPr lang="en-US" b="0" i="0" dirty="0" err="1">
                <a:solidFill>
                  <a:srgbClr val="374151"/>
                </a:solidFill>
                <a:effectLst/>
                <a:latin typeface="Söhne"/>
              </a:rPr>
              <a:t>effectuer</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a:t>
            </a:r>
            <a:r>
              <a:rPr lang="en-US" b="0" i="0" dirty="0" err="1">
                <a:solidFill>
                  <a:srgbClr val="374151"/>
                </a:solidFill>
                <a:effectLst/>
                <a:latin typeface="Söhne"/>
              </a:rPr>
              <a:t>sélection</a:t>
            </a:r>
            <a:r>
              <a:rPr lang="en-US" b="0" i="0" dirty="0">
                <a:solidFill>
                  <a:srgbClr val="374151"/>
                </a:solidFill>
                <a:effectLst/>
                <a:latin typeface="Söhne"/>
              </a:rPr>
              <a:t> de </a:t>
            </a:r>
            <a:r>
              <a:rPr lang="en-US" b="0" i="0" dirty="0" err="1">
                <a:solidFill>
                  <a:srgbClr val="374151"/>
                </a:solidFill>
                <a:effectLst/>
                <a:latin typeface="Söhne"/>
              </a:rPr>
              <a:t>fonctionnalités</a:t>
            </a:r>
            <a:r>
              <a:rPr lang="en-US" b="0" i="0" dirty="0">
                <a:solidFill>
                  <a:srgbClr val="374151"/>
                </a:solidFill>
                <a:effectLst/>
                <a:latin typeface="Söhne"/>
              </a:rPr>
              <a:t>.</a:t>
            </a:r>
          </a:p>
          <a:p>
            <a:pPr marL="457200" lvl="1" indent="0" algn="l">
              <a:buNone/>
            </a:pPr>
            <a:endParaRPr lang="en-US" b="0" i="0" dirty="0">
              <a:solidFill>
                <a:srgbClr val="374151"/>
              </a:solidFill>
              <a:effectLst/>
              <a:latin typeface="Söhne"/>
            </a:endParaRPr>
          </a:p>
          <a:p>
            <a:pPr marL="152400" indent="0" algn="l">
              <a:buNone/>
            </a:pPr>
            <a:r>
              <a:rPr lang="en-US" b="1" i="0" dirty="0" err="1">
                <a:solidFill>
                  <a:srgbClr val="374151"/>
                </a:solidFill>
                <a:effectLst/>
                <a:latin typeface="Söhne"/>
              </a:rPr>
              <a:t>GridSearch</a:t>
            </a:r>
            <a:r>
              <a:rPr lang="en-US" b="1" i="0" dirty="0">
                <a:solidFill>
                  <a:srgbClr val="374151"/>
                </a:solidFill>
                <a:effectLst/>
                <a:latin typeface="Söhne"/>
              </a:rPr>
              <a:t> / Cross-Validation</a:t>
            </a:r>
            <a:r>
              <a:rPr lang="en-US" b="0" i="0" dirty="0">
                <a:solidFill>
                  <a:srgbClr val="374151"/>
                </a:solidFill>
                <a:effectLst/>
                <a:latin typeface="Söhne"/>
              </a:rPr>
              <a:t> :</a:t>
            </a:r>
          </a:p>
          <a:p>
            <a:pPr marL="457200" lvl="1" indent="0" algn="l">
              <a:buNone/>
            </a:pPr>
            <a:r>
              <a:rPr lang="en-US" b="0" i="0" dirty="0" err="1">
                <a:solidFill>
                  <a:srgbClr val="374151"/>
                </a:solidFill>
                <a:effectLst/>
                <a:latin typeface="Söhne"/>
              </a:rPr>
              <a:t>GridSearch</a:t>
            </a:r>
            <a:r>
              <a:rPr lang="en-US" b="0" i="0" dirty="0">
                <a:solidFill>
                  <a:srgbClr val="374151"/>
                </a:solidFill>
                <a:effectLst/>
                <a:latin typeface="Söhne"/>
              </a:rPr>
              <a:t>: </a:t>
            </a:r>
            <a:r>
              <a:rPr lang="en-US" b="0" i="0" dirty="0" err="1">
                <a:solidFill>
                  <a:srgbClr val="374151"/>
                </a:solidFill>
                <a:effectLst/>
                <a:latin typeface="Söhne"/>
              </a:rPr>
              <a:t>Effectue</a:t>
            </a:r>
            <a:r>
              <a:rPr lang="en-US" b="0" i="0" dirty="0">
                <a:solidFill>
                  <a:srgbClr val="374151"/>
                </a:solidFill>
                <a:effectLst/>
                <a:latin typeface="Söhne"/>
              </a:rPr>
              <a:t> </a:t>
            </a:r>
            <a:r>
              <a:rPr lang="en-US" b="0" i="0" dirty="0" err="1">
                <a:solidFill>
                  <a:srgbClr val="374151"/>
                </a:solidFill>
                <a:effectLst/>
                <a:latin typeface="Söhne"/>
              </a:rPr>
              <a:t>une</a:t>
            </a:r>
            <a:r>
              <a:rPr lang="en-US" b="0" i="0" dirty="0">
                <a:solidFill>
                  <a:srgbClr val="374151"/>
                </a:solidFill>
                <a:effectLst/>
                <a:latin typeface="Söhne"/>
              </a:rPr>
              <a:t> recherche exhaustive sur les </a:t>
            </a:r>
            <a:r>
              <a:rPr lang="en-US" b="0" i="0" dirty="0" err="1">
                <a:solidFill>
                  <a:srgbClr val="374151"/>
                </a:solidFill>
                <a:effectLst/>
                <a:latin typeface="Söhne"/>
              </a:rPr>
              <a:t>paramètres</a:t>
            </a:r>
            <a:r>
              <a:rPr lang="en-US" b="0" i="0" dirty="0">
                <a:solidFill>
                  <a:srgbClr val="374151"/>
                </a:solidFill>
                <a:effectLst/>
                <a:latin typeface="Söhne"/>
              </a:rPr>
              <a:t> </a:t>
            </a:r>
            <a:r>
              <a:rPr lang="en-US" b="0" i="0" dirty="0" err="1">
                <a:solidFill>
                  <a:srgbClr val="374151"/>
                </a:solidFill>
                <a:effectLst/>
                <a:latin typeface="Söhne"/>
              </a:rPr>
              <a:t>spécifiés</a:t>
            </a:r>
            <a:r>
              <a:rPr lang="en-US" b="0" i="0" dirty="0">
                <a:solidFill>
                  <a:srgbClr val="374151"/>
                </a:solidFill>
                <a:effectLst/>
                <a:latin typeface="Söhne"/>
              </a:rPr>
              <a:t>.</a:t>
            </a:r>
          </a:p>
          <a:p>
            <a:pPr marL="457200" lvl="1" indent="0" algn="l">
              <a:buNone/>
            </a:pPr>
            <a:r>
              <a:rPr lang="en-US" b="0" i="0" dirty="0">
                <a:solidFill>
                  <a:srgbClr val="374151"/>
                </a:solidFill>
                <a:effectLst/>
                <a:latin typeface="Söhne"/>
              </a:rPr>
              <a:t>Cross-Validation : </a:t>
            </a:r>
            <a:r>
              <a:rPr lang="en-US" b="0" i="0" dirty="0" err="1">
                <a:solidFill>
                  <a:srgbClr val="374151"/>
                </a:solidFill>
                <a:effectLst/>
                <a:latin typeface="Söhne"/>
              </a:rPr>
              <a:t>Utilisée</a:t>
            </a:r>
            <a:r>
              <a:rPr lang="en-US" b="0" i="0" dirty="0">
                <a:solidFill>
                  <a:srgbClr val="374151"/>
                </a:solidFill>
                <a:effectLst/>
                <a:latin typeface="Söhne"/>
              </a:rPr>
              <a:t> pour </a:t>
            </a:r>
            <a:r>
              <a:rPr lang="en-US" b="0" i="0" dirty="0" err="1">
                <a:solidFill>
                  <a:srgbClr val="374151"/>
                </a:solidFill>
                <a:effectLst/>
                <a:latin typeface="Söhne"/>
              </a:rPr>
              <a:t>obtenir</a:t>
            </a:r>
            <a:r>
              <a:rPr lang="en-US" b="0" i="0" dirty="0">
                <a:solidFill>
                  <a:srgbClr val="374151"/>
                </a:solidFill>
                <a:effectLst/>
                <a:latin typeface="Söhne"/>
              </a:rPr>
              <a:t> des estimations plus </a:t>
            </a:r>
            <a:r>
              <a:rPr lang="en-US" b="0" i="0" dirty="0" err="1">
                <a:solidFill>
                  <a:srgbClr val="374151"/>
                </a:solidFill>
                <a:effectLst/>
                <a:latin typeface="Söhne"/>
              </a:rPr>
              <a:t>robustes</a:t>
            </a:r>
            <a:r>
              <a:rPr lang="en-US" b="0" i="0" dirty="0">
                <a:solidFill>
                  <a:srgbClr val="374151"/>
                </a:solidFill>
                <a:effectLst/>
                <a:latin typeface="Söhne"/>
              </a:rPr>
              <a:t> de </a:t>
            </a:r>
            <a:r>
              <a:rPr lang="en-US" b="0" i="0" dirty="0" err="1">
                <a:solidFill>
                  <a:srgbClr val="374151"/>
                </a:solidFill>
                <a:effectLst/>
                <a:latin typeface="Söhne"/>
              </a:rPr>
              <a:t>l'erreur</a:t>
            </a:r>
            <a:r>
              <a:rPr lang="en-US" b="0" i="0" dirty="0">
                <a:solidFill>
                  <a:srgbClr val="374151"/>
                </a:solidFill>
                <a:effectLst/>
                <a:latin typeface="Söhne"/>
              </a:rPr>
              <a:t> de </a:t>
            </a:r>
            <a:r>
              <a:rPr lang="en-US" b="0" i="0" dirty="0" err="1">
                <a:solidFill>
                  <a:srgbClr val="374151"/>
                </a:solidFill>
                <a:effectLst/>
                <a:latin typeface="Söhne"/>
              </a:rPr>
              <a:t>généralisation</a:t>
            </a:r>
            <a:r>
              <a:rPr lang="en-US" b="0" i="0" dirty="0">
                <a:solidFill>
                  <a:srgbClr val="374151"/>
                </a:solidFill>
                <a:effectLst/>
                <a:latin typeface="Söhne"/>
              </a:rPr>
              <a:t>.</a:t>
            </a:r>
          </a:p>
          <a:p>
            <a:pPr marL="457200" lvl="1" indent="0" algn="l">
              <a:buNone/>
            </a:pPr>
            <a:endParaRPr lang="en-US" b="0" i="0" dirty="0">
              <a:solidFill>
                <a:srgbClr val="374151"/>
              </a:solidFill>
              <a:effectLst/>
              <a:latin typeface="Söhne"/>
            </a:endParaRPr>
          </a:p>
        </p:txBody>
      </p:sp>
      <p:sp>
        <p:nvSpPr>
          <p:cNvPr id="4" name="TextBox 3">
            <a:extLst>
              <a:ext uri="{FF2B5EF4-FFF2-40B4-BE49-F238E27FC236}">
                <a16:creationId xmlns:a16="http://schemas.microsoft.com/office/drawing/2014/main" id="{D612B12C-F101-9354-F158-6048CD27B163}"/>
              </a:ext>
            </a:extLst>
          </p:cNvPr>
          <p:cNvSpPr txBox="1"/>
          <p:nvPr/>
        </p:nvSpPr>
        <p:spPr>
          <a:xfrm>
            <a:off x="297969" y="3913497"/>
            <a:ext cx="6893170" cy="830997"/>
          </a:xfrm>
          <a:prstGeom prst="rect">
            <a:avLst/>
          </a:prstGeom>
          <a:noFill/>
        </p:spPr>
        <p:txBody>
          <a:bodyPr wrap="square">
            <a:spAutoFit/>
          </a:bodyPr>
          <a:lstStyle/>
          <a:p>
            <a:pPr marL="152400" indent="0" algn="l">
              <a:buNone/>
            </a:pPr>
            <a:br>
              <a:rPr lang="en-US" sz="1200" b="0" i="0" dirty="0">
                <a:solidFill>
                  <a:srgbClr val="374151"/>
                </a:solidFill>
                <a:effectLst/>
                <a:latin typeface="Söhne"/>
              </a:rPr>
            </a:br>
            <a:r>
              <a:rPr lang="en-US" sz="1200" b="1" i="0" dirty="0">
                <a:solidFill>
                  <a:srgbClr val="374151"/>
                </a:solidFill>
                <a:effectLst/>
                <a:latin typeface="Söhne"/>
              </a:rPr>
              <a:t>Random State</a:t>
            </a:r>
            <a:r>
              <a:rPr lang="en-US" sz="1200" b="0" i="0" dirty="0">
                <a:solidFill>
                  <a:srgbClr val="374151"/>
                </a:solidFill>
                <a:effectLst/>
                <a:latin typeface="Söhne"/>
              </a:rPr>
              <a:t> :</a:t>
            </a:r>
          </a:p>
          <a:p>
            <a:pPr marL="457200" lvl="1" indent="0" algn="l">
              <a:buNone/>
            </a:pPr>
            <a:r>
              <a:rPr lang="en-US" sz="1200" b="0" i="0" dirty="0" err="1">
                <a:solidFill>
                  <a:srgbClr val="374151"/>
                </a:solidFill>
                <a:effectLst/>
                <a:latin typeface="Söhne"/>
              </a:rPr>
              <a:t>garantit</a:t>
            </a:r>
            <a:r>
              <a:rPr lang="en-US" sz="1200" b="0" i="0" dirty="0">
                <a:solidFill>
                  <a:srgbClr val="374151"/>
                </a:solidFill>
                <a:effectLst/>
                <a:latin typeface="Söhne"/>
              </a:rPr>
              <a:t> la </a:t>
            </a:r>
            <a:r>
              <a:rPr lang="en-US" sz="1200" b="0" i="0" dirty="0" err="1">
                <a:solidFill>
                  <a:srgbClr val="374151"/>
                </a:solidFill>
                <a:effectLst/>
                <a:latin typeface="Söhne"/>
              </a:rPr>
              <a:t>reproductibilité</a:t>
            </a:r>
            <a:r>
              <a:rPr lang="en-US" sz="1200" b="0" i="0" dirty="0">
                <a:solidFill>
                  <a:srgbClr val="374151"/>
                </a:solidFill>
                <a:effectLst/>
                <a:latin typeface="Söhne"/>
              </a:rPr>
              <a:t> des </a:t>
            </a:r>
            <a:r>
              <a:rPr lang="en-US" sz="1200" b="0" i="0" dirty="0" err="1">
                <a:solidFill>
                  <a:srgbClr val="374151"/>
                </a:solidFill>
                <a:effectLst/>
                <a:latin typeface="Söhne"/>
              </a:rPr>
              <a:t>résultats</a:t>
            </a:r>
            <a:r>
              <a:rPr lang="en-US" sz="1200" b="0" i="0" dirty="0">
                <a:solidFill>
                  <a:srgbClr val="374151"/>
                </a:solidFill>
                <a:effectLst/>
                <a:latin typeface="Söhne"/>
              </a:rPr>
              <a:t> </a:t>
            </a:r>
            <a:r>
              <a:rPr lang="en-US" sz="1200" b="0" i="0" dirty="0" err="1">
                <a:solidFill>
                  <a:srgbClr val="374151"/>
                </a:solidFill>
                <a:effectLst/>
                <a:latin typeface="Söhne"/>
              </a:rPr>
              <a:t>lors</a:t>
            </a:r>
            <a:r>
              <a:rPr lang="en-US" sz="1200" b="0" i="0" dirty="0">
                <a:solidFill>
                  <a:srgbClr val="374151"/>
                </a:solidFill>
                <a:effectLst/>
                <a:latin typeface="Söhne"/>
              </a:rPr>
              <a:t> de </a:t>
            </a:r>
            <a:r>
              <a:rPr lang="en-US" sz="1200" b="0" i="0" dirty="0" err="1">
                <a:solidFill>
                  <a:srgbClr val="374151"/>
                </a:solidFill>
                <a:effectLst/>
                <a:latin typeface="Söhne"/>
              </a:rPr>
              <a:t>l'utilisation</a:t>
            </a:r>
            <a:r>
              <a:rPr lang="en-US" sz="1200" b="0" i="0" dirty="0">
                <a:solidFill>
                  <a:srgbClr val="374151"/>
                </a:solidFill>
                <a:effectLst/>
                <a:latin typeface="Söhne"/>
              </a:rPr>
              <a:t> de </a:t>
            </a:r>
            <a:r>
              <a:rPr lang="en-US" sz="1200" b="0" i="0" dirty="0" err="1">
                <a:solidFill>
                  <a:srgbClr val="374151"/>
                </a:solidFill>
                <a:effectLst/>
                <a:latin typeface="Söhne"/>
              </a:rPr>
              <a:t>méthodes</a:t>
            </a:r>
            <a:r>
              <a:rPr lang="en-US" sz="1200" b="0" i="0" dirty="0">
                <a:solidFill>
                  <a:srgbClr val="374151"/>
                </a:solidFill>
                <a:effectLst/>
                <a:latin typeface="Söhne"/>
              </a:rPr>
              <a:t> </a:t>
            </a:r>
            <a:r>
              <a:rPr lang="en-US" sz="1200" b="0" i="0" dirty="0" err="1">
                <a:solidFill>
                  <a:srgbClr val="374151"/>
                </a:solidFill>
                <a:effectLst/>
                <a:latin typeface="Söhne"/>
              </a:rPr>
              <a:t>aléatoires</a:t>
            </a:r>
            <a:r>
              <a:rPr lang="en-US" sz="1200" b="0" i="0" dirty="0">
                <a:solidFill>
                  <a:srgbClr val="374151"/>
                </a:solidFill>
                <a:effectLst/>
                <a:latin typeface="Söhne"/>
              </a:rPr>
              <a:t>, </a:t>
            </a:r>
            <a:r>
              <a:rPr lang="en-US" sz="1200" b="0" i="0" dirty="0" err="1">
                <a:solidFill>
                  <a:srgbClr val="374151"/>
                </a:solidFill>
                <a:effectLst/>
                <a:latin typeface="Söhne"/>
              </a:rPr>
              <a:t>comme</a:t>
            </a:r>
            <a:r>
              <a:rPr lang="en-US" sz="1200" b="0" i="0" dirty="0">
                <a:solidFill>
                  <a:srgbClr val="374151"/>
                </a:solidFill>
                <a:effectLst/>
                <a:latin typeface="Söhne"/>
              </a:rPr>
              <a:t> la </a:t>
            </a:r>
            <a:r>
              <a:rPr lang="en-US" sz="1200" b="0" i="0" dirty="0" err="1">
                <a:solidFill>
                  <a:srgbClr val="374151"/>
                </a:solidFill>
                <a:effectLst/>
                <a:latin typeface="Söhne"/>
              </a:rPr>
              <a:t>séparation</a:t>
            </a:r>
            <a:r>
              <a:rPr lang="en-US" sz="1200" b="0" i="0" dirty="0">
                <a:solidFill>
                  <a:srgbClr val="374151"/>
                </a:solidFill>
                <a:effectLst/>
                <a:latin typeface="Söhne"/>
              </a:rPr>
              <a:t> des </a:t>
            </a:r>
            <a:r>
              <a:rPr lang="en-US" sz="1200" b="0" i="0" dirty="0" err="1">
                <a:solidFill>
                  <a:srgbClr val="374151"/>
                </a:solidFill>
                <a:effectLst/>
                <a:latin typeface="Söhne"/>
              </a:rPr>
              <a:t>données</a:t>
            </a:r>
            <a:r>
              <a:rPr lang="en-US" sz="1200" b="0" i="0" dirty="0">
                <a:solidFill>
                  <a:srgbClr val="374151"/>
                </a:solidFill>
                <a:effectLst/>
                <a:latin typeface="Söhne"/>
              </a:rPr>
              <a:t> </a:t>
            </a:r>
            <a:r>
              <a:rPr lang="en-US" sz="1200" b="0" i="0" dirty="0" err="1">
                <a:solidFill>
                  <a:srgbClr val="374151"/>
                </a:solidFill>
                <a:effectLst/>
                <a:latin typeface="Söhne"/>
              </a:rPr>
              <a:t>en</a:t>
            </a:r>
            <a:r>
              <a:rPr lang="en-US" sz="1200" b="0" i="0" dirty="0">
                <a:solidFill>
                  <a:srgbClr val="374151"/>
                </a:solidFill>
                <a:effectLst/>
                <a:latin typeface="Söhne"/>
              </a:rPr>
              <a:t> ensembles </a:t>
            </a:r>
            <a:r>
              <a:rPr lang="en-US" sz="1200" b="0" i="0" dirty="0" err="1">
                <a:solidFill>
                  <a:srgbClr val="374151"/>
                </a:solidFill>
                <a:effectLst/>
                <a:latin typeface="Söhne"/>
              </a:rPr>
              <a:t>d'entraînement</a:t>
            </a:r>
            <a:r>
              <a:rPr lang="en-US" sz="1200" b="0" i="0" dirty="0">
                <a:solidFill>
                  <a:srgbClr val="374151"/>
                </a:solidFill>
                <a:effectLst/>
                <a:latin typeface="Söhne"/>
              </a:rPr>
              <a:t> et de test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668D0C-51C9-5356-1BB8-74BBFE0E5561}"/>
              </a:ext>
            </a:extLst>
          </p:cNvPr>
          <p:cNvSpPr txBox="1"/>
          <p:nvPr/>
        </p:nvSpPr>
        <p:spPr>
          <a:xfrm>
            <a:off x="4572000" y="1658474"/>
            <a:ext cx="4572000" cy="1200329"/>
          </a:xfrm>
          <a:prstGeom prst="rect">
            <a:avLst/>
          </a:prstGeom>
          <a:noFill/>
        </p:spPr>
        <p:txBody>
          <a:bodyPr wrap="square">
            <a:spAutoFit/>
          </a:bodyPr>
          <a:lstStyle/>
          <a:p>
            <a:pPr algn="l">
              <a:buFont typeface="Arial" panose="020B0604020202020204" pitchFamily="34" charset="0"/>
              <a:buChar char="•"/>
            </a:pPr>
            <a:r>
              <a:rPr lang="en-US" sz="1200" b="1" i="0" dirty="0">
                <a:solidFill>
                  <a:srgbClr val="374151"/>
                </a:solidFill>
                <a:effectLst/>
                <a:highlight>
                  <a:srgbClr val="53CFA2"/>
                </a:highlight>
                <a:latin typeface="Söhne"/>
              </a:rPr>
              <a:t>Ridge Regression &amp; Lasso Regression :</a:t>
            </a:r>
          </a:p>
          <a:p>
            <a:pPr marL="742950" lvl="1" indent="-285750" algn="l">
              <a:buFont typeface="Arial" panose="020B0604020202020204" pitchFamily="34" charset="0"/>
              <a:buChar char="•"/>
            </a:pPr>
            <a:r>
              <a:rPr lang="en-US" sz="1200" b="1" i="0" dirty="0">
                <a:solidFill>
                  <a:srgbClr val="374151"/>
                </a:solidFill>
                <a:effectLst/>
                <a:latin typeface="Söhne"/>
              </a:rPr>
              <a:t>alpha</a:t>
            </a:r>
            <a:r>
              <a:rPr lang="en-US" sz="1200" b="0" i="0" dirty="0">
                <a:solidFill>
                  <a:srgbClr val="374151"/>
                </a:solidFill>
                <a:effectLst/>
                <a:latin typeface="Söhne"/>
              </a:rPr>
              <a:t> : </a:t>
            </a:r>
            <a:r>
              <a:rPr lang="en-US" sz="1200" b="0" i="0" dirty="0" err="1">
                <a:solidFill>
                  <a:srgbClr val="374151"/>
                </a:solidFill>
                <a:effectLst/>
                <a:latin typeface="Söhne"/>
              </a:rPr>
              <a:t>contrôle</a:t>
            </a:r>
            <a:r>
              <a:rPr lang="en-US" sz="1200" b="0" i="0" dirty="0">
                <a:solidFill>
                  <a:srgbClr val="374151"/>
                </a:solidFill>
                <a:effectLst/>
                <a:latin typeface="Söhne"/>
              </a:rPr>
              <a:t> la force de la </a:t>
            </a:r>
            <a:r>
              <a:rPr lang="en-US" sz="1200" b="0" i="0" dirty="0" err="1">
                <a:solidFill>
                  <a:srgbClr val="374151"/>
                </a:solidFill>
                <a:effectLst/>
                <a:latin typeface="Söhne"/>
              </a:rPr>
              <a:t>pénalisation</a:t>
            </a:r>
            <a:r>
              <a:rPr lang="en-US" sz="1200" b="0" i="0" dirty="0">
                <a:solidFill>
                  <a:srgbClr val="374151"/>
                </a:solidFill>
                <a:effectLst/>
                <a:latin typeface="Söhne"/>
              </a:rPr>
              <a:t> pour </a:t>
            </a:r>
            <a:r>
              <a:rPr lang="en-US" sz="1200" b="0" i="0" dirty="0" err="1">
                <a:solidFill>
                  <a:srgbClr val="374151"/>
                </a:solidFill>
                <a:effectLst/>
                <a:latin typeface="Söhne"/>
              </a:rPr>
              <a:t>éviter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tol</a:t>
            </a:r>
            <a:r>
              <a:rPr lang="en-US" sz="1200" b="0" i="0" dirty="0">
                <a:solidFill>
                  <a:srgbClr val="374151"/>
                </a:solidFill>
                <a:effectLst/>
                <a:latin typeface="Söhne"/>
              </a:rPr>
              <a:t> : </a:t>
            </a:r>
            <a:r>
              <a:rPr lang="en-US" sz="1200" b="0" i="0" dirty="0" err="1">
                <a:solidFill>
                  <a:srgbClr val="374151"/>
                </a:solidFill>
                <a:effectLst/>
                <a:latin typeface="Söhne"/>
              </a:rPr>
              <a:t>tolérance</a:t>
            </a:r>
            <a:r>
              <a:rPr lang="en-US" sz="1200" b="0" i="0" dirty="0">
                <a:solidFill>
                  <a:srgbClr val="374151"/>
                </a:solidFill>
                <a:effectLst/>
                <a:latin typeface="Söhne"/>
              </a:rPr>
              <a:t> pour la convergence de </a:t>
            </a:r>
            <a:r>
              <a:rPr lang="en-US" sz="1200" b="0" i="0" dirty="0" err="1">
                <a:solidFill>
                  <a:srgbClr val="374151"/>
                </a:solidFill>
                <a:effectLst/>
                <a:latin typeface="Söhne"/>
              </a:rPr>
              <a:t>l'algorithme</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max_iter</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nombre</a:t>
            </a:r>
            <a:r>
              <a:rPr lang="en-US" sz="1200" b="0" i="0" dirty="0">
                <a:solidFill>
                  <a:srgbClr val="374151"/>
                </a:solidFill>
                <a:effectLst/>
                <a:latin typeface="Söhne"/>
              </a:rPr>
              <a:t> maximum </a:t>
            </a:r>
            <a:r>
              <a:rPr lang="en-US" sz="1200" b="0" i="0" dirty="0" err="1">
                <a:solidFill>
                  <a:srgbClr val="374151"/>
                </a:solidFill>
                <a:effectLst/>
                <a:latin typeface="Söhne"/>
              </a:rPr>
              <a:t>d'itérations</a:t>
            </a:r>
            <a:r>
              <a:rPr lang="en-US" sz="1200" b="0" i="0" dirty="0">
                <a:solidFill>
                  <a:srgbClr val="374151"/>
                </a:solidFill>
                <a:effectLst/>
                <a:latin typeface="Söhne"/>
              </a:rPr>
              <a:t> pour la convergence.</a:t>
            </a:r>
          </a:p>
        </p:txBody>
      </p:sp>
      <p:sp>
        <p:nvSpPr>
          <p:cNvPr id="6" name="TextBox 5">
            <a:extLst>
              <a:ext uri="{FF2B5EF4-FFF2-40B4-BE49-F238E27FC236}">
                <a16:creationId xmlns:a16="http://schemas.microsoft.com/office/drawing/2014/main" id="{8F1AAD75-B734-C10A-5584-A0FE3D1822C4}"/>
              </a:ext>
            </a:extLst>
          </p:cNvPr>
          <p:cNvSpPr txBox="1"/>
          <p:nvPr/>
        </p:nvSpPr>
        <p:spPr>
          <a:xfrm>
            <a:off x="141656" y="1658474"/>
            <a:ext cx="4572000" cy="2862322"/>
          </a:xfrm>
          <a:prstGeom prst="rect">
            <a:avLst/>
          </a:prstGeom>
          <a:noFill/>
        </p:spPr>
        <p:txBody>
          <a:bodyPr wrap="square">
            <a:spAutoFit/>
          </a:bodyPr>
          <a:lstStyle/>
          <a:p>
            <a:pPr algn="l">
              <a:buFont typeface="Arial" panose="020B0604020202020204" pitchFamily="34" charset="0"/>
              <a:buChar char="•"/>
            </a:pPr>
            <a:r>
              <a:rPr lang="en-US" sz="1200" b="1" i="0" dirty="0">
                <a:solidFill>
                  <a:srgbClr val="374151"/>
                </a:solidFill>
                <a:effectLst/>
                <a:highlight>
                  <a:srgbClr val="53CFA2"/>
                </a:highlight>
                <a:latin typeface="Söhne"/>
              </a:rPr>
              <a:t>Random Forest Regression &amp; Gradient Boosting Regression </a:t>
            </a:r>
            <a:r>
              <a:rPr lang="en-US" sz="1200" b="1"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max_depth</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profondeur</a:t>
            </a:r>
            <a:r>
              <a:rPr lang="en-US" sz="1200" b="0" i="0" dirty="0">
                <a:solidFill>
                  <a:srgbClr val="374151"/>
                </a:solidFill>
                <a:effectLst/>
                <a:latin typeface="Söhne"/>
              </a:rPr>
              <a:t> </a:t>
            </a:r>
            <a:r>
              <a:rPr lang="en-US" sz="1200" b="0" i="0" dirty="0" err="1">
                <a:solidFill>
                  <a:srgbClr val="374151"/>
                </a:solidFill>
                <a:effectLst/>
                <a:latin typeface="Söhne"/>
              </a:rPr>
              <a:t>maximale</a:t>
            </a:r>
            <a:r>
              <a:rPr lang="en-US" sz="1200" b="0" i="0" dirty="0">
                <a:solidFill>
                  <a:srgbClr val="374151"/>
                </a:solidFill>
                <a:effectLst/>
                <a:latin typeface="Söhne"/>
              </a:rPr>
              <a:t> des </a:t>
            </a:r>
            <a:r>
              <a:rPr lang="en-US" sz="1200" b="0" i="0" dirty="0" err="1">
                <a:solidFill>
                  <a:srgbClr val="374151"/>
                </a:solidFill>
                <a:effectLst/>
                <a:latin typeface="Söhne"/>
              </a:rPr>
              <a:t>arbres</a:t>
            </a:r>
            <a:r>
              <a:rPr lang="en-US" sz="1200" b="0" i="0" dirty="0">
                <a:solidFill>
                  <a:srgbClr val="374151"/>
                </a:solidFill>
                <a:effectLst/>
                <a:latin typeface="Söhne"/>
              </a:rPr>
              <a:t> de </a:t>
            </a:r>
            <a:r>
              <a:rPr lang="en-US" sz="1200" b="0" i="0" dirty="0" err="1">
                <a:solidFill>
                  <a:srgbClr val="374151"/>
                </a:solidFill>
                <a:effectLst/>
                <a:latin typeface="Söhne"/>
              </a:rPr>
              <a:t>décision</a:t>
            </a:r>
            <a:r>
              <a:rPr lang="en-US" sz="1200" b="0" i="0" dirty="0">
                <a:solidFill>
                  <a:srgbClr val="374151"/>
                </a:solidFill>
                <a:effectLst/>
                <a:latin typeface="Söhne"/>
              </a:rPr>
              <a:t> pour </a:t>
            </a:r>
            <a:r>
              <a:rPr lang="en-US" sz="1200" b="0" i="0" dirty="0" err="1">
                <a:solidFill>
                  <a:srgbClr val="374151"/>
                </a:solidFill>
                <a:effectLst/>
                <a:latin typeface="Söhne"/>
              </a:rPr>
              <a:t>contrôler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min_samples_split</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nombre</a:t>
            </a:r>
            <a:r>
              <a:rPr lang="en-US" sz="1200" b="0" i="0" dirty="0">
                <a:solidFill>
                  <a:srgbClr val="374151"/>
                </a:solidFill>
                <a:effectLst/>
                <a:latin typeface="Söhne"/>
              </a:rPr>
              <a:t> minimum </a:t>
            </a:r>
            <a:r>
              <a:rPr lang="en-US" sz="1200" b="0" i="0" dirty="0" err="1">
                <a:solidFill>
                  <a:srgbClr val="374151"/>
                </a:solidFill>
                <a:effectLst/>
                <a:latin typeface="Söhne"/>
              </a:rPr>
              <a:t>d'échantillons</a:t>
            </a:r>
            <a:r>
              <a:rPr lang="en-US" sz="1200" b="0" i="0" dirty="0">
                <a:solidFill>
                  <a:srgbClr val="374151"/>
                </a:solidFill>
                <a:effectLst/>
                <a:latin typeface="Söhne"/>
              </a:rPr>
              <a:t> </a:t>
            </a:r>
            <a:r>
              <a:rPr lang="en-US" sz="1200" b="0" i="0" dirty="0" err="1">
                <a:solidFill>
                  <a:srgbClr val="374151"/>
                </a:solidFill>
                <a:effectLst/>
                <a:latin typeface="Söhne"/>
              </a:rPr>
              <a:t>requis</a:t>
            </a:r>
            <a:r>
              <a:rPr lang="en-US" sz="1200" b="0" i="0" dirty="0">
                <a:solidFill>
                  <a:srgbClr val="374151"/>
                </a:solidFill>
                <a:effectLst/>
                <a:latin typeface="Söhne"/>
              </a:rPr>
              <a:t> pour </a:t>
            </a:r>
            <a:r>
              <a:rPr lang="en-US" sz="1200" b="0" i="0" dirty="0" err="1">
                <a:solidFill>
                  <a:srgbClr val="374151"/>
                </a:solidFill>
                <a:effectLst/>
                <a:latin typeface="Söhne"/>
              </a:rPr>
              <a:t>diviser</a:t>
            </a:r>
            <a:r>
              <a:rPr lang="en-US" sz="1200" b="0" i="0" dirty="0">
                <a:solidFill>
                  <a:srgbClr val="374151"/>
                </a:solidFill>
                <a:effectLst/>
                <a:latin typeface="Söhne"/>
              </a:rPr>
              <a:t> un </a:t>
            </a:r>
            <a:r>
              <a:rPr lang="en-US" sz="1200" b="0" i="0" dirty="0" err="1">
                <a:solidFill>
                  <a:srgbClr val="374151"/>
                </a:solidFill>
                <a:effectLst/>
                <a:latin typeface="Söhne"/>
              </a:rPr>
              <a:t>nœud</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min_samples_leaf</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nombre</a:t>
            </a:r>
            <a:r>
              <a:rPr lang="en-US" sz="1200" b="0" i="0" dirty="0">
                <a:solidFill>
                  <a:srgbClr val="374151"/>
                </a:solidFill>
                <a:effectLst/>
                <a:latin typeface="Söhne"/>
              </a:rPr>
              <a:t> minimum </a:t>
            </a:r>
            <a:r>
              <a:rPr lang="en-US" sz="1200" b="0" i="0" dirty="0" err="1">
                <a:solidFill>
                  <a:srgbClr val="374151"/>
                </a:solidFill>
                <a:effectLst/>
                <a:latin typeface="Söhne"/>
              </a:rPr>
              <a:t>d'échantillons</a:t>
            </a:r>
            <a:r>
              <a:rPr lang="en-US" sz="1200" b="0" i="0" dirty="0">
                <a:solidFill>
                  <a:srgbClr val="374151"/>
                </a:solidFill>
                <a:effectLst/>
                <a:latin typeface="Söhne"/>
              </a:rPr>
              <a:t> </a:t>
            </a:r>
            <a:r>
              <a:rPr lang="en-US" sz="1200" b="0" i="0" dirty="0" err="1">
                <a:solidFill>
                  <a:srgbClr val="374151"/>
                </a:solidFill>
                <a:effectLst/>
                <a:latin typeface="Söhne"/>
              </a:rPr>
              <a:t>requis</a:t>
            </a:r>
            <a:r>
              <a:rPr lang="en-US" sz="1200" b="0" i="0" dirty="0">
                <a:solidFill>
                  <a:srgbClr val="374151"/>
                </a:solidFill>
                <a:effectLst/>
                <a:latin typeface="Söhne"/>
              </a:rPr>
              <a:t> pour </a:t>
            </a:r>
            <a:r>
              <a:rPr lang="en-US" sz="1200" b="0" i="0" dirty="0" err="1">
                <a:solidFill>
                  <a:srgbClr val="374151"/>
                </a:solidFill>
                <a:effectLst/>
                <a:latin typeface="Söhne"/>
              </a:rPr>
              <a:t>être</a:t>
            </a:r>
            <a:r>
              <a:rPr lang="en-US" sz="1200" b="0" i="0" dirty="0">
                <a:solidFill>
                  <a:srgbClr val="374151"/>
                </a:solidFill>
                <a:effectLst/>
                <a:latin typeface="Söhne"/>
              </a:rPr>
              <a:t> </a:t>
            </a:r>
            <a:r>
              <a:rPr lang="en-US" sz="1200" b="0" i="0" dirty="0" err="1">
                <a:solidFill>
                  <a:srgbClr val="374151"/>
                </a:solidFill>
                <a:effectLst/>
                <a:latin typeface="Söhne"/>
              </a:rPr>
              <a:t>une</a:t>
            </a:r>
            <a:r>
              <a:rPr lang="en-US" sz="1200" b="0" i="0" dirty="0">
                <a:solidFill>
                  <a:srgbClr val="374151"/>
                </a:solidFill>
                <a:effectLst/>
                <a:latin typeface="Söhne"/>
              </a:rPr>
              <a:t> </a:t>
            </a:r>
            <a:r>
              <a:rPr lang="en-US" sz="1200" b="0" i="0" dirty="0" err="1">
                <a:solidFill>
                  <a:srgbClr val="374151"/>
                </a:solidFill>
                <a:effectLst/>
                <a:latin typeface="Söhne"/>
              </a:rPr>
              <a:t>feuille</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ccp_alpha</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paramètre</a:t>
            </a:r>
            <a:r>
              <a:rPr lang="en-US" sz="1200" b="0" i="0" dirty="0">
                <a:solidFill>
                  <a:srgbClr val="374151"/>
                </a:solidFill>
                <a:effectLst/>
                <a:latin typeface="Söhne"/>
              </a:rPr>
              <a:t> de </a:t>
            </a:r>
            <a:r>
              <a:rPr lang="en-US" sz="1200" b="0" i="0" dirty="0" err="1">
                <a:solidFill>
                  <a:srgbClr val="374151"/>
                </a:solidFill>
                <a:effectLst/>
                <a:latin typeface="Söhne"/>
              </a:rPr>
              <a:t>complexité</a:t>
            </a:r>
            <a:r>
              <a:rPr lang="en-US" sz="1200" b="0" i="0" dirty="0">
                <a:solidFill>
                  <a:srgbClr val="374151"/>
                </a:solidFill>
                <a:effectLst/>
                <a:latin typeface="Söhne"/>
              </a:rPr>
              <a:t> de </a:t>
            </a:r>
            <a:r>
              <a:rPr lang="en-US" sz="1200" b="0" i="0" dirty="0" err="1">
                <a:solidFill>
                  <a:srgbClr val="374151"/>
                </a:solidFill>
                <a:effectLst/>
                <a:latin typeface="Söhne"/>
              </a:rPr>
              <a:t>réduction</a:t>
            </a:r>
            <a:r>
              <a:rPr lang="en-US" sz="1200" b="0" i="0" dirty="0">
                <a:solidFill>
                  <a:srgbClr val="374151"/>
                </a:solidFill>
                <a:effectLst/>
                <a:latin typeface="Söhne"/>
              </a:rPr>
              <a:t> de </a:t>
            </a:r>
            <a:r>
              <a:rPr lang="en-US" sz="1200" b="0" i="0" dirty="0" err="1">
                <a:solidFill>
                  <a:srgbClr val="374151"/>
                </a:solidFill>
                <a:effectLst/>
                <a:latin typeface="Söhne"/>
              </a:rPr>
              <a:t>coût</a:t>
            </a:r>
            <a:r>
              <a:rPr lang="en-US" sz="1200" b="0" i="0" dirty="0">
                <a:solidFill>
                  <a:srgbClr val="374151"/>
                </a:solidFill>
                <a:effectLst/>
                <a:latin typeface="Söhne"/>
              </a:rPr>
              <a:t> pour </a:t>
            </a:r>
            <a:r>
              <a:rPr lang="en-US" sz="1200" b="0" i="0" dirty="0" err="1">
                <a:solidFill>
                  <a:srgbClr val="374151"/>
                </a:solidFill>
                <a:effectLst/>
                <a:latin typeface="Söhne"/>
              </a:rPr>
              <a:t>l'élagage</a:t>
            </a:r>
            <a:r>
              <a:rPr lang="en-US" sz="1200" b="0" i="0" dirty="0">
                <a:solidFill>
                  <a:srgbClr val="374151"/>
                </a:solidFill>
                <a:effectLst/>
                <a:latin typeface="Söhne"/>
              </a:rPr>
              <a:t> minimal </a:t>
            </a:r>
            <a:r>
              <a:rPr lang="en-US" sz="1200" b="0" i="0" dirty="0" err="1">
                <a:solidFill>
                  <a:srgbClr val="374151"/>
                </a:solidFill>
                <a:effectLst/>
                <a:latin typeface="Söhne"/>
              </a:rPr>
              <a:t>afin</a:t>
            </a:r>
            <a:r>
              <a:rPr lang="en-US" sz="1200" b="0" i="0" dirty="0">
                <a:solidFill>
                  <a:srgbClr val="374151"/>
                </a:solidFill>
                <a:effectLst/>
                <a:latin typeface="Söhne"/>
              </a:rPr>
              <a:t> de </a:t>
            </a:r>
            <a:r>
              <a:rPr lang="en-US" sz="1200" b="0" i="0" dirty="0" err="1">
                <a:solidFill>
                  <a:srgbClr val="374151"/>
                </a:solidFill>
                <a:effectLst/>
                <a:latin typeface="Söhne"/>
              </a:rPr>
              <a:t>contrôler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n_estimators</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nombre</a:t>
            </a:r>
            <a:r>
              <a:rPr lang="en-US" sz="1200" b="0" i="0" dirty="0">
                <a:solidFill>
                  <a:srgbClr val="374151"/>
                </a:solidFill>
                <a:effectLst/>
                <a:latin typeface="Söhne"/>
              </a:rPr>
              <a:t> </a:t>
            </a:r>
            <a:r>
              <a:rPr lang="en-US" sz="1200" b="0" i="0" dirty="0" err="1">
                <a:solidFill>
                  <a:srgbClr val="374151"/>
                </a:solidFill>
                <a:effectLst/>
                <a:latin typeface="Söhne"/>
              </a:rPr>
              <a:t>d'arbres</a:t>
            </a:r>
            <a:r>
              <a:rPr lang="en-US" sz="1200" b="0" i="0" dirty="0">
                <a:solidFill>
                  <a:srgbClr val="374151"/>
                </a:solidFill>
                <a:effectLst/>
                <a:latin typeface="Söhne"/>
              </a:rPr>
              <a:t> de </a:t>
            </a:r>
            <a:r>
              <a:rPr lang="en-US" sz="1200" b="0" i="0" dirty="0" err="1">
                <a:solidFill>
                  <a:srgbClr val="374151"/>
                </a:solidFill>
                <a:effectLst/>
                <a:latin typeface="Söhne"/>
              </a:rPr>
              <a:t>décision</a:t>
            </a:r>
            <a:r>
              <a:rPr lang="en-US" sz="1200" b="0" i="0" dirty="0">
                <a:solidFill>
                  <a:srgbClr val="374151"/>
                </a:solidFill>
                <a:effectLst/>
                <a:latin typeface="Söhne"/>
              </a:rPr>
              <a:t> pour </a:t>
            </a:r>
            <a:r>
              <a:rPr lang="en-US" sz="1200" b="0" i="0" dirty="0" err="1">
                <a:solidFill>
                  <a:srgbClr val="374151"/>
                </a:solidFill>
                <a:effectLst/>
                <a:latin typeface="Söhne"/>
              </a:rPr>
              <a:t>contrôler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learning_rate</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taux</a:t>
            </a:r>
            <a:r>
              <a:rPr lang="en-US" sz="1200" b="0" i="0" dirty="0">
                <a:solidFill>
                  <a:srgbClr val="374151"/>
                </a:solidFill>
                <a:effectLst/>
                <a:latin typeface="Söhne"/>
              </a:rPr>
              <a:t> </a:t>
            </a:r>
            <a:r>
              <a:rPr lang="en-US" sz="1200" b="0" i="0" dirty="0" err="1">
                <a:solidFill>
                  <a:srgbClr val="374151"/>
                </a:solidFill>
                <a:effectLst/>
                <a:latin typeface="Söhne"/>
              </a:rPr>
              <a:t>d'apprentissage</a:t>
            </a:r>
            <a:r>
              <a:rPr lang="en-US" sz="1200" b="0" i="0" dirty="0">
                <a:solidFill>
                  <a:srgbClr val="374151"/>
                </a:solidFill>
                <a:effectLst/>
                <a:latin typeface="Söhne"/>
              </a:rPr>
              <a:t> pour </a:t>
            </a:r>
            <a:r>
              <a:rPr lang="en-US" sz="1200" b="0" i="0" dirty="0" err="1">
                <a:solidFill>
                  <a:srgbClr val="374151"/>
                </a:solidFill>
                <a:effectLst/>
                <a:latin typeface="Söhne"/>
              </a:rPr>
              <a:t>contrôler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a:p>
            <a:pPr marL="742950" lvl="1" indent="-285750" algn="l">
              <a:buFont typeface="Arial" panose="020B0604020202020204" pitchFamily="34" charset="0"/>
              <a:buChar char="•"/>
            </a:pPr>
            <a:r>
              <a:rPr lang="en-US" sz="1200" b="1" i="0" dirty="0" err="1">
                <a:solidFill>
                  <a:srgbClr val="374151"/>
                </a:solidFill>
                <a:effectLst/>
                <a:latin typeface="Söhne"/>
              </a:rPr>
              <a:t>max_depth</a:t>
            </a:r>
            <a:r>
              <a:rPr lang="en-US" sz="1200" b="1" i="0" dirty="0">
                <a:solidFill>
                  <a:srgbClr val="374151"/>
                </a:solidFill>
                <a:effectLst/>
                <a:latin typeface="Söhne"/>
              </a:rPr>
              <a:t> </a:t>
            </a:r>
            <a:r>
              <a:rPr lang="en-US" sz="1200" b="0" i="0" dirty="0">
                <a:solidFill>
                  <a:srgbClr val="374151"/>
                </a:solidFill>
                <a:effectLst/>
                <a:latin typeface="Söhne"/>
              </a:rPr>
              <a:t>: </a:t>
            </a:r>
            <a:r>
              <a:rPr lang="en-US" sz="1200" b="0" i="0" dirty="0" err="1">
                <a:solidFill>
                  <a:srgbClr val="374151"/>
                </a:solidFill>
                <a:effectLst/>
                <a:latin typeface="Söhne"/>
              </a:rPr>
              <a:t>profondeur</a:t>
            </a:r>
            <a:r>
              <a:rPr lang="en-US" sz="1200" b="0" i="0" dirty="0">
                <a:solidFill>
                  <a:srgbClr val="374151"/>
                </a:solidFill>
                <a:effectLst/>
                <a:latin typeface="Söhne"/>
              </a:rPr>
              <a:t> </a:t>
            </a:r>
            <a:r>
              <a:rPr lang="en-US" sz="1200" b="0" i="0" dirty="0" err="1">
                <a:solidFill>
                  <a:srgbClr val="374151"/>
                </a:solidFill>
                <a:effectLst/>
                <a:latin typeface="Söhne"/>
              </a:rPr>
              <a:t>maximale</a:t>
            </a:r>
            <a:r>
              <a:rPr lang="en-US" sz="1200" b="0" i="0" dirty="0">
                <a:solidFill>
                  <a:srgbClr val="374151"/>
                </a:solidFill>
                <a:effectLst/>
                <a:latin typeface="Söhne"/>
              </a:rPr>
              <a:t> des </a:t>
            </a:r>
            <a:r>
              <a:rPr lang="en-US" sz="1200" b="0" i="0" dirty="0" err="1">
                <a:solidFill>
                  <a:srgbClr val="374151"/>
                </a:solidFill>
                <a:effectLst/>
                <a:latin typeface="Söhne"/>
              </a:rPr>
              <a:t>arbres</a:t>
            </a:r>
            <a:r>
              <a:rPr lang="en-US" sz="1200" b="0" i="0" dirty="0">
                <a:solidFill>
                  <a:srgbClr val="374151"/>
                </a:solidFill>
                <a:effectLst/>
                <a:latin typeface="Söhne"/>
              </a:rPr>
              <a:t> de </a:t>
            </a:r>
            <a:r>
              <a:rPr lang="en-US" sz="1200" b="0" i="0" dirty="0" err="1">
                <a:solidFill>
                  <a:srgbClr val="374151"/>
                </a:solidFill>
                <a:effectLst/>
                <a:latin typeface="Söhne"/>
              </a:rPr>
              <a:t>décision</a:t>
            </a:r>
            <a:r>
              <a:rPr lang="en-US" sz="1200" b="0" i="0" dirty="0">
                <a:solidFill>
                  <a:srgbClr val="374151"/>
                </a:solidFill>
                <a:effectLst/>
                <a:latin typeface="Söhne"/>
              </a:rPr>
              <a:t> pour </a:t>
            </a:r>
            <a:r>
              <a:rPr lang="en-US" sz="1200" b="0" i="0" dirty="0" err="1">
                <a:solidFill>
                  <a:srgbClr val="374151"/>
                </a:solidFill>
                <a:effectLst/>
                <a:latin typeface="Söhne"/>
              </a:rPr>
              <a:t>contrôler</a:t>
            </a:r>
            <a:r>
              <a:rPr lang="en-US" sz="1200" b="0" i="0" dirty="0">
                <a:solidFill>
                  <a:srgbClr val="374151"/>
                </a:solidFill>
                <a:effectLst/>
                <a:latin typeface="Söhne"/>
              </a:rPr>
              <a:t> le </a:t>
            </a:r>
            <a:r>
              <a:rPr lang="en-US" sz="1200" b="0" i="0" dirty="0" err="1">
                <a:solidFill>
                  <a:srgbClr val="374151"/>
                </a:solidFill>
                <a:effectLst/>
                <a:latin typeface="Söhne"/>
              </a:rPr>
              <a:t>surajustement</a:t>
            </a:r>
            <a:r>
              <a:rPr lang="en-US" sz="1200" b="0" i="0" dirty="0">
                <a:solidFill>
                  <a:srgbClr val="374151"/>
                </a:solidFill>
                <a:effectLst/>
                <a:latin typeface="Söhne"/>
              </a:rPr>
              <a:t>.</a:t>
            </a:r>
          </a:p>
        </p:txBody>
      </p:sp>
      <p:sp>
        <p:nvSpPr>
          <p:cNvPr id="9" name="ZoneTexte 15">
            <a:extLst>
              <a:ext uri="{FF2B5EF4-FFF2-40B4-BE49-F238E27FC236}">
                <a16:creationId xmlns:a16="http://schemas.microsoft.com/office/drawing/2014/main" id="{B84261EC-9606-20E0-0104-440C160F4D9C}"/>
              </a:ext>
            </a:extLst>
          </p:cNvPr>
          <p:cNvSpPr txBox="1"/>
          <p:nvPr/>
        </p:nvSpPr>
        <p:spPr>
          <a:xfrm>
            <a:off x="70339" y="151005"/>
            <a:ext cx="4572000" cy="307777"/>
          </a:xfrm>
          <a:prstGeom prst="rect">
            <a:avLst/>
          </a:prstGeom>
          <a:noFill/>
        </p:spPr>
        <p:txBody>
          <a:bodyPr wrap="square">
            <a:spAutoFit/>
          </a:bodyPr>
          <a:lstStyle/>
          <a:p>
            <a:r>
              <a:rPr lang="fr-FR" b="1" dirty="0">
                <a:highlight>
                  <a:srgbClr val="53CFA2"/>
                </a:highlight>
              </a:rPr>
              <a:t>Les modèles et leurs hyperparamètres</a:t>
            </a:r>
            <a:r>
              <a:rPr lang="fr-FR" dirty="0">
                <a:highlight>
                  <a:srgbClr val="53CFA2"/>
                </a:highlight>
              </a:rPr>
              <a:t>:</a:t>
            </a:r>
          </a:p>
        </p:txBody>
      </p:sp>
      <p:sp>
        <p:nvSpPr>
          <p:cNvPr id="11" name="TextBox 10">
            <a:extLst>
              <a:ext uri="{FF2B5EF4-FFF2-40B4-BE49-F238E27FC236}">
                <a16:creationId xmlns:a16="http://schemas.microsoft.com/office/drawing/2014/main" id="{A9546FB1-D654-6AC7-D786-6F3344B74C65}"/>
              </a:ext>
            </a:extLst>
          </p:cNvPr>
          <p:cNvSpPr txBox="1"/>
          <p:nvPr/>
        </p:nvSpPr>
        <p:spPr>
          <a:xfrm>
            <a:off x="70339" y="622704"/>
            <a:ext cx="4572000" cy="738664"/>
          </a:xfrm>
          <a:prstGeom prst="rect">
            <a:avLst/>
          </a:prstGeom>
          <a:noFill/>
        </p:spPr>
        <p:txBody>
          <a:bodyPr wrap="square">
            <a:spAutoFit/>
          </a:bodyPr>
          <a:lstStyle/>
          <a:p>
            <a:r>
              <a:rPr lang="fr-FR" sz="1400" b="1" dirty="0">
                <a:solidFill>
                  <a:srgbClr val="000000"/>
                </a:solidFill>
              </a:rPr>
              <a:t>Nous avons utilisé la validation croisée en vue de choisir le meilleur modèle avec les meilleurs </a:t>
            </a:r>
            <a:r>
              <a:rPr lang="fr-FR" sz="1400" b="1" dirty="0" err="1">
                <a:solidFill>
                  <a:srgbClr val="000000"/>
                </a:solidFill>
              </a:rPr>
              <a:t>hyperparamétres</a:t>
            </a:r>
            <a:r>
              <a:rPr lang="fr-FR" sz="1400" b="1" dirty="0">
                <a:solidFill>
                  <a:srgbClr val="000000"/>
                </a:solidFill>
              </a:rPr>
              <a:t> </a:t>
            </a:r>
          </a:p>
        </p:txBody>
      </p:sp>
    </p:spTree>
    <p:extLst>
      <p:ext uri="{BB962C8B-B14F-4D97-AF65-F5344CB8AC3E}">
        <p14:creationId xmlns:p14="http://schemas.microsoft.com/office/powerpoint/2010/main" val="2276636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C6FB98F6-034E-A183-F864-8F1D43BE999A}"/>
              </a:ext>
            </a:extLst>
          </p:cNvPr>
          <p:cNvSpPr txBox="1"/>
          <p:nvPr/>
        </p:nvSpPr>
        <p:spPr>
          <a:xfrm>
            <a:off x="308009" y="168547"/>
            <a:ext cx="9184334" cy="584775"/>
          </a:xfrm>
          <a:prstGeom prst="rect">
            <a:avLst/>
          </a:prstGeom>
          <a:noFill/>
        </p:spPr>
        <p:txBody>
          <a:bodyPr wrap="square">
            <a:spAutoFit/>
          </a:bodyPr>
          <a:lstStyle/>
          <a:p>
            <a:r>
              <a:rPr lang="fr-FR" sz="3200" b="1" dirty="0">
                <a:solidFill>
                  <a:schemeClr val="dk1"/>
                </a:solidFill>
                <a:latin typeface="Quicksand Medium"/>
                <a:sym typeface="Quicksand Medium"/>
              </a:rPr>
              <a:t>Résultat modélisation sur le </a:t>
            </a:r>
            <a:r>
              <a:rPr lang="fr-FR" sz="3200" b="1" dirty="0" err="1">
                <a:solidFill>
                  <a:schemeClr val="dk1"/>
                </a:solidFill>
                <a:latin typeface="Quicksand Medium"/>
                <a:sym typeface="Quicksand Medium"/>
              </a:rPr>
              <a:t>dataset</a:t>
            </a:r>
            <a:r>
              <a:rPr lang="fr-FR" sz="3200" b="1" dirty="0">
                <a:solidFill>
                  <a:schemeClr val="dk1"/>
                </a:solidFill>
                <a:latin typeface="Quicksand Medium"/>
                <a:sym typeface="Quicksand Medium"/>
              </a:rPr>
              <a:t> initial</a:t>
            </a:r>
            <a:endParaRPr lang="en-US" sz="3200" b="1" dirty="0"/>
          </a:p>
        </p:txBody>
      </p:sp>
      <p:sp>
        <p:nvSpPr>
          <p:cNvPr id="30" name="ZoneTexte 15">
            <a:extLst>
              <a:ext uri="{FF2B5EF4-FFF2-40B4-BE49-F238E27FC236}">
                <a16:creationId xmlns:a16="http://schemas.microsoft.com/office/drawing/2014/main" id="{DCD7D4AD-EADA-189C-8EB2-DA93C5F690BA}"/>
              </a:ext>
            </a:extLst>
          </p:cNvPr>
          <p:cNvSpPr txBox="1"/>
          <p:nvPr/>
        </p:nvSpPr>
        <p:spPr>
          <a:xfrm>
            <a:off x="152400" y="673342"/>
            <a:ext cx="4572000" cy="523220"/>
          </a:xfrm>
          <a:prstGeom prst="rect">
            <a:avLst/>
          </a:prstGeom>
          <a:noFill/>
        </p:spPr>
        <p:txBody>
          <a:bodyPr wrap="square">
            <a:spAutoFit/>
          </a:bodyPr>
          <a:lstStyle/>
          <a:p>
            <a:r>
              <a:rPr lang="fr-FR" b="1" dirty="0">
                <a:highlight>
                  <a:srgbClr val="53CFA2"/>
                </a:highlight>
              </a:rPr>
              <a:t>• </a:t>
            </a:r>
            <a:r>
              <a:rPr lang="fr-FR" dirty="0">
                <a:highlight>
                  <a:srgbClr val="53CFA2"/>
                </a:highlight>
              </a:rPr>
              <a:t>modèle de prédiction de base avant </a:t>
            </a:r>
            <a:r>
              <a:rPr lang="fr-FR" dirty="0" err="1">
                <a:highlight>
                  <a:srgbClr val="53CFA2"/>
                </a:highlight>
              </a:rPr>
              <a:t>feature</a:t>
            </a:r>
            <a:r>
              <a:rPr lang="fr-FR" dirty="0">
                <a:highlight>
                  <a:srgbClr val="53CFA2"/>
                </a:highlight>
              </a:rPr>
              <a:t> engineering, émission CO2 :</a:t>
            </a:r>
          </a:p>
        </p:txBody>
      </p:sp>
      <p:sp>
        <p:nvSpPr>
          <p:cNvPr id="31" name="ZoneTexte 15">
            <a:extLst>
              <a:ext uri="{FF2B5EF4-FFF2-40B4-BE49-F238E27FC236}">
                <a16:creationId xmlns:a16="http://schemas.microsoft.com/office/drawing/2014/main" id="{0C3C9959-7EFC-24EB-5032-A4A9F10530C2}"/>
              </a:ext>
            </a:extLst>
          </p:cNvPr>
          <p:cNvSpPr txBox="1"/>
          <p:nvPr/>
        </p:nvSpPr>
        <p:spPr>
          <a:xfrm>
            <a:off x="152400" y="3050601"/>
            <a:ext cx="4572000" cy="523220"/>
          </a:xfrm>
          <a:prstGeom prst="rect">
            <a:avLst/>
          </a:prstGeom>
          <a:noFill/>
        </p:spPr>
        <p:txBody>
          <a:bodyPr wrap="square">
            <a:spAutoFit/>
          </a:bodyPr>
          <a:lstStyle/>
          <a:p>
            <a:r>
              <a:rPr lang="fr-FR" b="1" dirty="0">
                <a:highlight>
                  <a:srgbClr val="53CFA2"/>
                </a:highlight>
              </a:rPr>
              <a:t>• </a:t>
            </a:r>
            <a:r>
              <a:rPr lang="fr-FR" dirty="0">
                <a:highlight>
                  <a:srgbClr val="53CFA2"/>
                </a:highlight>
              </a:rPr>
              <a:t>modèle de prédiction de base avant </a:t>
            </a:r>
            <a:r>
              <a:rPr lang="fr-FR" dirty="0" err="1">
                <a:highlight>
                  <a:srgbClr val="53CFA2"/>
                </a:highlight>
              </a:rPr>
              <a:t>feature</a:t>
            </a:r>
            <a:r>
              <a:rPr lang="fr-FR" dirty="0">
                <a:highlight>
                  <a:srgbClr val="53CFA2"/>
                </a:highlight>
              </a:rPr>
              <a:t> engineering, consommation énergie :</a:t>
            </a:r>
          </a:p>
        </p:txBody>
      </p:sp>
      <p:pic>
        <p:nvPicPr>
          <p:cNvPr id="3" name="Picture 2" descr="A screenshot of a graph&#10;&#10;Description automatically generated">
            <a:extLst>
              <a:ext uri="{FF2B5EF4-FFF2-40B4-BE49-F238E27FC236}">
                <a16:creationId xmlns:a16="http://schemas.microsoft.com/office/drawing/2014/main" id="{A471092A-145F-AD19-40C7-3640852E0501}"/>
              </a:ext>
            </a:extLst>
          </p:cNvPr>
          <p:cNvPicPr>
            <a:picLocks noChangeAspect="1"/>
          </p:cNvPicPr>
          <p:nvPr/>
        </p:nvPicPr>
        <p:blipFill>
          <a:blip r:embed="rId3"/>
          <a:stretch>
            <a:fillRect/>
          </a:stretch>
        </p:blipFill>
        <p:spPr>
          <a:xfrm>
            <a:off x="268304" y="1153053"/>
            <a:ext cx="6775963" cy="1773237"/>
          </a:xfrm>
          <a:prstGeom prst="rect">
            <a:avLst/>
          </a:prstGeom>
        </p:spPr>
      </p:pic>
      <p:pic>
        <p:nvPicPr>
          <p:cNvPr id="5" name="Picture 4" descr="A screenshot of a graph&#10;&#10;Description automatically generated">
            <a:extLst>
              <a:ext uri="{FF2B5EF4-FFF2-40B4-BE49-F238E27FC236}">
                <a16:creationId xmlns:a16="http://schemas.microsoft.com/office/drawing/2014/main" id="{4051A780-6C87-62F1-C14C-54A821258102}"/>
              </a:ext>
            </a:extLst>
          </p:cNvPr>
          <p:cNvPicPr>
            <a:picLocks noChangeAspect="1"/>
          </p:cNvPicPr>
          <p:nvPr/>
        </p:nvPicPr>
        <p:blipFill>
          <a:blip r:embed="rId4"/>
          <a:stretch>
            <a:fillRect/>
          </a:stretch>
        </p:blipFill>
        <p:spPr>
          <a:xfrm>
            <a:off x="268304" y="3698132"/>
            <a:ext cx="8058103" cy="1272332"/>
          </a:xfrm>
          <a:prstGeom prst="rect">
            <a:avLst/>
          </a:prstGeom>
        </p:spPr>
      </p:pic>
    </p:spTree>
    <p:extLst>
      <p:ext uri="{BB962C8B-B14F-4D97-AF65-F5344CB8AC3E}">
        <p14:creationId xmlns:p14="http://schemas.microsoft.com/office/powerpoint/2010/main" val="150144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3;p43">
            <a:extLst>
              <a:ext uri="{FF2B5EF4-FFF2-40B4-BE49-F238E27FC236}">
                <a16:creationId xmlns:a16="http://schemas.microsoft.com/office/drawing/2014/main" id="{BBD14D34-6EA5-EFA6-F9CE-196FDD33363A}"/>
              </a:ext>
            </a:extLst>
          </p:cNvPr>
          <p:cNvSpPr txBox="1"/>
          <p:nvPr/>
        </p:nvSpPr>
        <p:spPr>
          <a:xfrm flipH="1">
            <a:off x="125397" y="430576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4</a:t>
            </a:r>
            <a:endParaRPr sz="3500" dirty="0">
              <a:solidFill>
                <a:schemeClr val="dk2"/>
              </a:solidFill>
              <a:latin typeface="Quicksand SemiBold"/>
              <a:ea typeface="Quicksand SemiBold"/>
              <a:cs typeface="Quicksand SemiBold"/>
              <a:sym typeface="Quicksand SemiBold"/>
            </a:endParaRPr>
          </a:p>
        </p:txBody>
      </p:sp>
      <p:sp>
        <p:nvSpPr>
          <p:cNvPr id="5" name="Google Shape;404;p43">
            <a:extLst>
              <a:ext uri="{FF2B5EF4-FFF2-40B4-BE49-F238E27FC236}">
                <a16:creationId xmlns:a16="http://schemas.microsoft.com/office/drawing/2014/main" id="{790F865B-9989-A9B3-D1EE-177DDDF30EAB}"/>
              </a:ext>
            </a:extLst>
          </p:cNvPr>
          <p:cNvSpPr txBox="1"/>
          <p:nvPr/>
        </p:nvSpPr>
        <p:spPr>
          <a:xfrm flipH="1">
            <a:off x="125397" y="4644480"/>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Feature</a:t>
            </a:r>
            <a:r>
              <a:rPr lang="fr-FR" sz="1200" dirty="0">
                <a:solidFill>
                  <a:schemeClr val="dk1"/>
                </a:solidFill>
                <a:latin typeface="Quicksand Medium"/>
                <a:sym typeface="Quicksand Medium"/>
              </a:rPr>
              <a:t> engineering</a:t>
            </a:r>
            <a:endParaRPr sz="1200" dirty="0">
              <a:solidFill>
                <a:schemeClr val="dk1"/>
              </a:solidFill>
              <a:latin typeface="Quicksand Medium"/>
              <a:sym typeface="Quicksand Medium"/>
            </a:endParaRPr>
          </a:p>
        </p:txBody>
      </p:sp>
      <p:sp>
        <p:nvSpPr>
          <p:cNvPr id="2" name="ZoneTexte 9">
            <a:extLst>
              <a:ext uri="{FF2B5EF4-FFF2-40B4-BE49-F238E27FC236}">
                <a16:creationId xmlns:a16="http://schemas.microsoft.com/office/drawing/2014/main" id="{2C4C0B5E-356D-9368-C51A-1F3789277C34}"/>
              </a:ext>
            </a:extLst>
          </p:cNvPr>
          <p:cNvSpPr txBox="1"/>
          <p:nvPr/>
        </p:nvSpPr>
        <p:spPr>
          <a:xfrm>
            <a:off x="-93888" y="1002081"/>
            <a:ext cx="4572000" cy="307777"/>
          </a:xfrm>
          <a:prstGeom prst="rect">
            <a:avLst/>
          </a:prstGeom>
          <a:noFill/>
        </p:spPr>
        <p:txBody>
          <a:bodyPr wrap="square">
            <a:spAutoFit/>
          </a:bodyPr>
          <a:lstStyle/>
          <a:p>
            <a:r>
              <a:rPr lang="fr-FR" b="1" dirty="0" err="1">
                <a:solidFill>
                  <a:srgbClr val="374151"/>
                </a:solidFill>
                <a:highlight>
                  <a:srgbClr val="53CFA2"/>
                </a:highlight>
                <a:latin typeface="Söhne"/>
              </a:rPr>
              <a:t>Feature</a:t>
            </a:r>
            <a:r>
              <a:rPr lang="fr-FR" b="1" dirty="0">
                <a:solidFill>
                  <a:srgbClr val="374151"/>
                </a:solidFill>
                <a:highlight>
                  <a:srgbClr val="53CFA2"/>
                </a:highlight>
                <a:latin typeface="Söhne"/>
              </a:rPr>
              <a:t> engineering 1 : type d’énergie</a:t>
            </a:r>
            <a:endParaRPr lang="fr-FR" dirty="0">
              <a:highlight>
                <a:srgbClr val="53CFA2"/>
              </a:highlight>
            </a:endParaRPr>
          </a:p>
        </p:txBody>
      </p:sp>
      <p:sp>
        <p:nvSpPr>
          <p:cNvPr id="11" name="Google Shape;359;p42">
            <a:extLst>
              <a:ext uri="{FF2B5EF4-FFF2-40B4-BE49-F238E27FC236}">
                <a16:creationId xmlns:a16="http://schemas.microsoft.com/office/drawing/2014/main" id="{B38C1B03-806D-FD8A-09E2-43E879EB3589}"/>
              </a:ext>
            </a:extLst>
          </p:cNvPr>
          <p:cNvSpPr txBox="1">
            <a:spLocks/>
          </p:cNvSpPr>
          <p:nvPr/>
        </p:nvSpPr>
        <p:spPr>
          <a:xfrm>
            <a:off x="720000" y="17922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a:t>Optimisation des </a:t>
            </a:r>
            <a:r>
              <a:rPr lang="en-GB" sz="2400" dirty="0" err="1"/>
              <a:t>caractéristiques</a:t>
            </a:r>
            <a:r>
              <a:rPr lang="en-GB" sz="2400" dirty="0"/>
              <a:t> pour </a:t>
            </a:r>
            <a:r>
              <a:rPr lang="en-GB" sz="2400" dirty="0" err="1"/>
              <a:t>une</a:t>
            </a:r>
            <a:r>
              <a:rPr lang="en-GB" sz="2400" dirty="0"/>
              <a:t> </a:t>
            </a:r>
            <a:r>
              <a:rPr lang="en-GB" sz="2400" dirty="0" err="1"/>
              <a:t>meilleure</a:t>
            </a:r>
            <a:r>
              <a:rPr lang="en-GB" sz="2400" dirty="0"/>
              <a:t> </a:t>
            </a:r>
            <a:r>
              <a:rPr lang="en-GB" sz="2400" dirty="0" err="1"/>
              <a:t>précision</a:t>
            </a:r>
            <a:r>
              <a:rPr lang="en-GB" sz="2400" dirty="0"/>
              <a:t> de la </a:t>
            </a:r>
            <a:r>
              <a:rPr lang="en-GB" sz="2400" dirty="0" err="1"/>
              <a:t>prédiction</a:t>
            </a:r>
            <a:endParaRPr lang="en-GB" sz="2400" dirty="0"/>
          </a:p>
          <a:p>
            <a:endParaRPr lang="en-GB" sz="2400" dirty="0"/>
          </a:p>
        </p:txBody>
      </p:sp>
      <p:pic>
        <p:nvPicPr>
          <p:cNvPr id="15" name="Picture 14">
            <a:extLst>
              <a:ext uri="{FF2B5EF4-FFF2-40B4-BE49-F238E27FC236}">
                <a16:creationId xmlns:a16="http://schemas.microsoft.com/office/drawing/2014/main" id="{876674DA-671E-18DA-3B4B-AA2AE7714912}"/>
              </a:ext>
            </a:extLst>
          </p:cNvPr>
          <p:cNvPicPr>
            <a:picLocks noChangeAspect="1"/>
          </p:cNvPicPr>
          <p:nvPr/>
        </p:nvPicPr>
        <p:blipFill>
          <a:blip r:embed="rId3"/>
          <a:stretch>
            <a:fillRect/>
          </a:stretch>
        </p:blipFill>
        <p:spPr>
          <a:xfrm>
            <a:off x="3903656" y="1374427"/>
            <a:ext cx="4571999" cy="397679"/>
          </a:xfrm>
          <a:prstGeom prst="rect">
            <a:avLst/>
          </a:prstGeom>
        </p:spPr>
      </p:pic>
      <p:sp>
        <p:nvSpPr>
          <p:cNvPr id="16" name="Google Shape;237;p32">
            <a:extLst>
              <a:ext uri="{FF2B5EF4-FFF2-40B4-BE49-F238E27FC236}">
                <a16:creationId xmlns:a16="http://schemas.microsoft.com/office/drawing/2014/main" id="{C6568CCB-4278-E651-D4AA-302966233965}"/>
              </a:ext>
            </a:extLst>
          </p:cNvPr>
          <p:cNvSpPr txBox="1">
            <a:spLocks/>
          </p:cNvSpPr>
          <p:nvPr/>
        </p:nvSpPr>
        <p:spPr>
          <a:xfrm>
            <a:off x="149925" y="1479216"/>
            <a:ext cx="3575543" cy="254414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dk1"/>
              </a:buClr>
              <a:buSzPts val="1100"/>
            </a:pPr>
            <a:r>
              <a:rPr lang="en-GB" dirty="0">
                <a:solidFill>
                  <a:srgbClr val="374151"/>
                </a:solidFill>
                <a:latin typeface="Söhne"/>
              </a:rPr>
              <a:t>Utilise les </a:t>
            </a:r>
            <a:r>
              <a:rPr lang="en-GB" dirty="0" err="1">
                <a:solidFill>
                  <a:srgbClr val="374151"/>
                </a:solidFill>
                <a:latin typeface="Söhne"/>
              </a:rPr>
              <a:t>colonnes</a:t>
            </a:r>
            <a:r>
              <a:rPr lang="en-GB" dirty="0">
                <a:solidFill>
                  <a:srgbClr val="374151"/>
                </a:solidFill>
                <a:latin typeface="Söhne"/>
              </a:rPr>
              <a:t> (Electricity(</a:t>
            </a:r>
            <a:r>
              <a:rPr lang="en-GB" dirty="0" err="1">
                <a:solidFill>
                  <a:srgbClr val="374151"/>
                </a:solidFill>
                <a:latin typeface="Söhne"/>
              </a:rPr>
              <a:t>kBtu</a:t>
            </a:r>
            <a:r>
              <a:rPr lang="en-GB" dirty="0">
                <a:solidFill>
                  <a:srgbClr val="374151"/>
                </a:solidFill>
                <a:latin typeface="Söhne"/>
              </a:rPr>
              <a:t>), </a:t>
            </a:r>
            <a:r>
              <a:rPr lang="en-GB" dirty="0" err="1">
                <a:solidFill>
                  <a:srgbClr val="374151"/>
                </a:solidFill>
                <a:latin typeface="Söhne"/>
              </a:rPr>
              <a:t>NaturalGas</a:t>
            </a:r>
            <a:r>
              <a:rPr lang="en-GB" dirty="0">
                <a:solidFill>
                  <a:srgbClr val="374151"/>
                </a:solidFill>
                <a:latin typeface="Söhne"/>
              </a:rPr>
              <a:t>(</a:t>
            </a:r>
            <a:r>
              <a:rPr lang="en-GB" dirty="0" err="1">
                <a:solidFill>
                  <a:srgbClr val="374151"/>
                </a:solidFill>
                <a:latin typeface="Söhne"/>
              </a:rPr>
              <a:t>kBtu</a:t>
            </a:r>
            <a:r>
              <a:rPr lang="en-GB" dirty="0">
                <a:solidFill>
                  <a:srgbClr val="374151"/>
                </a:solidFill>
                <a:latin typeface="Söhne"/>
              </a:rPr>
              <a:t>), </a:t>
            </a:r>
            <a:r>
              <a:rPr lang="en-GB" dirty="0" err="1">
                <a:solidFill>
                  <a:srgbClr val="374151"/>
                </a:solidFill>
                <a:latin typeface="Söhne"/>
              </a:rPr>
              <a:t>SteamUse</a:t>
            </a:r>
            <a:r>
              <a:rPr lang="en-GB" dirty="0">
                <a:solidFill>
                  <a:srgbClr val="374151"/>
                </a:solidFill>
                <a:latin typeface="Söhne"/>
              </a:rPr>
              <a:t>(</a:t>
            </a:r>
            <a:r>
              <a:rPr lang="en-GB" dirty="0" err="1">
                <a:solidFill>
                  <a:srgbClr val="374151"/>
                </a:solidFill>
                <a:latin typeface="Söhne"/>
              </a:rPr>
              <a:t>kBtu</a:t>
            </a:r>
            <a:r>
              <a:rPr lang="en-GB" dirty="0">
                <a:solidFill>
                  <a:srgbClr val="374151"/>
                </a:solidFill>
                <a:latin typeface="Söhne"/>
              </a:rPr>
              <a:t>)) pour </a:t>
            </a:r>
            <a:r>
              <a:rPr lang="en-GB" dirty="0" err="1">
                <a:solidFill>
                  <a:srgbClr val="374151"/>
                </a:solidFill>
                <a:latin typeface="Söhne"/>
              </a:rPr>
              <a:t>créer</a:t>
            </a:r>
            <a:r>
              <a:rPr lang="en-GB" dirty="0">
                <a:solidFill>
                  <a:srgbClr val="374151"/>
                </a:solidFill>
                <a:latin typeface="Söhne"/>
              </a:rPr>
              <a:t> de </a:t>
            </a:r>
            <a:r>
              <a:rPr lang="en-GB" dirty="0" err="1">
                <a:solidFill>
                  <a:srgbClr val="374151"/>
                </a:solidFill>
                <a:latin typeface="Söhne"/>
              </a:rPr>
              <a:t>nouvelles</a:t>
            </a:r>
            <a:r>
              <a:rPr lang="en-GB" dirty="0">
                <a:solidFill>
                  <a:srgbClr val="374151"/>
                </a:solidFill>
                <a:latin typeface="Söhne"/>
              </a:rPr>
              <a:t> </a:t>
            </a:r>
            <a:r>
              <a:rPr lang="en-GB" dirty="0" err="1">
                <a:solidFill>
                  <a:srgbClr val="374151"/>
                </a:solidFill>
                <a:latin typeface="Söhne"/>
              </a:rPr>
              <a:t>colonnes</a:t>
            </a:r>
            <a:r>
              <a:rPr lang="en-GB" dirty="0">
                <a:solidFill>
                  <a:srgbClr val="374151"/>
                </a:solidFill>
                <a:latin typeface="Söhne"/>
              </a:rPr>
              <a:t> </a:t>
            </a:r>
            <a:r>
              <a:rPr lang="en-GB" dirty="0" err="1">
                <a:solidFill>
                  <a:srgbClr val="374151"/>
                </a:solidFill>
                <a:latin typeface="Söhne"/>
              </a:rPr>
              <a:t>HasElectricity</a:t>
            </a:r>
            <a:r>
              <a:rPr lang="en-GB" dirty="0">
                <a:solidFill>
                  <a:srgbClr val="374151"/>
                </a:solidFill>
                <a:latin typeface="Söhne"/>
              </a:rPr>
              <a:t>, </a:t>
            </a:r>
            <a:r>
              <a:rPr lang="en-GB" dirty="0" err="1">
                <a:solidFill>
                  <a:srgbClr val="374151"/>
                </a:solidFill>
                <a:latin typeface="Söhne"/>
              </a:rPr>
              <a:t>HasNaturalGas</a:t>
            </a:r>
            <a:r>
              <a:rPr lang="en-GB" dirty="0">
                <a:solidFill>
                  <a:srgbClr val="374151"/>
                </a:solidFill>
                <a:latin typeface="Söhne"/>
              </a:rPr>
              <a:t> et </a:t>
            </a:r>
            <a:r>
              <a:rPr lang="en-GB" dirty="0" err="1">
                <a:solidFill>
                  <a:srgbClr val="374151"/>
                </a:solidFill>
                <a:latin typeface="Söhne"/>
              </a:rPr>
              <a:t>HasSteam</a:t>
            </a:r>
            <a:r>
              <a:rPr lang="en-GB" dirty="0">
                <a:solidFill>
                  <a:srgbClr val="374151"/>
                </a:solidFill>
                <a:latin typeface="Söhne"/>
              </a:rPr>
              <a:t>. </a:t>
            </a:r>
          </a:p>
          <a:p>
            <a:pPr>
              <a:buClr>
                <a:schemeClr val="dk1"/>
              </a:buClr>
              <a:buSzPts val="1100"/>
            </a:pPr>
            <a:endParaRPr lang="en-GB" dirty="0">
              <a:solidFill>
                <a:srgbClr val="374151"/>
              </a:solidFill>
              <a:latin typeface="Söhne"/>
            </a:endParaRPr>
          </a:p>
          <a:p>
            <a:pPr>
              <a:buClr>
                <a:schemeClr val="dk1"/>
              </a:buClr>
              <a:buSzPts val="1100"/>
            </a:pPr>
            <a:r>
              <a:rPr lang="en-GB" dirty="0" err="1">
                <a:solidFill>
                  <a:srgbClr val="374151"/>
                </a:solidFill>
                <a:latin typeface="Söhne"/>
              </a:rPr>
              <a:t>Cela</a:t>
            </a:r>
            <a:r>
              <a:rPr lang="en-GB" dirty="0">
                <a:solidFill>
                  <a:srgbClr val="374151"/>
                </a:solidFill>
                <a:latin typeface="Söhne"/>
              </a:rPr>
              <a:t> </a:t>
            </a:r>
            <a:r>
              <a:rPr lang="en-GB" dirty="0" err="1">
                <a:solidFill>
                  <a:srgbClr val="374151"/>
                </a:solidFill>
                <a:latin typeface="Söhne"/>
              </a:rPr>
              <a:t>permet</a:t>
            </a:r>
            <a:r>
              <a:rPr lang="en-GB" dirty="0">
                <a:solidFill>
                  <a:srgbClr val="374151"/>
                </a:solidFill>
                <a:latin typeface="Söhne"/>
              </a:rPr>
              <a:t> de savoir pour </a:t>
            </a:r>
            <a:r>
              <a:rPr lang="en-GB" dirty="0" err="1">
                <a:solidFill>
                  <a:srgbClr val="374151"/>
                </a:solidFill>
                <a:latin typeface="Söhne"/>
              </a:rPr>
              <a:t>chaque</a:t>
            </a:r>
            <a:r>
              <a:rPr lang="en-GB" dirty="0">
                <a:solidFill>
                  <a:srgbClr val="374151"/>
                </a:solidFill>
                <a:latin typeface="Söhne"/>
              </a:rPr>
              <a:t> </a:t>
            </a:r>
            <a:r>
              <a:rPr lang="en-GB" dirty="0" err="1">
                <a:solidFill>
                  <a:srgbClr val="374151"/>
                </a:solidFill>
                <a:latin typeface="Söhne"/>
              </a:rPr>
              <a:t>ligne</a:t>
            </a:r>
            <a:r>
              <a:rPr lang="en-GB" dirty="0">
                <a:solidFill>
                  <a:srgbClr val="374151"/>
                </a:solidFill>
                <a:latin typeface="Söhne"/>
              </a:rPr>
              <a:t> </a:t>
            </a:r>
            <a:r>
              <a:rPr lang="en-GB" dirty="0" err="1">
                <a:solidFill>
                  <a:srgbClr val="374151"/>
                </a:solidFill>
                <a:latin typeface="Söhne"/>
              </a:rPr>
              <a:t>si</a:t>
            </a:r>
            <a:r>
              <a:rPr lang="en-GB" dirty="0">
                <a:solidFill>
                  <a:srgbClr val="374151"/>
                </a:solidFill>
                <a:latin typeface="Söhne"/>
              </a:rPr>
              <a:t> on a </a:t>
            </a:r>
            <a:r>
              <a:rPr lang="en-GB" dirty="0" err="1">
                <a:solidFill>
                  <a:srgbClr val="374151"/>
                </a:solidFill>
                <a:latin typeface="Söhne"/>
              </a:rPr>
              <a:t>une</a:t>
            </a:r>
            <a:r>
              <a:rPr lang="en-GB" dirty="0">
                <a:solidFill>
                  <a:srgbClr val="374151"/>
                </a:solidFill>
                <a:latin typeface="Söhne"/>
              </a:rPr>
              <a:t> </a:t>
            </a:r>
            <a:r>
              <a:rPr lang="en-GB" dirty="0" err="1">
                <a:solidFill>
                  <a:srgbClr val="374151"/>
                </a:solidFill>
                <a:latin typeface="Söhne"/>
              </a:rPr>
              <a:t>consommation</a:t>
            </a:r>
            <a:r>
              <a:rPr lang="en-GB" dirty="0">
                <a:solidFill>
                  <a:srgbClr val="374151"/>
                </a:solidFill>
                <a:latin typeface="Söhne"/>
              </a:rPr>
              <a:t> </a:t>
            </a:r>
            <a:r>
              <a:rPr lang="en-GB" dirty="0" err="1">
                <a:solidFill>
                  <a:srgbClr val="374151"/>
                </a:solidFill>
                <a:latin typeface="Söhne"/>
              </a:rPr>
              <a:t>d'électricité</a:t>
            </a:r>
            <a:r>
              <a:rPr lang="en-GB" dirty="0">
                <a:solidFill>
                  <a:srgbClr val="374151"/>
                </a:solidFill>
                <a:latin typeface="Söhne"/>
              </a:rPr>
              <a:t>, de </a:t>
            </a:r>
            <a:r>
              <a:rPr lang="en-GB" dirty="0" err="1">
                <a:solidFill>
                  <a:srgbClr val="374151"/>
                </a:solidFill>
                <a:latin typeface="Söhne"/>
              </a:rPr>
              <a:t>gaz</a:t>
            </a:r>
            <a:r>
              <a:rPr lang="en-GB" dirty="0">
                <a:solidFill>
                  <a:srgbClr val="374151"/>
                </a:solidFill>
                <a:latin typeface="Söhne"/>
              </a:rPr>
              <a:t> naturel </a:t>
            </a:r>
            <a:r>
              <a:rPr lang="en-GB" dirty="0" err="1">
                <a:solidFill>
                  <a:srgbClr val="374151"/>
                </a:solidFill>
                <a:latin typeface="Söhne"/>
              </a:rPr>
              <a:t>ou</a:t>
            </a:r>
            <a:r>
              <a:rPr lang="en-GB" dirty="0">
                <a:solidFill>
                  <a:srgbClr val="374151"/>
                </a:solidFill>
                <a:latin typeface="Söhne"/>
              </a:rPr>
              <a:t> de </a:t>
            </a:r>
            <a:r>
              <a:rPr lang="en-GB" dirty="0" err="1">
                <a:solidFill>
                  <a:srgbClr val="374151"/>
                </a:solidFill>
                <a:latin typeface="Söhne"/>
              </a:rPr>
              <a:t>vapeur</a:t>
            </a:r>
            <a:r>
              <a:rPr lang="en-GB" dirty="0">
                <a:solidFill>
                  <a:srgbClr val="374151"/>
                </a:solidFill>
                <a:latin typeface="Söhne"/>
              </a:rPr>
              <a:t> </a:t>
            </a:r>
            <a:r>
              <a:rPr lang="en-GB" dirty="0" err="1">
                <a:solidFill>
                  <a:srgbClr val="374151"/>
                </a:solidFill>
                <a:latin typeface="Söhne"/>
              </a:rPr>
              <a:t>respectivement</a:t>
            </a:r>
            <a:r>
              <a:rPr lang="en-GB" dirty="0">
                <a:solidFill>
                  <a:srgbClr val="374151"/>
                </a:solidFill>
                <a:latin typeface="Söhne"/>
              </a:rPr>
              <a:t>.</a:t>
            </a:r>
            <a:endParaRPr lang="fr-FR" dirty="0">
              <a:solidFill>
                <a:srgbClr val="374151"/>
              </a:solidFill>
              <a:latin typeface="Söhne"/>
            </a:endParaRPr>
          </a:p>
        </p:txBody>
      </p:sp>
      <p:sp>
        <p:nvSpPr>
          <p:cNvPr id="3" name="ZoneTexte 9">
            <a:extLst>
              <a:ext uri="{FF2B5EF4-FFF2-40B4-BE49-F238E27FC236}">
                <a16:creationId xmlns:a16="http://schemas.microsoft.com/office/drawing/2014/main" id="{400988DA-45B6-AE3A-7E4F-3042B73E9ABA}"/>
              </a:ext>
            </a:extLst>
          </p:cNvPr>
          <p:cNvSpPr txBox="1"/>
          <p:nvPr/>
        </p:nvSpPr>
        <p:spPr>
          <a:xfrm>
            <a:off x="-93888" y="1209755"/>
            <a:ext cx="4572000" cy="307777"/>
          </a:xfrm>
          <a:prstGeom prst="rect">
            <a:avLst/>
          </a:prstGeom>
          <a:noFill/>
        </p:spPr>
        <p:txBody>
          <a:bodyPr wrap="square">
            <a:spAutoFit/>
          </a:bodyPr>
          <a:lstStyle/>
          <a:p>
            <a:r>
              <a:rPr lang="fr-FR" b="1" dirty="0">
                <a:solidFill>
                  <a:srgbClr val="374151"/>
                </a:solidFill>
                <a:highlight>
                  <a:srgbClr val="53CFA2"/>
                </a:highlight>
                <a:latin typeface="Söhne"/>
              </a:rPr>
              <a:t>émission</a:t>
            </a:r>
            <a:endParaRPr lang="fr-FR" dirty="0">
              <a:highlight>
                <a:srgbClr val="53CFA2"/>
              </a:highlight>
            </a:endParaRPr>
          </a:p>
        </p:txBody>
      </p:sp>
      <p:pic>
        <p:nvPicPr>
          <p:cNvPr id="7" name="Picture 6" descr="A picture containing text, screenshot&#10;&#10;Description automatically generated">
            <a:extLst>
              <a:ext uri="{FF2B5EF4-FFF2-40B4-BE49-F238E27FC236}">
                <a16:creationId xmlns:a16="http://schemas.microsoft.com/office/drawing/2014/main" id="{D5DD8192-27AB-58F9-8CB2-5442CC6D791B}"/>
              </a:ext>
            </a:extLst>
          </p:cNvPr>
          <p:cNvPicPr>
            <a:picLocks noChangeAspect="1"/>
          </p:cNvPicPr>
          <p:nvPr/>
        </p:nvPicPr>
        <p:blipFill>
          <a:blip r:embed="rId4"/>
          <a:stretch>
            <a:fillRect/>
          </a:stretch>
        </p:blipFill>
        <p:spPr>
          <a:xfrm>
            <a:off x="3628339" y="2038189"/>
            <a:ext cx="5515661" cy="2767897"/>
          </a:xfrm>
          <a:prstGeom prst="rect">
            <a:avLst/>
          </a:prstGeom>
        </p:spPr>
      </p:pic>
      <p:sp>
        <p:nvSpPr>
          <p:cNvPr id="8" name="ZoneTexte 9">
            <a:extLst>
              <a:ext uri="{FF2B5EF4-FFF2-40B4-BE49-F238E27FC236}">
                <a16:creationId xmlns:a16="http://schemas.microsoft.com/office/drawing/2014/main" id="{8605525E-CB05-C8AB-134D-B22691B51CF7}"/>
              </a:ext>
            </a:extLst>
          </p:cNvPr>
          <p:cNvSpPr txBox="1"/>
          <p:nvPr/>
        </p:nvSpPr>
        <p:spPr>
          <a:xfrm>
            <a:off x="-93889" y="1220538"/>
            <a:ext cx="4572000" cy="307777"/>
          </a:xfrm>
          <a:prstGeom prst="rect">
            <a:avLst/>
          </a:prstGeom>
          <a:noFill/>
        </p:spPr>
        <p:txBody>
          <a:bodyPr wrap="square">
            <a:spAutoFit/>
          </a:bodyPr>
          <a:lstStyle/>
          <a:p>
            <a:r>
              <a:rPr lang="fr-FR" b="1" dirty="0">
                <a:solidFill>
                  <a:srgbClr val="374151"/>
                </a:solidFill>
                <a:highlight>
                  <a:srgbClr val="53CFA2"/>
                </a:highlight>
                <a:latin typeface="Söhne"/>
              </a:rPr>
              <a:t>émission</a:t>
            </a:r>
            <a:endParaRPr lang="fr-FR" dirty="0">
              <a:highlight>
                <a:srgbClr val="53CFA2"/>
              </a:highlight>
            </a:endParaRPr>
          </a:p>
        </p:txBody>
      </p:sp>
      <p:sp>
        <p:nvSpPr>
          <p:cNvPr id="17" name="Oval 16">
            <a:extLst>
              <a:ext uri="{FF2B5EF4-FFF2-40B4-BE49-F238E27FC236}">
                <a16:creationId xmlns:a16="http://schemas.microsoft.com/office/drawing/2014/main" id="{E4A3AA87-708C-4FC8-53DB-DC1E2CB851F0}"/>
              </a:ext>
            </a:extLst>
          </p:cNvPr>
          <p:cNvSpPr/>
          <p:nvPr/>
        </p:nvSpPr>
        <p:spPr>
          <a:xfrm>
            <a:off x="4487487" y="2540787"/>
            <a:ext cx="1041400" cy="164949"/>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9" name="Oval 8">
            <a:extLst>
              <a:ext uri="{FF2B5EF4-FFF2-40B4-BE49-F238E27FC236}">
                <a16:creationId xmlns:a16="http://schemas.microsoft.com/office/drawing/2014/main" id="{AF1E90CF-6AFA-F2F3-A845-E491222F4A43}"/>
              </a:ext>
            </a:extLst>
          </p:cNvPr>
          <p:cNvSpPr/>
          <p:nvPr/>
        </p:nvSpPr>
        <p:spPr>
          <a:xfrm>
            <a:off x="4487487" y="3097370"/>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Oval 9">
            <a:extLst>
              <a:ext uri="{FF2B5EF4-FFF2-40B4-BE49-F238E27FC236}">
                <a16:creationId xmlns:a16="http://schemas.microsoft.com/office/drawing/2014/main" id="{DB1C3C96-130B-A0A5-672B-8F71D89D8C48}"/>
              </a:ext>
            </a:extLst>
          </p:cNvPr>
          <p:cNvSpPr/>
          <p:nvPr/>
        </p:nvSpPr>
        <p:spPr>
          <a:xfrm>
            <a:off x="4427386" y="3991165"/>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Oval 12">
            <a:extLst>
              <a:ext uri="{FF2B5EF4-FFF2-40B4-BE49-F238E27FC236}">
                <a16:creationId xmlns:a16="http://schemas.microsoft.com/office/drawing/2014/main" id="{07C28A0B-574C-9587-999A-FC70D1026D27}"/>
              </a:ext>
            </a:extLst>
          </p:cNvPr>
          <p:cNvSpPr/>
          <p:nvPr/>
        </p:nvSpPr>
        <p:spPr>
          <a:xfrm>
            <a:off x="4427386" y="3827210"/>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Oval 13">
            <a:extLst>
              <a:ext uri="{FF2B5EF4-FFF2-40B4-BE49-F238E27FC236}">
                <a16:creationId xmlns:a16="http://schemas.microsoft.com/office/drawing/2014/main" id="{6943CD7E-2936-D5A4-D9AA-2B7D5B39A7AE}"/>
              </a:ext>
            </a:extLst>
          </p:cNvPr>
          <p:cNvSpPr/>
          <p:nvPr/>
        </p:nvSpPr>
        <p:spPr>
          <a:xfrm>
            <a:off x="4427386" y="3422137"/>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222046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3;p43">
            <a:extLst>
              <a:ext uri="{FF2B5EF4-FFF2-40B4-BE49-F238E27FC236}">
                <a16:creationId xmlns:a16="http://schemas.microsoft.com/office/drawing/2014/main" id="{BBD14D34-6EA5-EFA6-F9CE-196FDD33363A}"/>
              </a:ext>
            </a:extLst>
          </p:cNvPr>
          <p:cNvSpPr txBox="1"/>
          <p:nvPr/>
        </p:nvSpPr>
        <p:spPr>
          <a:xfrm flipH="1">
            <a:off x="125397" y="430576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4</a:t>
            </a:r>
            <a:endParaRPr sz="3500" dirty="0">
              <a:solidFill>
                <a:schemeClr val="dk2"/>
              </a:solidFill>
              <a:latin typeface="Quicksand SemiBold"/>
              <a:ea typeface="Quicksand SemiBold"/>
              <a:cs typeface="Quicksand SemiBold"/>
              <a:sym typeface="Quicksand SemiBold"/>
            </a:endParaRPr>
          </a:p>
        </p:txBody>
      </p:sp>
      <p:sp>
        <p:nvSpPr>
          <p:cNvPr id="5" name="Google Shape;404;p43">
            <a:extLst>
              <a:ext uri="{FF2B5EF4-FFF2-40B4-BE49-F238E27FC236}">
                <a16:creationId xmlns:a16="http://schemas.microsoft.com/office/drawing/2014/main" id="{790F865B-9989-A9B3-D1EE-177DDDF30EAB}"/>
              </a:ext>
            </a:extLst>
          </p:cNvPr>
          <p:cNvSpPr txBox="1"/>
          <p:nvPr/>
        </p:nvSpPr>
        <p:spPr>
          <a:xfrm flipH="1">
            <a:off x="125397" y="4644480"/>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Feature</a:t>
            </a:r>
            <a:r>
              <a:rPr lang="fr-FR" sz="1200" dirty="0">
                <a:solidFill>
                  <a:schemeClr val="dk1"/>
                </a:solidFill>
                <a:latin typeface="Quicksand Medium"/>
                <a:sym typeface="Quicksand Medium"/>
              </a:rPr>
              <a:t> engineering</a:t>
            </a:r>
            <a:endParaRPr sz="1200" dirty="0">
              <a:solidFill>
                <a:schemeClr val="dk1"/>
              </a:solidFill>
              <a:latin typeface="Quicksand Medium"/>
              <a:sym typeface="Quicksand Medium"/>
            </a:endParaRPr>
          </a:p>
        </p:txBody>
      </p:sp>
      <p:sp>
        <p:nvSpPr>
          <p:cNvPr id="2" name="ZoneTexte 9">
            <a:extLst>
              <a:ext uri="{FF2B5EF4-FFF2-40B4-BE49-F238E27FC236}">
                <a16:creationId xmlns:a16="http://schemas.microsoft.com/office/drawing/2014/main" id="{2C4C0B5E-356D-9368-C51A-1F3789277C34}"/>
              </a:ext>
            </a:extLst>
          </p:cNvPr>
          <p:cNvSpPr txBox="1"/>
          <p:nvPr/>
        </p:nvSpPr>
        <p:spPr>
          <a:xfrm>
            <a:off x="-93888" y="1166753"/>
            <a:ext cx="4572000" cy="307777"/>
          </a:xfrm>
          <a:prstGeom prst="rect">
            <a:avLst/>
          </a:prstGeom>
          <a:noFill/>
        </p:spPr>
        <p:txBody>
          <a:bodyPr wrap="square">
            <a:spAutoFit/>
          </a:bodyPr>
          <a:lstStyle/>
          <a:p>
            <a:r>
              <a:rPr lang="fr-FR" b="1" dirty="0" err="1">
                <a:solidFill>
                  <a:srgbClr val="374151"/>
                </a:solidFill>
                <a:highlight>
                  <a:srgbClr val="53CFA2"/>
                </a:highlight>
                <a:latin typeface="Söhne"/>
              </a:rPr>
              <a:t>Feature</a:t>
            </a:r>
            <a:r>
              <a:rPr lang="fr-FR" b="1" dirty="0">
                <a:solidFill>
                  <a:srgbClr val="374151"/>
                </a:solidFill>
                <a:highlight>
                  <a:srgbClr val="53CFA2"/>
                </a:highlight>
                <a:latin typeface="Söhne"/>
              </a:rPr>
              <a:t> engineering 1 : type d’énergie</a:t>
            </a:r>
            <a:endParaRPr lang="fr-FR" dirty="0">
              <a:highlight>
                <a:srgbClr val="53CFA2"/>
              </a:highlight>
            </a:endParaRPr>
          </a:p>
        </p:txBody>
      </p:sp>
      <p:sp>
        <p:nvSpPr>
          <p:cNvPr id="11" name="Google Shape;359;p42">
            <a:extLst>
              <a:ext uri="{FF2B5EF4-FFF2-40B4-BE49-F238E27FC236}">
                <a16:creationId xmlns:a16="http://schemas.microsoft.com/office/drawing/2014/main" id="{B38C1B03-806D-FD8A-09E2-43E879EB3589}"/>
              </a:ext>
            </a:extLst>
          </p:cNvPr>
          <p:cNvSpPr txBox="1">
            <a:spLocks/>
          </p:cNvSpPr>
          <p:nvPr/>
        </p:nvSpPr>
        <p:spPr>
          <a:xfrm>
            <a:off x="720000" y="17922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a:t>Optimisation des </a:t>
            </a:r>
            <a:r>
              <a:rPr lang="en-GB" sz="2400" dirty="0" err="1"/>
              <a:t>caractéristiques</a:t>
            </a:r>
            <a:r>
              <a:rPr lang="en-GB" sz="2400" dirty="0"/>
              <a:t> pour </a:t>
            </a:r>
            <a:r>
              <a:rPr lang="en-GB" sz="2400" dirty="0" err="1"/>
              <a:t>une</a:t>
            </a:r>
            <a:r>
              <a:rPr lang="en-GB" sz="2400" dirty="0"/>
              <a:t> </a:t>
            </a:r>
            <a:r>
              <a:rPr lang="en-GB" sz="2400" dirty="0" err="1"/>
              <a:t>meilleure</a:t>
            </a:r>
            <a:r>
              <a:rPr lang="en-GB" sz="2400" dirty="0"/>
              <a:t> </a:t>
            </a:r>
            <a:r>
              <a:rPr lang="en-GB" sz="2400" dirty="0" err="1"/>
              <a:t>précision</a:t>
            </a:r>
            <a:r>
              <a:rPr lang="en-GB" sz="2400" dirty="0"/>
              <a:t> de la </a:t>
            </a:r>
            <a:r>
              <a:rPr lang="en-GB" sz="2400" dirty="0" err="1"/>
              <a:t>prédiction</a:t>
            </a:r>
            <a:endParaRPr lang="en-GB" sz="2400" dirty="0"/>
          </a:p>
          <a:p>
            <a:endParaRPr lang="en-GB" sz="2400" dirty="0"/>
          </a:p>
        </p:txBody>
      </p:sp>
      <p:pic>
        <p:nvPicPr>
          <p:cNvPr id="15" name="Picture 14">
            <a:extLst>
              <a:ext uri="{FF2B5EF4-FFF2-40B4-BE49-F238E27FC236}">
                <a16:creationId xmlns:a16="http://schemas.microsoft.com/office/drawing/2014/main" id="{876674DA-671E-18DA-3B4B-AA2AE7714912}"/>
              </a:ext>
            </a:extLst>
          </p:cNvPr>
          <p:cNvPicPr>
            <a:picLocks noChangeAspect="1"/>
          </p:cNvPicPr>
          <p:nvPr/>
        </p:nvPicPr>
        <p:blipFill>
          <a:blip r:embed="rId3"/>
          <a:stretch>
            <a:fillRect/>
          </a:stretch>
        </p:blipFill>
        <p:spPr>
          <a:xfrm>
            <a:off x="3903656" y="1374427"/>
            <a:ext cx="4571999" cy="397679"/>
          </a:xfrm>
          <a:prstGeom prst="rect">
            <a:avLst/>
          </a:prstGeom>
        </p:spPr>
      </p:pic>
      <p:sp>
        <p:nvSpPr>
          <p:cNvPr id="7" name="ZoneTexte 9">
            <a:extLst>
              <a:ext uri="{FF2B5EF4-FFF2-40B4-BE49-F238E27FC236}">
                <a16:creationId xmlns:a16="http://schemas.microsoft.com/office/drawing/2014/main" id="{3162C9E1-AC9C-C6EF-1DA9-2E70CA06D14F}"/>
              </a:ext>
            </a:extLst>
          </p:cNvPr>
          <p:cNvSpPr txBox="1"/>
          <p:nvPr/>
        </p:nvSpPr>
        <p:spPr>
          <a:xfrm>
            <a:off x="-93888" y="1374427"/>
            <a:ext cx="4572000" cy="307777"/>
          </a:xfrm>
          <a:prstGeom prst="rect">
            <a:avLst/>
          </a:prstGeom>
          <a:noFill/>
        </p:spPr>
        <p:txBody>
          <a:bodyPr wrap="square">
            <a:spAutoFit/>
          </a:bodyPr>
          <a:lstStyle/>
          <a:p>
            <a:r>
              <a:rPr lang="fr-FR" b="1" dirty="0">
                <a:solidFill>
                  <a:srgbClr val="374151"/>
                </a:solidFill>
                <a:highlight>
                  <a:srgbClr val="53CFA2"/>
                </a:highlight>
                <a:latin typeface="Söhne"/>
              </a:rPr>
              <a:t>consommation</a:t>
            </a:r>
            <a:endParaRPr lang="fr-FR" dirty="0">
              <a:highlight>
                <a:srgbClr val="53CFA2"/>
              </a:highlight>
            </a:endParaRPr>
          </a:p>
        </p:txBody>
      </p:sp>
      <p:pic>
        <p:nvPicPr>
          <p:cNvPr id="18" name="Picture 17" descr="A screen shot of a computer&#10;&#10;Description automatically generated with low confidence">
            <a:extLst>
              <a:ext uri="{FF2B5EF4-FFF2-40B4-BE49-F238E27FC236}">
                <a16:creationId xmlns:a16="http://schemas.microsoft.com/office/drawing/2014/main" id="{1C71EFED-AB3F-06AE-5F20-5781BEE34210}"/>
              </a:ext>
            </a:extLst>
          </p:cNvPr>
          <p:cNvPicPr>
            <a:picLocks noChangeAspect="1"/>
          </p:cNvPicPr>
          <p:nvPr/>
        </p:nvPicPr>
        <p:blipFill>
          <a:blip r:embed="rId4"/>
          <a:stretch>
            <a:fillRect/>
          </a:stretch>
        </p:blipFill>
        <p:spPr>
          <a:xfrm>
            <a:off x="3669425" y="1809774"/>
            <a:ext cx="5474575" cy="2690794"/>
          </a:xfrm>
          <a:prstGeom prst="rect">
            <a:avLst/>
          </a:prstGeom>
        </p:spPr>
      </p:pic>
      <p:sp>
        <p:nvSpPr>
          <p:cNvPr id="19" name="Oval 18">
            <a:extLst>
              <a:ext uri="{FF2B5EF4-FFF2-40B4-BE49-F238E27FC236}">
                <a16:creationId xmlns:a16="http://schemas.microsoft.com/office/drawing/2014/main" id="{7019F63E-2DC5-0482-5388-6261682E57E5}"/>
              </a:ext>
            </a:extLst>
          </p:cNvPr>
          <p:cNvSpPr/>
          <p:nvPr/>
        </p:nvSpPr>
        <p:spPr>
          <a:xfrm>
            <a:off x="4487487" y="2643265"/>
            <a:ext cx="1041400" cy="164949"/>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0" name="Oval 19">
            <a:extLst>
              <a:ext uri="{FF2B5EF4-FFF2-40B4-BE49-F238E27FC236}">
                <a16:creationId xmlns:a16="http://schemas.microsoft.com/office/drawing/2014/main" id="{BD95C951-EA39-4703-BF51-026B01676629}"/>
              </a:ext>
            </a:extLst>
          </p:cNvPr>
          <p:cNvSpPr/>
          <p:nvPr/>
        </p:nvSpPr>
        <p:spPr>
          <a:xfrm>
            <a:off x="4487487" y="2845882"/>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1" name="Oval 20">
            <a:extLst>
              <a:ext uri="{FF2B5EF4-FFF2-40B4-BE49-F238E27FC236}">
                <a16:creationId xmlns:a16="http://schemas.microsoft.com/office/drawing/2014/main" id="{7A66A8D9-9481-065F-9F04-5B936017879D}"/>
              </a:ext>
            </a:extLst>
          </p:cNvPr>
          <p:cNvSpPr/>
          <p:nvPr/>
        </p:nvSpPr>
        <p:spPr>
          <a:xfrm>
            <a:off x="4427386" y="4020623"/>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2" name="Oval 21">
            <a:extLst>
              <a:ext uri="{FF2B5EF4-FFF2-40B4-BE49-F238E27FC236}">
                <a16:creationId xmlns:a16="http://schemas.microsoft.com/office/drawing/2014/main" id="{C2E9F8F4-9B44-DFCC-A83A-431A682CA541}"/>
              </a:ext>
            </a:extLst>
          </p:cNvPr>
          <p:cNvSpPr/>
          <p:nvPr/>
        </p:nvSpPr>
        <p:spPr>
          <a:xfrm>
            <a:off x="4427386" y="3929688"/>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3" name="Oval 22">
            <a:extLst>
              <a:ext uri="{FF2B5EF4-FFF2-40B4-BE49-F238E27FC236}">
                <a16:creationId xmlns:a16="http://schemas.microsoft.com/office/drawing/2014/main" id="{D3918AE0-CA6D-11F1-9E9A-CCFCBE8B8121}"/>
              </a:ext>
            </a:extLst>
          </p:cNvPr>
          <p:cNvSpPr/>
          <p:nvPr/>
        </p:nvSpPr>
        <p:spPr>
          <a:xfrm>
            <a:off x="4427386" y="3387785"/>
            <a:ext cx="1041400" cy="106535"/>
          </a:xfrm>
          <a:prstGeom prst="ellipse">
            <a:avLst/>
          </a:prstGeom>
          <a:noFill/>
          <a:ln>
            <a:solidFill>
              <a:srgbClr val="00B0F0">
                <a:alpha val="6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225217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3;p43">
            <a:extLst>
              <a:ext uri="{FF2B5EF4-FFF2-40B4-BE49-F238E27FC236}">
                <a16:creationId xmlns:a16="http://schemas.microsoft.com/office/drawing/2014/main" id="{BBD14D34-6EA5-EFA6-F9CE-196FDD33363A}"/>
              </a:ext>
            </a:extLst>
          </p:cNvPr>
          <p:cNvSpPr txBox="1"/>
          <p:nvPr/>
        </p:nvSpPr>
        <p:spPr>
          <a:xfrm flipH="1">
            <a:off x="125397" y="4213469"/>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4</a:t>
            </a:r>
            <a:endParaRPr sz="3500" dirty="0">
              <a:solidFill>
                <a:schemeClr val="dk2"/>
              </a:solidFill>
              <a:latin typeface="Quicksand SemiBold"/>
              <a:ea typeface="Quicksand SemiBold"/>
              <a:cs typeface="Quicksand SemiBold"/>
              <a:sym typeface="Quicksand SemiBold"/>
            </a:endParaRPr>
          </a:p>
        </p:txBody>
      </p:sp>
      <p:sp>
        <p:nvSpPr>
          <p:cNvPr id="5" name="Google Shape;404;p43">
            <a:extLst>
              <a:ext uri="{FF2B5EF4-FFF2-40B4-BE49-F238E27FC236}">
                <a16:creationId xmlns:a16="http://schemas.microsoft.com/office/drawing/2014/main" id="{790F865B-9989-A9B3-D1EE-177DDDF30EAB}"/>
              </a:ext>
            </a:extLst>
          </p:cNvPr>
          <p:cNvSpPr txBox="1"/>
          <p:nvPr/>
        </p:nvSpPr>
        <p:spPr>
          <a:xfrm flipH="1">
            <a:off x="125439" y="4713817"/>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Feature</a:t>
            </a:r>
            <a:r>
              <a:rPr lang="fr-FR" sz="1200" dirty="0">
                <a:solidFill>
                  <a:schemeClr val="dk1"/>
                </a:solidFill>
                <a:latin typeface="Quicksand Medium"/>
                <a:sym typeface="Quicksand Medium"/>
              </a:rPr>
              <a:t> engineering</a:t>
            </a:r>
            <a:endParaRPr sz="1200" dirty="0">
              <a:solidFill>
                <a:schemeClr val="dk1"/>
              </a:solidFill>
              <a:latin typeface="Quicksand Medium"/>
              <a:sym typeface="Quicksand Medium"/>
            </a:endParaRPr>
          </a:p>
        </p:txBody>
      </p:sp>
      <p:sp>
        <p:nvSpPr>
          <p:cNvPr id="8" name="ZoneTexte 3">
            <a:extLst>
              <a:ext uri="{FF2B5EF4-FFF2-40B4-BE49-F238E27FC236}">
                <a16:creationId xmlns:a16="http://schemas.microsoft.com/office/drawing/2014/main" id="{A490A729-40E8-22F7-0A4E-EF9791B72EC6}"/>
              </a:ext>
            </a:extLst>
          </p:cNvPr>
          <p:cNvSpPr txBox="1"/>
          <p:nvPr/>
        </p:nvSpPr>
        <p:spPr>
          <a:xfrm>
            <a:off x="5590125" y="1190516"/>
            <a:ext cx="3805028" cy="307777"/>
          </a:xfrm>
          <a:prstGeom prst="rect">
            <a:avLst/>
          </a:prstGeom>
          <a:noFill/>
        </p:spPr>
        <p:txBody>
          <a:bodyPr wrap="square">
            <a:spAutoFit/>
          </a:bodyPr>
          <a:lstStyle/>
          <a:p>
            <a:r>
              <a:rPr lang="fr-FR" b="1" i="0" u="none" strike="noStrike" dirty="0" err="1">
                <a:solidFill>
                  <a:srgbClr val="374151"/>
                </a:solidFill>
                <a:effectLst/>
                <a:highlight>
                  <a:srgbClr val="53CFA2"/>
                </a:highlight>
                <a:latin typeface="Söhne"/>
              </a:rPr>
              <a:t>Feature</a:t>
            </a:r>
            <a:r>
              <a:rPr lang="fr-FR" b="1" i="0" u="none" strike="noStrike" dirty="0">
                <a:solidFill>
                  <a:srgbClr val="374151"/>
                </a:solidFill>
                <a:effectLst/>
                <a:highlight>
                  <a:srgbClr val="53CFA2"/>
                </a:highlight>
                <a:latin typeface="Söhne"/>
              </a:rPr>
              <a:t> engineering 2 : distance du centre-ville</a:t>
            </a:r>
            <a:endParaRPr lang="fr-FR" dirty="0">
              <a:highlight>
                <a:srgbClr val="53CFA2"/>
              </a:highlight>
            </a:endParaRPr>
          </a:p>
        </p:txBody>
      </p:sp>
      <p:sp>
        <p:nvSpPr>
          <p:cNvPr id="11" name="Google Shape;359;p42">
            <a:extLst>
              <a:ext uri="{FF2B5EF4-FFF2-40B4-BE49-F238E27FC236}">
                <a16:creationId xmlns:a16="http://schemas.microsoft.com/office/drawing/2014/main" id="{B38C1B03-806D-FD8A-09E2-43E879EB3589}"/>
              </a:ext>
            </a:extLst>
          </p:cNvPr>
          <p:cNvSpPr txBox="1">
            <a:spLocks/>
          </p:cNvSpPr>
          <p:nvPr/>
        </p:nvSpPr>
        <p:spPr>
          <a:xfrm>
            <a:off x="720000" y="123541"/>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a:t>Optimisation des </a:t>
            </a:r>
            <a:r>
              <a:rPr lang="en-GB" sz="2400" dirty="0" err="1"/>
              <a:t>caractéristiques</a:t>
            </a:r>
            <a:r>
              <a:rPr lang="en-GB" sz="2400" dirty="0"/>
              <a:t> pour </a:t>
            </a:r>
            <a:r>
              <a:rPr lang="en-GB" sz="2400" dirty="0" err="1"/>
              <a:t>une</a:t>
            </a:r>
            <a:r>
              <a:rPr lang="en-GB" sz="2400" dirty="0"/>
              <a:t> </a:t>
            </a:r>
            <a:r>
              <a:rPr lang="en-GB" sz="2400" dirty="0" err="1"/>
              <a:t>meilleure</a:t>
            </a:r>
            <a:r>
              <a:rPr lang="en-GB" sz="2400" dirty="0"/>
              <a:t> </a:t>
            </a:r>
            <a:r>
              <a:rPr lang="en-GB" sz="2400" dirty="0" err="1"/>
              <a:t>précision</a:t>
            </a:r>
            <a:r>
              <a:rPr lang="en-GB" sz="2400" dirty="0"/>
              <a:t> de la </a:t>
            </a:r>
            <a:r>
              <a:rPr lang="en-GB" sz="2400" dirty="0" err="1"/>
              <a:t>prédiction</a:t>
            </a:r>
            <a:endParaRPr lang="en-GB" sz="2400" dirty="0"/>
          </a:p>
          <a:p>
            <a:endParaRPr lang="en-GB" sz="2400" dirty="0"/>
          </a:p>
        </p:txBody>
      </p:sp>
      <p:pic>
        <p:nvPicPr>
          <p:cNvPr id="6" name="Picture 5" descr="A picture containing map, text, atlas&#10;&#10;Description automatically generated">
            <a:extLst>
              <a:ext uri="{FF2B5EF4-FFF2-40B4-BE49-F238E27FC236}">
                <a16:creationId xmlns:a16="http://schemas.microsoft.com/office/drawing/2014/main" id="{53AFD754-98EF-0312-A581-478C6105A7AD}"/>
              </a:ext>
            </a:extLst>
          </p:cNvPr>
          <p:cNvPicPr>
            <a:picLocks noChangeAspect="1"/>
          </p:cNvPicPr>
          <p:nvPr/>
        </p:nvPicPr>
        <p:blipFill rotWithShape="1">
          <a:blip r:embed="rId3"/>
          <a:srcRect l="44968"/>
          <a:stretch/>
        </p:blipFill>
        <p:spPr>
          <a:xfrm>
            <a:off x="6396782" y="1665817"/>
            <a:ext cx="2893475" cy="3048000"/>
          </a:xfrm>
          <a:prstGeom prst="rect">
            <a:avLst/>
          </a:prstGeom>
        </p:spPr>
      </p:pic>
      <p:sp>
        <p:nvSpPr>
          <p:cNvPr id="9" name="TextBox 8">
            <a:extLst>
              <a:ext uri="{FF2B5EF4-FFF2-40B4-BE49-F238E27FC236}">
                <a16:creationId xmlns:a16="http://schemas.microsoft.com/office/drawing/2014/main" id="{54C9D1D5-AE7D-E61C-2DA0-26406D402704}"/>
              </a:ext>
            </a:extLst>
          </p:cNvPr>
          <p:cNvSpPr txBox="1"/>
          <p:nvPr/>
        </p:nvSpPr>
        <p:spPr>
          <a:xfrm>
            <a:off x="0" y="1060664"/>
            <a:ext cx="4572000" cy="954107"/>
          </a:xfrm>
          <a:prstGeom prst="rect">
            <a:avLst/>
          </a:prstGeom>
          <a:noFill/>
        </p:spPr>
        <p:txBody>
          <a:bodyPr wrap="square">
            <a:spAutoFit/>
          </a:bodyPr>
          <a:lstStyle/>
          <a:p>
            <a:pPr>
              <a:buClr>
                <a:schemeClr val="dk1"/>
              </a:buClr>
              <a:buSzPts val="1200"/>
            </a:pPr>
            <a:r>
              <a:rPr lang="en-GB" b="1" dirty="0" err="1">
                <a:solidFill>
                  <a:schemeClr val="dk1"/>
                </a:solidFill>
                <a:latin typeface="Quicksand SemiBold"/>
                <a:sym typeface="Quicksand SemiBold"/>
              </a:rPr>
              <a:t>Distance_CityCenter</a:t>
            </a:r>
            <a:r>
              <a:rPr lang="en-GB" b="1" dirty="0">
                <a:solidFill>
                  <a:schemeClr val="dk1"/>
                </a:solidFill>
                <a:latin typeface="Quicksand SemiBold"/>
                <a:sym typeface="Quicksand SemiBold"/>
              </a:rPr>
              <a:t> </a:t>
            </a:r>
            <a:r>
              <a:rPr lang="en-GB" dirty="0" err="1">
                <a:solidFill>
                  <a:schemeClr val="dk1"/>
                </a:solidFill>
                <a:latin typeface="Quicksand SemiBold"/>
                <a:sym typeface="Quicksand SemiBold"/>
              </a:rPr>
              <a:t>identifie</a:t>
            </a:r>
            <a:r>
              <a:rPr lang="en-GB" dirty="0">
                <a:solidFill>
                  <a:schemeClr val="dk1"/>
                </a:solidFill>
                <a:latin typeface="Quicksand SemiBold"/>
                <a:sym typeface="Quicksand SemiBold"/>
              </a:rPr>
              <a:t> la localisation la plus </a:t>
            </a:r>
            <a:r>
              <a:rPr lang="en-GB" dirty="0" err="1">
                <a:solidFill>
                  <a:schemeClr val="dk1"/>
                </a:solidFill>
                <a:latin typeface="Quicksand SemiBold"/>
                <a:sym typeface="Quicksand SemiBold"/>
              </a:rPr>
              <a:t>polluée</a:t>
            </a:r>
            <a:r>
              <a:rPr lang="en-GB" dirty="0">
                <a:solidFill>
                  <a:schemeClr val="dk1"/>
                </a:solidFill>
                <a:latin typeface="Quicksand SemiBold"/>
                <a:sym typeface="Quicksand SemiBold"/>
              </a:rPr>
              <a:t> et  </a:t>
            </a:r>
            <a:r>
              <a:rPr lang="en-GB" dirty="0" err="1">
                <a:solidFill>
                  <a:schemeClr val="dk1"/>
                </a:solidFill>
                <a:latin typeface="Quicksand SemiBold"/>
                <a:sym typeface="Quicksand SemiBold"/>
              </a:rPr>
              <a:t>l'interprète</a:t>
            </a:r>
            <a:r>
              <a:rPr lang="en-GB" dirty="0">
                <a:solidFill>
                  <a:schemeClr val="dk1"/>
                </a:solidFill>
                <a:latin typeface="Quicksand SemiBold"/>
                <a:sym typeface="Quicksand SemiBold"/>
              </a:rPr>
              <a:t> </a:t>
            </a:r>
            <a:r>
              <a:rPr lang="en-GB" dirty="0" err="1">
                <a:solidFill>
                  <a:schemeClr val="dk1"/>
                </a:solidFill>
                <a:latin typeface="Quicksand SemiBold"/>
                <a:sym typeface="Quicksand SemiBold"/>
              </a:rPr>
              <a:t>comme</a:t>
            </a:r>
            <a:r>
              <a:rPr lang="en-GB" dirty="0">
                <a:solidFill>
                  <a:schemeClr val="dk1"/>
                </a:solidFill>
                <a:latin typeface="Quicksand SemiBold"/>
                <a:sym typeface="Quicksand SemiBold"/>
              </a:rPr>
              <a:t> le centre-</a:t>
            </a:r>
            <a:r>
              <a:rPr lang="en-GB" dirty="0" err="1">
                <a:solidFill>
                  <a:schemeClr val="dk1"/>
                </a:solidFill>
                <a:latin typeface="Quicksand SemiBold"/>
                <a:sym typeface="Quicksand SemiBold"/>
              </a:rPr>
              <a:t>ville</a:t>
            </a:r>
            <a:r>
              <a:rPr lang="en-GB" dirty="0">
                <a:solidFill>
                  <a:schemeClr val="dk1"/>
                </a:solidFill>
                <a:latin typeface="Quicksand SemiBold"/>
                <a:sym typeface="Quicksand SemiBold"/>
              </a:rPr>
              <a:t> :</a:t>
            </a:r>
          </a:p>
          <a:p>
            <a:pPr>
              <a:buClr>
                <a:schemeClr val="dk1"/>
              </a:buClr>
              <a:buSzPts val="1200"/>
            </a:pPr>
            <a:endParaRPr lang="en-GB" dirty="0">
              <a:solidFill>
                <a:schemeClr val="dk1"/>
              </a:solidFill>
              <a:latin typeface="Quicksand SemiBold"/>
              <a:sym typeface="Quicksand SemiBold"/>
            </a:endParaRPr>
          </a:p>
          <a:p>
            <a:pPr>
              <a:buClr>
                <a:schemeClr val="dk1"/>
              </a:buClr>
              <a:buSzPts val="1200"/>
            </a:pPr>
            <a:endParaRPr lang="en-GB" dirty="0">
              <a:latin typeface="Söhne"/>
            </a:endParaRPr>
          </a:p>
        </p:txBody>
      </p:sp>
      <p:pic>
        <p:nvPicPr>
          <p:cNvPr id="12" name="Picture 11" descr="A screen shot of a computer&#10;&#10;Description automatically generated with low confidence">
            <a:extLst>
              <a:ext uri="{FF2B5EF4-FFF2-40B4-BE49-F238E27FC236}">
                <a16:creationId xmlns:a16="http://schemas.microsoft.com/office/drawing/2014/main" id="{DB60B233-E75C-344E-AA32-FA9074B72BAB}"/>
              </a:ext>
            </a:extLst>
          </p:cNvPr>
          <p:cNvPicPr>
            <a:picLocks noChangeAspect="1"/>
          </p:cNvPicPr>
          <p:nvPr/>
        </p:nvPicPr>
        <p:blipFill>
          <a:blip r:embed="rId4"/>
          <a:stretch>
            <a:fillRect/>
          </a:stretch>
        </p:blipFill>
        <p:spPr>
          <a:xfrm>
            <a:off x="125397" y="1665817"/>
            <a:ext cx="6083300" cy="3241056"/>
          </a:xfrm>
          <a:prstGeom prst="rect">
            <a:avLst/>
          </a:prstGeom>
        </p:spPr>
      </p:pic>
      <p:sp>
        <p:nvSpPr>
          <p:cNvPr id="3" name="Oval 2">
            <a:extLst>
              <a:ext uri="{FF2B5EF4-FFF2-40B4-BE49-F238E27FC236}">
                <a16:creationId xmlns:a16="http://schemas.microsoft.com/office/drawing/2014/main" id="{BC8B4DDD-76B5-B5F7-48DE-44338937087B}"/>
              </a:ext>
            </a:extLst>
          </p:cNvPr>
          <p:cNvSpPr/>
          <p:nvPr/>
        </p:nvSpPr>
        <p:spPr>
          <a:xfrm>
            <a:off x="1133657" y="2296719"/>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ZoneTexte 9">
            <a:extLst>
              <a:ext uri="{FF2B5EF4-FFF2-40B4-BE49-F238E27FC236}">
                <a16:creationId xmlns:a16="http://schemas.microsoft.com/office/drawing/2014/main" id="{D6B92310-A336-F5C9-CFA6-69D2B5DA3791}"/>
              </a:ext>
            </a:extLst>
          </p:cNvPr>
          <p:cNvSpPr txBox="1"/>
          <p:nvPr/>
        </p:nvSpPr>
        <p:spPr>
          <a:xfrm>
            <a:off x="7843519" y="1370489"/>
            <a:ext cx="4572000" cy="307777"/>
          </a:xfrm>
          <a:prstGeom prst="rect">
            <a:avLst/>
          </a:prstGeom>
          <a:noFill/>
        </p:spPr>
        <p:txBody>
          <a:bodyPr wrap="square">
            <a:spAutoFit/>
          </a:bodyPr>
          <a:lstStyle/>
          <a:p>
            <a:r>
              <a:rPr lang="fr-FR" b="1" dirty="0">
                <a:solidFill>
                  <a:srgbClr val="374151"/>
                </a:solidFill>
                <a:highlight>
                  <a:srgbClr val="53CFA2"/>
                </a:highlight>
                <a:latin typeface="Söhne"/>
              </a:rPr>
              <a:t>émission</a:t>
            </a:r>
            <a:endParaRPr lang="fr-FR" dirty="0">
              <a:highlight>
                <a:srgbClr val="53CFA2"/>
              </a:highlight>
            </a:endParaRPr>
          </a:p>
        </p:txBody>
      </p:sp>
    </p:spTree>
    <p:extLst>
      <p:ext uri="{BB962C8B-B14F-4D97-AF65-F5344CB8AC3E}">
        <p14:creationId xmlns:p14="http://schemas.microsoft.com/office/powerpoint/2010/main" val="2439767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ap, text, atlas&#10;&#10;Description automatically generated">
            <a:extLst>
              <a:ext uri="{FF2B5EF4-FFF2-40B4-BE49-F238E27FC236}">
                <a16:creationId xmlns:a16="http://schemas.microsoft.com/office/drawing/2014/main" id="{981E41F4-8F02-A06C-C4F8-5C2FE47D9FC3}"/>
              </a:ext>
            </a:extLst>
          </p:cNvPr>
          <p:cNvPicPr>
            <a:picLocks noChangeAspect="1"/>
          </p:cNvPicPr>
          <p:nvPr/>
        </p:nvPicPr>
        <p:blipFill rotWithShape="1">
          <a:blip r:embed="rId2"/>
          <a:srcRect l="44968"/>
          <a:stretch/>
        </p:blipFill>
        <p:spPr>
          <a:xfrm>
            <a:off x="6083300" y="1498600"/>
            <a:ext cx="2893475" cy="3048000"/>
          </a:xfrm>
          <a:prstGeom prst="rect">
            <a:avLst/>
          </a:prstGeom>
        </p:spPr>
      </p:pic>
      <p:sp>
        <p:nvSpPr>
          <p:cNvPr id="6" name="TextBox 5">
            <a:extLst>
              <a:ext uri="{FF2B5EF4-FFF2-40B4-BE49-F238E27FC236}">
                <a16:creationId xmlns:a16="http://schemas.microsoft.com/office/drawing/2014/main" id="{070053C1-865A-7ACC-1092-C60297A97820}"/>
              </a:ext>
            </a:extLst>
          </p:cNvPr>
          <p:cNvSpPr txBox="1"/>
          <p:nvPr/>
        </p:nvSpPr>
        <p:spPr>
          <a:xfrm>
            <a:off x="0" y="383316"/>
            <a:ext cx="4572000" cy="954107"/>
          </a:xfrm>
          <a:prstGeom prst="rect">
            <a:avLst/>
          </a:prstGeom>
          <a:noFill/>
        </p:spPr>
        <p:txBody>
          <a:bodyPr wrap="square">
            <a:spAutoFit/>
          </a:bodyPr>
          <a:lstStyle/>
          <a:p>
            <a:pPr>
              <a:buClr>
                <a:schemeClr val="dk1"/>
              </a:buClr>
              <a:buSzPts val="1200"/>
            </a:pPr>
            <a:r>
              <a:rPr lang="en-GB" b="1" dirty="0" err="1">
                <a:solidFill>
                  <a:schemeClr val="dk1"/>
                </a:solidFill>
                <a:latin typeface="Quicksand SemiBold"/>
                <a:sym typeface="Quicksand SemiBold"/>
              </a:rPr>
              <a:t>Distance_CityCenter</a:t>
            </a:r>
            <a:r>
              <a:rPr lang="en-GB" b="1" dirty="0">
                <a:solidFill>
                  <a:schemeClr val="dk1"/>
                </a:solidFill>
                <a:latin typeface="Quicksand SemiBold"/>
                <a:sym typeface="Quicksand SemiBold"/>
              </a:rPr>
              <a:t> </a:t>
            </a:r>
            <a:r>
              <a:rPr lang="en-GB" dirty="0" err="1">
                <a:solidFill>
                  <a:schemeClr val="dk1"/>
                </a:solidFill>
                <a:latin typeface="Quicksand SemiBold"/>
                <a:sym typeface="Quicksand SemiBold"/>
              </a:rPr>
              <a:t>identifie</a:t>
            </a:r>
            <a:r>
              <a:rPr lang="en-GB" dirty="0">
                <a:solidFill>
                  <a:schemeClr val="dk1"/>
                </a:solidFill>
                <a:latin typeface="Quicksand SemiBold"/>
                <a:sym typeface="Quicksand SemiBold"/>
              </a:rPr>
              <a:t> la localisation la plus </a:t>
            </a:r>
            <a:r>
              <a:rPr lang="en-GB" dirty="0" err="1">
                <a:solidFill>
                  <a:schemeClr val="dk1"/>
                </a:solidFill>
                <a:latin typeface="Quicksand SemiBold"/>
                <a:sym typeface="Quicksand SemiBold"/>
              </a:rPr>
              <a:t>polluée</a:t>
            </a:r>
            <a:r>
              <a:rPr lang="en-GB" dirty="0">
                <a:solidFill>
                  <a:schemeClr val="dk1"/>
                </a:solidFill>
                <a:latin typeface="Quicksand SemiBold"/>
                <a:sym typeface="Quicksand SemiBold"/>
              </a:rPr>
              <a:t> et  </a:t>
            </a:r>
            <a:r>
              <a:rPr lang="en-GB" dirty="0" err="1">
                <a:solidFill>
                  <a:schemeClr val="dk1"/>
                </a:solidFill>
                <a:latin typeface="Quicksand SemiBold"/>
                <a:sym typeface="Quicksand SemiBold"/>
              </a:rPr>
              <a:t>l'interprète</a:t>
            </a:r>
            <a:r>
              <a:rPr lang="en-GB" dirty="0">
                <a:solidFill>
                  <a:schemeClr val="dk1"/>
                </a:solidFill>
                <a:latin typeface="Quicksand SemiBold"/>
                <a:sym typeface="Quicksand SemiBold"/>
              </a:rPr>
              <a:t> </a:t>
            </a:r>
            <a:r>
              <a:rPr lang="en-GB" dirty="0" err="1">
                <a:solidFill>
                  <a:schemeClr val="dk1"/>
                </a:solidFill>
                <a:latin typeface="Quicksand SemiBold"/>
                <a:sym typeface="Quicksand SemiBold"/>
              </a:rPr>
              <a:t>comme</a:t>
            </a:r>
            <a:r>
              <a:rPr lang="en-GB" dirty="0">
                <a:solidFill>
                  <a:schemeClr val="dk1"/>
                </a:solidFill>
                <a:latin typeface="Quicksand SemiBold"/>
                <a:sym typeface="Quicksand SemiBold"/>
              </a:rPr>
              <a:t> le centre-</a:t>
            </a:r>
            <a:r>
              <a:rPr lang="en-GB" dirty="0" err="1">
                <a:solidFill>
                  <a:schemeClr val="dk1"/>
                </a:solidFill>
                <a:latin typeface="Quicksand SemiBold"/>
                <a:sym typeface="Quicksand SemiBold"/>
              </a:rPr>
              <a:t>ville</a:t>
            </a:r>
            <a:r>
              <a:rPr lang="en-GB" dirty="0">
                <a:solidFill>
                  <a:schemeClr val="dk1"/>
                </a:solidFill>
                <a:latin typeface="Quicksand SemiBold"/>
                <a:sym typeface="Quicksand SemiBold"/>
              </a:rPr>
              <a:t> :</a:t>
            </a:r>
          </a:p>
          <a:p>
            <a:pPr>
              <a:buClr>
                <a:schemeClr val="dk1"/>
              </a:buClr>
              <a:buSzPts val="1200"/>
            </a:pPr>
            <a:endParaRPr lang="en-GB" dirty="0">
              <a:solidFill>
                <a:schemeClr val="dk1"/>
              </a:solidFill>
              <a:latin typeface="Quicksand SemiBold"/>
              <a:sym typeface="Quicksand SemiBold"/>
            </a:endParaRPr>
          </a:p>
          <a:p>
            <a:pPr>
              <a:buClr>
                <a:schemeClr val="dk1"/>
              </a:buClr>
              <a:buSzPts val="1200"/>
            </a:pPr>
            <a:endParaRPr lang="en-GB" dirty="0">
              <a:latin typeface="Söhne"/>
            </a:endParaRPr>
          </a:p>
        </p:txBody>
      </p:sp>
      <p:sp>
        <p:nvSpPr>
          <p:cNvPr id="7" name="ZoneTexte 9">
            <a:extLst>
              <a:ext uri="{FF2B5EF4-FFF2-40B4-BE49-F238E27FC236}">
                <a16:creationId xmlns:a16="http://schemas.microsoft.com/office/drawing/2014/main" id="{3997655B-57BE-C52D-F088-1A13D26468F4}"/>
              </a:ext>
            </a:extLst>
          </p:cNvPr>
          <p:cNvSpPr txBox="1"/>
          <p:nvPr/>
        </p:nvSpPr>
        <p:spPr>
          <a:xfrm>
            <a:off x="7530037" y="1060664"/>
            <a:ext cx="4572000" cy="307777"/>
          </a:xfrm>
          <a:prstGeom prst="rect">
            <a:avLst/>
          </a:prstGeom>
          <a:noFill/>
        </p:spPr>
        <p:txBody>
          <a:bodyPr wrap="square">
            <a:spAutoFit/>
          </a:bodyPr>
          <a:lstStyle/>
          <a:p>
            <a:r>
              <a:rPr lang="fr-FR" b="1" dirty="0">
                <a:solidFill>
                  <a:srgbClr val="374151"/>
                </a:solidFill>
                <a:highlight>
                  <a:srgbClr val="53CFA2"/>
                </a:highlight>
                <a:latin typeface="Söhne"/>
              </a:rPr>
              <a:t>consommation</a:t>
            </a:r>
            <a:endParaRPr lang="fr-FR" dirty="0">
              <a:highlight>
                <a:srgbClr val="53CFA2"/>
              </a:highlight>
            </a:endParaRPr>
          </a:p>
        </p:txBody>
      </p:sp>
      <p:pic>
        <p:nvPicPr>
          <p:cNvPr id="9" name="Picture 8" descr="A picture containing text, screenshot&#10;&#10;Description automatically generated">
            <a:extLst>
              <a:ext uri="{FF2B5EF4-FFF2-40B4-BE49-F238E27FC236}">
                <a16:creationId xmlns:a16="http://schemas.microsoft.com/office/drawing/2014/main" id="{EA14C3BC-727E-3508-299C-E1F949ABE232}"/>
              </a:ext>
            </a:extLst>
          </p:cNvPr>
          <p:cNvPicPr>
            <a:picLocks noChangeAspect="1"/>
          </p:cNvPicPr>
          <p:nvPr/>
        </p:nvPicPr>
        <p:blipFill>
          <a:blip r:embed="rId3"/>
          <a:stretch>
            <a:fillRect/>
          </a:stretch>
        </p:blipFill>
        <p:spPr>
          <a:xfrm>
            <a:off x="0" y="1235130"/>
            <a:ext cx="6057321" cy="3048000"/>
          </a:xfrm>
          <a:prstGeom prst="rect">
            <a:avLst/>
          </a:prstGeom>
        </p:spPr>
      </p:pic>
      <p:sp>
        <p:nvSpPr>
          <p:cNvPr id="2" name="ZoneTexte 3">
            <a:extLst>
              <a:ext uri="{FF2B5EF4-FFF2-40B4-BE49-F238E27FC236}">
                <a16:creationId xmlns:a16="http://schemas.microsoft.com/office/drawing/2014/main" id="{AD4161E0-E5B3-6D4D-E600-645986C154C0}"/>
              </a:ext>
            </a:extLst>
          </p:cNvPr>
          <p:cNvSpPr txBox="1"/>
          <p:nvPr/>
        </p:nvSpPr>
        <p:spPr>
          <a:xfrm>
            <a:off x="5627523" y="860370"/>
            <a:ext cx="3805028" cy="307777"/>
          </a:xfrm>
          <a:prstGeom prst="rect">
            <a:avLst/>
          </a:prstGeom>
          <a:noFill/>
        </p:spPr>
        <p:txBody>
          <a:bodyPr wrap="square">
            <a:spAutoFit/>
          </a:bodyPr>
          <a:lstStyle/>
          <a:p>
            <a:r>
              <a:rPr lang="fr-FR" b="1" i="0" u="none" strike="noStrike" dirty="0" err="1">
                <a:solidFill>
                  <a:srgbClr val="374151"/>
                </a:solidFill>
                <a:effectLst/>
                <a:highlight>
                  <a:srgbClr val="53CFA2"/>
                </a:highlight>
                <a:latin typeface="Söhne"/>
              </a:rPr>
              <a:t>Feature</a:t>
            </a:r>
            <a:r>
              <a:rPr lang="fr-FR" b="1" i="0" u="none" strike="noStrike" dirty="0">
                <a:solidFill>
                  <a:srgbClr val="374151"/>
                </a:solidFill>
                <a:effectLst/>
                <a:highlight>
                  <a:srgbClr val="53CFA2"/>
                </a:highlight>
                <a:latin typeface="Söhne"/>
              </a:rPr>
              <a:t> engineering 2 : distance du centre-ville</a:t>
            </a:r>
            <a:endParaRPr lang="fr-FR" dirty="0">
              <a:highlight>
                <a:srgbClr val="53CFA2"/>
              </a:highlight>
            </a:endParaRPr>
          </a:p>
        </p:txBody>
      </p:sp>
      <p:sp>
        <p:nvSpPr>
          <p:cNvPr id="3" name="Oval 2">
            <a:extLst>
              <a:ext uri="{FF2B5EF4-FFF2-40B4-BE49-F238E27FC236}">
                <a16:creationId xmlns:a16="http://schemas.microsoft.com/office/drawing/2014/main" id="{C7C16DF1-27C0-29B9-7AB6-6EA57E727B87}"/>
              </a:ext>
            </a:extLst>
          </p:cNvPr>
          <p:cNvSpPr/>
          <p:nvPr/>
        </p:nvSpPr>
        <p:spPr>
          <a:xfrm>
            <a:off x="1063319" y="2218565"/>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0954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graph&#10;&#10;Description automatically generated">
            <a:extLst>
              <a:ext uri="{FF2B5EF4-FFF2-40B4-BE49-F238E27FC236}">
                <a16:creationId xmlns:a16="http://schemas.microsoft.com/office/drawing/2014/main" id="{F8C87FFF-DCE7-52C9-2DC0-2291C0A29FEA}"/>
              </a:ext>
            </a:extLst>
          </p:cNvPr>
          <p:cNvPicPr>
            <a:picLocks noChangeAspect="1"/>
          </p:cNvPicPr>
          <p:nvPr/>
        </p:nvPicPr>
        <p:blipFill>
          <a:blip r:embed="rId3"/>
          <a:stretch>
            <a:fillRect/>
          </a:stretch>
        </p:blipFill>
        <p:spPr>
          <a:xfrm>
            <a:off x="204509" y="2408089"/>
            <a:ext cx="8342157" cy="2183102"/>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Émission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12" name="Google Shape;237;p32">
            <a:extLst>
              <a:ext uri="{FF2B5EF4-FFF2-40B4-BE49-F238E27FC236}">
                <a16:creationId xmlns:a16="http://schemas.microsoft.com/office/drawing/2014/main" id="{902414AA-5988-B85C-447C-67F1FC32DEAA}"/>
              </a:ext>
            </a:extLst>
          </p:cNvPr>
          <p:cNvSpPr txBox="1">
            <a:spLocks/>
          </p:cNvSpPr>
          <p:nvPr/>
        </p:nvSpPr>
        <p:spPr>
          <a:xfrm>
            <a:off x="597334" y="1557479"/>
            <a:ext cx="5766761"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Avant </a:t>
            </a:r>
            <a:r>
              <a:rPr lang="fr-FR" dirty="0" err="1">
                <a:solidFill>
                  <a:srgbClr val="374151"/>
                </a:solidFill>
                <a:latin typeface="Söhne"/>
              </a:rPr>
              <a:t>feature</a:t>
            </a:r>
            <a:r>
              <a:rPr lang="fr-FR" dirty="0">
                <a:solidFill>
                  <a:srgbClr val="374151"/>
                </a:solidFill>
                <a:latin typeface="Söhne"/>
              </a:rPr>
              <a:t> engineering, résultat obtenus pour l’émission</a:t>
            </a:r>
          </a:p>
        </p:txBody>
      </p:sp>
      <p:sp>
        <p:nvSpPr>
          <p:cNvPr id="2" name="Oval 1">
            <a:extLst>
              <a:ext uri="{FF2B5EF4-FFF2-40B4-BE49-F238E27FC236}">
                <a16:creationId xmlns:a16="http://schemas.microsoft.com/office/drawing/2014/main" id="{AF841AC8-401E-EF56-DE44-95D4C90419B9}"/>
              </a:ext>
            </a:extLst>
          </p:cNvPr>
          <p:cNvSpPr/>
          <p:nvPr/>
        </p:nvSpPr>
        <p:spPr>
          <a:xfrm>
            <a:off x="3491220" y="4058155"/>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6" name="Rectangle 5">
            <a:extLst>
              <a:ext uri="{FF2B5EF4-FFF2-40B4-BE49-F238E27FC236}">
                <a16:creationId xmlns:a16="http://schemas.microsoft.com/office/drawing/2014/main" id="{549CA1F4-79F5-8A1F-618D-841C3D0F26FB}"/>
              </a:ext>
            </a:extLst>
          </p:cNvPr>
          <p:cNvSpPr/>
          <p:nvPr/>
        </p:nvSpPr>
        <p:spPr>
          <a:xfrm>
            <a:off x="386080" y="4058155"/>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987805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screenshot of a computer screen&#10;&#10;Description automatically generated">
            <a:extLst>
              <a:ext uri="{FF2B5EF4-FFF2-40B4-BE49-F238E27FC236}">
                <a16:creationId xmlns:a16="http://schemas.microsoft.com/office/drawing/2014/main" id="{9EEB3A85-AC82-98AC-0568-A126EE800CC4}"/>
              </a:ext>
            </a:extLst>
          </p:cNvPr>
          <p:cNvPicPr>
            <a:picLocks noChangeAspect="1"/>
          </p:cNvPicPr>
          <p:nvPr/>
        </p:nvPicPr>
        <p:blipFill>
          <a:blip r:embed="rId3"/>
          <a:stretch>
            <a:fillRect/>
          </a:stretch>
        </p:blipFill>
        <p:spPr>
          <a:xfrm>
            <a:off x="325053" y="2392326"/>
            <a:ext cx="8625907" cy="2073220"/>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Émission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12" name="Google Shape;237;p32">
            <a:extLst>
              <a:ext uri="{FF2B5EF4-FFF2-40B4-BE49-F238E27FC236}">
                <a16:creationId xmlns:a16="http://schemas.microsoft.com/office/drawing/2014/main" id="{902414AA-5988-B85C-447C-67F1FC32DEAA}"/>
              </a:ext>
            </a:extLst>
          </p:cNvPr>
          <p:cNvSpPr txBox="1">
            <a:spLocks/>
          </p:cNvSpPr>
          <p:nvPr/>
        </p:nvSpPr>
        <p:spPr>
          <a:xfrm>
            <a:off x="597334" y="1557479"/>
            <a:ext cx="5766761"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Après</a:t>
            </a:r>
            <a:r>
              <a:rPr lang="fr-FR" dirty="0">
                <a:solidFill>
                  <a:srgbClr val="374151"/>
                </a:solidFill>
                <a:latin typeface="Söhne"/>
              </a:rPr>
              <a:t> </a:t>
            </a:r>
            <a:r>
              <a:rPr lang="fr-FR" dirty="0" err="1">
                <a:solidFill>
                  <a:srgbClr val="374151"/>
                </a:solidFill>
                <a:latin typeface="Söhne"/>
              </a:rPr>
              <a:t>feature</a:t>
            </a:r>
            <a:r>
              <a:rPr lang="fr-FR" dirty="0">
                <a:solidFill>
                  <a:srgbClr val="374151"/>
                </a:solidFill>
                <a:latin typeface="Söhne"/>
              </a:rPr>
              <a:t> engineering sur le </a:t>
            </a:r>
            <a:r>
              <a:rPr lang="fr-FR" b="1" dirty="0">
                <a:solidFill>
                  <a:srgbClr val="374151"/>
                </a:solidFill>
                <a:highlight>
                  <a:srgbClr val="53CFA2"/>
                </a:highlight>
                <a:latin typeface="Söhne"/>
              </a:rPr>
              <a:t>type </a:t>
            </a:r>
            <a:r>
              <a:rPr lang="fr-FR" b="1" dirty="0" err="1">
                <a:solidFill>
                  <a:srgbClr val="374151"/>
                </a:solidFill>
                <a:highlight>
                  <a:srgbClr val="53CFA2"/>
                </a:highlight>
                <a:latin typeface="Söhne"/>
              </a:rPr>
              <a:t>d’energie</a:t>
            </a:r>
            <a:endParaRPr lang="fr-FR" b="1" dirty="0">
              <a:solidFill>
                <a:srgbClr val="374151"/>
              </a:solidFill>
              <a:highlight>
                <a:srgbClr val="53CFA2"/>
              </a:highlight>
              <a:latin typeface="Söhne"/>
            </a:endParaRPr>
          </a:p>
        </p:txBody>
      </p:sp>
      <p:sp>
        <p:nvSpPr>
          <p:cNvPr id="2" name="Oval 1">
            <a:extLst>
              <a:ext uri="{FF2B5EF4-FFF2-40B4-BE49-F238E27FC236}">
                <a16:creationId xmlns:a16="http://schemas.microsoft.com/office/drawing/2014/main" id="{003AA7AD-10D3-8527-ABE9-BD1D725A6AE4}"/>
              </a:ext>
            </a:extLst>
          </p:cNvPr>
          <p:cNvSpPr/>
          <p:nvPr/>
        </p:nvSpPr>
        <p:spPr>
          <a:xfrm>
            <a:off x="4507870" y="3860937"/>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041ACD84-3BAD-E60A-2FA4-30537844AD7A}"/>
              </a:ext>
            </a:extLst>
          </p:cNvPr>
          <p:cNvSpPr/>
          <p:nvPr/>
        </p:nvSpPr>
        <p:spPr>
          <a:xfrm>
            <a:off x="193040" y="3831704"/>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238529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color chart&#10;&#10;Description automatically generated">
            <a:extLst>
              <a:ext uri="{FF2B5EF4-FFF2-40B4-BE49-F238E27FC236}">
                <a16:creationId xmlns:a16="http://schemas.microsoft.com/office/drawing/2014/main" id="{9F9335D3-3E29-885A-B8FC-7D8D6B16D371}"/>
              </a:ext>
            </a:extLst>
          </p:cNvPr>
          <p:cNvPicPr>
            <a:picLocks noChangeAspect="1"/>
          </p:cNvPicPr>
          <p:nvPr/>
        </p:nvPicPr>
        <p:blipFill>
          <a:blip r:embed="rId3"/>
          <a:stretch>
            <a:fillRect/>
          </a:stretch>
        </p:blipFill>
        <p:spPr>
          <a:xfrm>
            <a:off x="193040" y="2827228"/>
            <a:ext cx="8757920" cy="1638318"/>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Émission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12" name="Google Shape;237;p32">
            <a:extLst>
              <a:ext uri="{FF2B5EF4-FFF2-40B4-BE49-F238E27FC236}">
                <a16:creationId xmlns:a16="http://schemas.microsoft.com/office/drawing/2014/main" id="{902414AA-5988-B85C-447C-67F1FC32DEAA}"/>
              </a:ext>
            </a:extLst>
          </p:cNvPr>
          <p:cNvSpPr txBox="1">
            <a:spLocks/>
          </p:cNvSpPr>
          <p:nvPr/>
        </p:nvSpPr>
        <p:spPr>
          <a:xfrm>
            <a:off x="597334" y="1557479"/>
            <a:ext cx="7337626"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Après</a:t>
            </a:r>
            <a:r>
              <a:rPr lang="fr-FR" dirty="0">
                <a:solidFill>
                  <a:srgbClr val="374151"/>
                </a:solidFill>
                <a:latin typeface="Söhne"/>
              </a:rPr>
              <a:t> </a:t>
            </a:r>
            <a:r>
              <a:rPr lang="fr-FR" dirty="0" err="1">
                <a:solidFill>
                  <a:srgbClr val="374151"/>
                </a:solidFill>
                <a:latin typeface="Söhne"/>
              </a:rPr>
              <a:t>feature</a:t>
            </a:r>
            <a:r>
              <a:rPr lang="fr-FR" dirty="0">
                <a:solidFill>
                  <a:srgbClr val="374151"/>
                </a:solidFill>
                <a:latin typeface="Söhne"/>
              </a:rPr>
              <a:t> engineering sur le </a:t>
            </a:r>
            <a:r>
              <a:rPr lang="fr-FR" b="1" dirty="0">
                <a:solidFill>
                  <a:srgbClr val="374151"/>
                </a:solidFill>
                <a:highlight>
                  <a:srgbClr val="53CFA2"/>
                </a:highlight>
                <a:latin typeface="Söhne"/>
              </a:rPr>
              <a:t>type </a:t>
            </a:r>
            <a:r>
              <a:rPr lang="fr-FR" b="1" dirty="0" err="1">
                <a:solidFill>
                  <a:srgbClr val="374151"/>
                </a:solidFill>
                <a:highlight>
                  <a:srgbClr val="53CFA2"/>
                </a:highlight>
                <a:latin typeface="Söhne"/>
              </a:rPr>
              <a:t>d’energie</a:t>
            </a:r>
            <a:r>
              <a:rPr lang="fr-FR" b="1" dirty="0">
                <a:solidFill>
                  <a:srgbClr val="374151"/>
                </a:solidFill>
                <a:highlight>
                  <a:srgbClr val="53CFA2"/>
                </a:highlight>
                <a:latin typeface="Söhne"/>
              </a:rPr>
              <a:t> </a:t>
            </a:r>
            <a:r>
              <a:rPr lang="fr-FR" dirty="0">
                <a:solidFill>
                  <a:srgbClr val="374151"/>
                </a:solidFill>
                <a:latin typeface="Söhne"/>
              </a:rPr>
              <a:t>ainsi que la </a:t>
            </a:r>
            <a:r>
              <a:rPr lang="fr-FR" b="1" dirty="0">
                <a:solidFill>
                  <a:srgbClr val="374151"/>
                </a:solidFill>
                <a:highlight>
                  <a:srgbClr val="53CFA2"/>
                </a:highlight>
                <a:latin typeface="Söhne"/>
              </a:rPr>
              <a:t>distance par rapport au point le plus pollué</a:t>
            </a:r>
          </a:p>
        </p:txBody>
      </p:sp>
      <p:sp>
        <p:nvSpPr>
          <p:cNvPr id="8" name="Oval 7">
            <a:extLst>
              <a:ext uri="{FF2B5EF4-FFF2-40B4-BE49-F238E27FC236}">
                <a16:creationId xmlns:a16="http://schemas.microsoft.com/office/drawing/2014/main" id="{A9B9BA95-3C8F-6E6E-0018-82EDEE9C29DA}"/>
              </a:ext>
            </a:extLst>
          </p:cNvPr>
          <p:cNvSpPr/>
          <p:nvPr/>
        </p:nvSpPr>
        <p:spPr>
          <a:xfrm>
            <a:off x="3747987" y="3932511"/>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Rectangle 9">
            <a:extLst>
              <a:ext uri="{FF2B5EF4-FFF2-40B4-BE49-F238E27FC236}">
                <a16:creationId xmlns:a16="http://schemas.microsoft.com/office/drawing/2014/main" id="{DAE0A82E-7341-232A-2D30-E178C7AFB525}"/>
              </a:ext>
            </a:extLst>
          </p:cNvPr>
          <p:cNvSpPr/>
          <p:nvPr/>
        </p:nvSpPr>
        <p:spPr>
          <a:xfrm>
            <a:off x="193040" y="3831704"/>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extLst>
      <p:ext uri="{BB962C8B-B14F-4D97-AF65-F5344CB8AC3E}">
        <p14:creationId xmlns:p14="http://schemas.microsoft.com/office/powerpoint/2010/main" val="1893601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graph&#10;&#10;Description automatically generated">
            <a:extLst>
              <a:ext uri="{FF2B5EF4-FFF2-40B4-BE49-F238E27FC236}">
                <a16:creationId xmlns:a16="http://schemas.microsoft.com/office/drawing/2014/main" id="{5889049B-6499-1F30-7384-6E7746182E26}"/>
              </a:ext>
            </a:extLst>
          </p:cNvPr>
          <p:cNvPicPr>
            <a:picLocks noChangeAspect="1"/>
          </p:cNvPicPr>
          <p:nvPr/>
        </p:nvPicPr>
        <p:blipFill>
          <a:blip r:embed="rId3"/>
          <a:stretch>
            <a:fillRect/>
          </a:stretch>
        </p:blipFill>
        <p:spPr>
          <a:xfrm>
            <a:off x="429170" y="2704502"/>
            <a:ext cx="8637483" cy="1363813"/>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Consommation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2" name="Oval 1">
            <a:extLst>
              <a:ext uri="{FF2B5EF4-FFF2-40B4-BE49-F238E27FC236}">
                <a16:creationId xmlns:a16="http://schemas.microsoft.com/office/drawing/2014/main" id="{C3941710-7663-0FC2-A29C-31F50F2C6A01}"/>
              </a:ext>
            </a:extLst>
          </p:cNvPr>
          <p:cNvSpPr/>
          <p:nvPr/>
        </p:nvSpPr>
        <p:spPr>
          <a:xfrm>
            <a:off x="4640404" y="3508021"/>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20F2B16C-A62F-FC0B-254A-1C4088EC7E82}"/>
              </a:ext>
            </a:extLst>
          </p:cNvPr>
          <p:cNvSpPr/>
          <p:nvPr/>
        </p:nvSpPr>
        <p:spPr>
          <a:xfrm>
            <a:off x="279019" y="3472021"/>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Google Shape;237;p32">
            <a:extLst>
              <a:ext uri="{FF2B5EF4-FFF2-40B4-BE49-F238E27FC236}">
                <a16:creationId xmlns:a16="http://schemas.microsoft.com/office/drawing/2014/main" id="{91888A90-03C3-12F5-54D2-280D5721325F}"/>
              </a:ext>
            </a:extLst>
          </p:cNvPr>
          <p:cNvSpPr txBox="1">
            <a:spLocks/>
          </p:cNvSpPr>
          <p:nvPr/>
        </p:nvSpPr>
        <p:spPr>
          <a:xfrm>
            <a:off x="597334" y="1557479"/>
            <a:ext cx="5766761"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Avant </a:t>
            </a:r>
            <a:r>
              <a:rPr lang="fr-FR" dirty="0" err="1">
                <a:solidFill>
                  <a:srgbClr val="374151"/>
                </a:solidFill>
                <a:latin typeface="Söhne"/>
              </a:rPr>
              <a:t>feature</a:t>
            </a:r>
            <a:r>
              <a:rPr lang="fr-FR" dirty="0">
                <a:solidFill>
                  <a:srgbClr val="374151"/>
                </a:solidFill>
                <a:latin typeface="Söhne"/>
              </a:rPr>
              <a:t> engineering, résultat obtenus pour l’émission</a:t>
            </a:r>
          </a:p>
        </p:txBody>
      </p:sp>
    </p:spTree>
    <p:extLst>
      <p:ext uri="{BB962C8B-B14F-4D97-AF65-F5344CB8AC3E}">
        <p14:creationId xmlns:p14="http://schemas.microsoft.com/office/powerpoint/2010/main" val="249657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6F31FEC3-5F30-78F1-2AAA-AFB3FAF24FC9}"/>
              </a:ext>
            </a:extLst>
          </p:cNvPr>
          <p:cNvPicPr>
            <a:picLocks noChangeAspect="1"/>
          </p:cNvPicPr>
          <p:nvPr/>
        </p:nvPicPr>
        <p:blipFill>
          <a:blip r:embed="rId3"/>
          <a:stretch>
            <a:fillRect/>
          </a:stretch>
        </p:blipFill>
        <p:spPr>
          <a:xfrm>
            <a:off x="314178" y="2597151"/>
            <a:ext cx="8752403" cy="1423155"/>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Consommation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2" name="Oval 1">
            <a:extLst>
              <a:ext uri="{FF2B5EF4-FFF2-40B4-BE49-F238E27FC236}">
                <a16:creationId xmlns:a16="http://schemas.microsoft.com/office/drawing/2014/main" id="{23D2258D-CFD9-4F89-F152-24404529C0EF}"/>
              </a:ext>
            </a:extLst>
          </p:cNvPr>
          <p:cNvSpPr/>
          <p:nvPr/>
        </p:nvSpPr>
        <p:spPr>
          <a:xfrm>
            <a:off x="4574668" y="3501389"/>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4" name="Rectangle 3">
            <a:extLst>
              <a:ext uri="{FF2B5EF4-FFF2-40B4-BE49-F238E27FC236}">
                <a16:creationId xmlns:a16="http://schemas.microsoft.com/office/drawing/2014/main" id="{B69F4AD5-80F0-571E-D17F-A511BE622340}"/>
              </a:ext>
            </a:extLst>
          </p:cNvPr>
          <p:cNvSpPr/>
          <p:nvPr/>
        </p:nvSpPr>
        <p:spPr>
          <a:xfrm>
            <a:off x="193040" y="3486905"/>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Google Shape;237;p32">
            <a:extLst>
              <a:ext uri="{FF2B5EF4-FFF2-40B4-BE49-F238E27FC236}">
                <a16:creationId xmlns:a16="http://schemas.microsoft.com/office/drawing/2014/main" id="{175C4C09-6449-445E-BA16-BB9DC10F7AB7}"/>
              </a:ext>
            </a:extLst>
          </p:cNvPr>
          <p:cNvSpPr txBox="1">
            <a:spLocks/>
          </p:cNvSpPr>
          <p:nvPr/>
        </p:nvSpPr>
        <p:spPr>
          <a:xfrm>
            <a:off x="597334" y="1557479"/>
            <a:ext cx="5766761"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Après</a:t>
            </a:r>
            <a:r>
              <a:rPr lang="fr-FR" dirty="0">
                <a:solidFill>
                  <a:srgbClr val="374151"/>
                </a:solidFill>
                <a:latin typeface="Söhne"/>
              </a:rPr>
              <a:t> </a:t>
            </a:r>
            <a:r>
              <a:rPr lang="fr-FR" dirty="0" err="1">
                <a:solidFill>
                  <a:srgbClr val="374151"/>
                </a:solidFill>
                <a:latin typeface="Söhne"/>
              </a:rPr>
              <a:t>feature</a:t>
            </a:r>
            <a:r>
              <a:rPr lang="fr-FR" dirty="0">
                <a:solidFill>
                  <a:srgbClr val="374151"/>
                </a:solidFill>
                <a:latin typeface="Söhne"/>
              </a:rPr>
              <a:t> engineering sur le </a:t>
            </a:r>
            <a:r>
              <a:rPr lang="fr-FR" b="1" dirty="0">
                <a:solidFill>
                  <a:srgbClr val="374151"/>
                </a:solidFill>
                <a:highlight>
                  <a:srgbClr val="53CFA2"/>
                </a:highlight>
                <a:latin typeface="Söhne"/>
              </a:rPr>
              <a:t>type </a:t>
            </a:r>
            <a:r>
              <a:rPr lang="fr-FR" b="1" dirty="0" err="1">
                <a:solidFill>
                  <a:srgbClr val="374151"/>
                </a:solidFill>
                <a:highlight>
                  <a:srgbClr val="53CFA2"/>
                </a:highlight>
                <a:latin typeface="Söhne"/>
              </a:rPr>
              <a:t>d’energie</a:t>
            </a:r>
            <a:endParaRPr lang="fr-FR" b="1" dirty="0">
              <a:solidFill>
                <a:srgbClr val="374151"/>
              </a:solidFill>
              <a:highlight>
                <a:srgbClr val="53CFA2"/>
              </a:highlight>
              <a:latin typeface="Söhne"/>
            </a:endParaRPr>
          </a:p>
        </p:txBody>
      </p:sp>
    </p:spTree>
    <p:extLst>
      <p:ext uri="{BB962C8B-B14F-4D97-AF65-F5344CB8AC3E}">
        <p14:creationId xmlns:p14="http://schemas.microsoft.com/office/powerpoint/2010/main" val="1825192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screen&#10;&#10;Description automatically generated">
            <a:extLst>
              <a:ext uri="{FF2B5EF4-FFF2-40B4-BE49-F238E27FC236}">
                <a16:creationId xmlns:a16="http://schemas.microsoft.com/office/drawing/2014/main" id="{486E0459-BCEA-3F39-C033-3F3CB935AE7F}"/>
              </a:ext>
            </a:extLst>
          </p:cNvPr>
          <p:cNvPicPr>
            <a:picLocks noChangeAspect="1"/>
          </p:cNvPicPr>
          <p:nvPr/>
        </p:nvPicPr>
        <p:blipFill>
          <a:blip r:embed="rId3"/>
          <a:stretch>
            <a:fillRect/>
          </a:stretch>
        </p:blipFill>
        <p:spPr>
          <a:xfrm>
            <a:off x="193040" y="2612363"/>
            <a:ext cx="8923295" cy="1402513"/>
          </a:xfrm>
          <a:prstGeom prst="rect">
            <a:avLst/>
          </a:prstGeom>
        </p:spPr>
      </p:pic>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0" y="677954"/>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Évaluation des modèles</a:t>
            </a:r>
          </a:p>
          <a:p>
            <a:pPr marL="0" lvl="0" indent="0" algn="ctr" rtl="0">
              <a:spcBef>
                <a:spcPts val="0"/>
              </a:spcBef>
              <a:spcAft>
                <a:spcPts val="0"/>
              </a:spcAft>
              <a:buNone/>
            </a:pPr>
            <a:endParaRPr lang="fr-FR" sz="1200" dirty="0">
              <a:solidFill>
                <a:schemeClr val="dk1"/>
              </a:solidFill>
              <a:latin typeface="Quicksand Medium"/>
              <a:ea typeface="Quicksand Medium"/>
              <a:cs typeface="Quicksand Medium"/>
              <a:sym typeface="Quicksand Medium"/>
            </a:endParaRPr>
          </a:p>
        </p:txBody>
      </p:sp>
      <p:sp>
        <p:nvSpPr>
          <p:cNvPr id="3" name="ZoneTexte 6">
            <a:extLst>
              <a:ext uri="{FF2B5EF4-FFF2-40B4-BE49-F238E27FC236}">
                <a16:creationId xmlns:a16="http://schemas.microsoft.com/office/drawing/2014/main" id="{54B847BA-0D8C-000A-467C-54E9772F6825}"/>
              </a:ext>
            </a:extLst>
          </p:cNvPr>
          <p:cNvSpPr txBox="1"/>
          <p:nvPr/>
        </p:nvSpPr>
        <p:spPr>
          <a:xfrm>
            <a:off x="1265508" y="1075185"/>
            <a:ext cx="8250464" cy="461665"/>
          </a:xfrm>
          <a:prstGeom prst="rect">
            <a:avLst/>
          </a:prstGeom>
          <a:noFill/>
        </p:spPr>
        <p:txBody>
          <a:bodyPr wrap="square">
            <a:spAutoFit/>
          </a:bodyPr>
          <a:lstStyle/>
          <a:p>
            <a:pPr>
              <a:buClr>
                <a:schemeClr val="dk1"/>
              </a:buClr>
              <a:buSzPts val="3500"/>
            </a:pPr>
            <a:r>
              <a:rPr lang="fr-FR" sz="2400" b="1" dirty="0">
                <a:solidFill>
                  <a:schemeClr val="dk1"/>
                </a:solidFill>
                <a:latin typeface="-apple-system"/>
                <a:cs typeface="Poppins Medium"/>
                <a:sym typeface="Poppins Medium"/>
              </a:rPr>
              <a:t>Consommation de CO2</a:t>
            </a: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720000" y="14052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Analyse de la performance </a:t>
            </a:r>
            <a:br>
              <a:rPr lang="en-GB" sz="2400" dirty="0"/>
            </a:br>
            <a:r>
              <a:rPr lang="en-GB" sz="2400" dirty="0"/>
              <a:t>des </a:t>
            </a:r>
            <a:r>
              <a:rPr lang="en-GB" sz="2400" dirty="0" err="1"/>
              <a:t>modèles</a:t>
            </a:r>
            <a:r>
              <a:rPr lang="en-GB" sz="2400" dirty="0"/>
              <a:t> de </a:t>
            </a:r>
            <a:r>
              <a:rPr lang="en-GB" sz="2400" dirty="0" err="1"/>
              <a:t>prédiction</a:t>
            </a:r>
            <a:br>
              <a:rPr lang="en-GB" sz="2400" dirty="0"/>
            </a:br>
            <a:endParaRPr lang="en-GB" sz="2400" dirty="0"/>
          </a:p>
        </p:txBody>
      </p:sp>
      <p:sp>
        <p:nvSpPr>
          <p:cNvPr id="8" name="Oval 7">
            <a:extLst>
              <a:ext uri="{FF2B5EF4-FFF2-40B4-BE49-F238E27FC236}">
                <a16:creationId xmlns:a16="http://schemas.microsoft.com/office/drawing/2014/main" id="{4438A618-E4CF-35B0-9E15-53BB5A7B5074}"/>
              </a:ext>
            </a:extLst>
          </p:cNvPr>
          <p:cNvSpPr/>
          <p:nvPr/>
        </p:nvSpPr>
        <p:spPr>
          <a:xfrm>
            <a:off x="3249159" y="3535280"/>
            <a:ext cx="518160" cy="53303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0" name="Rectangle 9">
            <a:extLst>
              <a:ext uri="{FF2B5EF4-FFF2-40B4-BE49-F238E27FC236}">
                <a16:creationId xmlns:a16="http://schemas.microsoft.com/office/drawing/2014/main" id="{F2428381-659E-E46E-133C-0B2DB73CBC8E}"/>
              </a:ext>
            </a:extLst>
          </p:cNvPr>
          <p:cNvSpPr/>
          <p:nvPr/>
        </p:nvSpPr>
        <p:spPr>
          <a:xfrm>
            <a:off x="193040" y="3486905"/>
            <a:ext cx="1426220" cy="53303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Google Shape;237;p32">
            <a:extLst>
              <a:ext uri="{FF2B5EF4-FFF2-40B4-BE49-F238E27FC236}">
                <a16:creationId xmlns:a16="http://schemas.microsoft.com/office/drawing/2014/main" id="{3AF43B5D-8024-A34D-7E96-5570052535C1}"/>
              </a:ext>
            </a:extLst>
          </p:cNvPr>
          <p:cNvSpPr txBox="1">
            <a:spLocks/>
          </p:cNvSpPr>
          <p:nvPr/>
        </p:nvSpPr>
        <p:spPr>
          <a:xfrm>
            <a:off x="597334" y="1557479"/>
            <a:ext cx="7337626" cy="1714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4800">
              <a:spcBef>
                <a:spcPts val="1000"/>
              </a:spcBef>
              <a:buClr>
                <a:schemeClr val="dk2"/>
              </a:buClr>
              <a:buSzPts val="1200"/>
              <a:buFont typeface="Arial"/>
              <a:buChar char="●"/>
            </a:pPr>
            <a:r>
              <a:rPr lang="fr-FR" b="1" dirty="0">
                <a:solidFill>
                  <a:srgbClr val="374151"/>
                </a:solidFill>
                <a:highlight>
                  <a:srgbClr val="53CFA2"/>
                </a:highlight>
                <a:latin typeface="Söhne"/>
              </a:rPr>
              <a:t>Après</a:t>
            </a:r>
            <a:r>
              <a:rPr lang="fr-FR" dirty="0">
                <a:solidFill>
                  <a:srgbClr val="374151"/>
                </a:solidFill>
                <a:latin typeface="Söhne"/>
              </a:rPr>
              <a:t> </a:t>
            </a:r>
            <a:r>
              <a:rPr lang="fr-FR" dirty="0" err="1">
                <a:solidFill>
                  <a:srgbClr val="374151"/>
                </a:solidFill>
                <a:latin typeface="Söhne"/>
              </a:rPr>
              <a:t>feature</a:t>
            </a:r>
            <a:r>
              <a:rPr lang="fr-FR" dirty="0">
                <a:solidFill>
                  <a:srgbClr val="374151"/>
                </a:solidFill>
                <a:latin typeface="Söhne"/>
              </a:rPr>
              <a:t> engineering sur le </a:t>
            </a:r>
            <a:r>
              <a:rPr lang="fr-FR" b="1" dirty="0">
                <a:solidFill>
                  <a:srgbClr val="374151"/>
                </a:solidFill>
                <a:highlight>
                  <a:srgbClr val="53CFA2"/>
                </a:highlight>
                <a:latin typeface="Söhne"/>
              </a:rPr>
              <a:t>type </a:t>
            </a:r>
            <a:r>
              <a:rPr lang="fr-FR" b="1" dirty="0" err="1">
                <a:solidFill>
                  <a:srgbClr val="374151"/>
                </a:solidFill>
                <a:highlight>
                  <a:srgbClr val="53CFA2"/>
                </a:highlight>
                <a:latin typeface="Söhne"/>
              </a:rPr>
              <a:t>d’energie</a:t>
            </a:r>
            <a:r>
              <a:rPr lang="fr-FR" b="1" dirty="0">
                <a:solidFill>
                  <a:srgbClr val="374151"/>
                </a:solidFill>
                <a:highlight>
                  <a:srgbClr val="53CFA2"/>
                </a:highlight>
                <a:latin typeface="Söhne"/>
              </a:rPr>
              <a:t> </a:t>
            </a:r>
            <a:r>
              <a:rPr lang="fr-FR" dirty="0">
                <a:solidFill>
                  <a:srgbClr val="374151"/>
                </a:solidFill>
                <a:latin typeface="Söhne"/>
              </a:rPr>
              <a:t>ainsi que la </a:t>
            </a:r>
            <a:r>
              <a:rPr lang="fr-FR" b="1" dirty="0">
                <a:solidFill>
                  <a:srgbClr val="374151"/>
                </a:solidFill>
                <a:highlight>
                  <a:srgbClr val="53CFA2"/>
                </a:highlight>
                <a:latin typeface="Söhne"/>
              </a:rPr>
              <a:t>distance par rapport au point le plus pollué</a:t>
            </a:r>
          </a:p>
        </p:txBody>
      </p:sp>
    </p:spTree>
    <p:extLst>
      <p:ext uri="{BB962C8B-B14F-4D97-AF65-F5344CB8AC3E}">
        <p14:creationId xmlns:p14="http://schemas.microsoft.com/office/powerpoint/2010/main" val="3435186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9" name="Google Shape;359;p42"/>
          <p:cNvSpPr txBox="1">
            <a:spLocks noGrp="1"/>
          </p:cNvSpPr>
          <p:nvPr>
            <p:ph type="title"/>
          </p:nvPr>
        </p:nvSpPr>
        <p:spPr>
          <a:xfrm>
            <a:off x="1371600" y="213162"/>
            <a:ext cx="705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Impact de </a:t>
            </a:r>
            <a:r>
              <a:rPr lang="en-GB" sz="2400" dirty="0" err="1"/>
              <a:t>l'energieSTARScore</a:t>
            </a:r>
            <a:r>
              <a:rPr lang="en-GB" sz="2400" dirty="0"/>
              <a:t> sur la </a:t>
            </a:r>
            <a:r>
              <a:rPr lang="en-GB" sz="2400" dirty="0" err="1"/>
              <a:t>précision</a:t>
            </a:r>
            <a:r>
              <a:rPr lang="en-GB" sz="2400" dirty="0"/>
              <a:t> des </a:t>
            </a:r>
            <a:r>
              <a:rPr lang="en-GB" sz="2400" dirty="0" err="1"/>
              <a:t>prédictions</a:t>
            </a:r>
            <a:endParaRPr lang="en-GB" sz="2400" dirty="0"/>
          </a:p>
        </p:txBody>
      </p:sp>
      <p:pic>
        <p:nvPicPr>
          <p:cNvPr id="3" name="Picture 2" descr="A picture containing text, screenshot, number, parallel&#10;&#10;Description automatically generated">
            <a:extLst>
              <a:ext uri="{FF2B5EF4-FFF2-40B4-BE49-F238E27FC236}">
                <a16:creationId xmlns:a16="http://schemas.microsoft.com/office/drawing/2014/main" id="{48897262-53EF-1E83-26F3-D2F95B83C94A}"/>
              </a:ext>
            </a:extLst>
          </p:cNvPr>
          <p:cNvPicPr>
            <a:picLocks noChangeAspect="1"/>
          </p:cNvPicPr>
          <p:nvPr/>
        </p:nvPicPr>
        <p:blipFill>
          <a:blip r:embed="rId3"/>
          <a:stretch>
            <a:fillRect/>
          </a:stretch>
        </p:blipFill>
        <p:spPr>
          <a:xfrm>
            <a:off x="4514376" y="1410972"/>
            <a:ext cx="3295384" cy="3732527"/>
          </a:xfrm>
          <a:prstGeom prst="rect">
            <a:avLst/>
          </a:prstGeom>
        </p:spPr>
      </p:pic>
      <p:sp>
        <p:nvSpPr>
          <p:cNvPr id="6" name="Oval 5">
            <a:extLst>
              <a:ext uri="{FF2B5EF4-FFF2-40B4-BE49-F238E27FC236}">
                <a16:creationId xmlns:a16="http://schemas.microsoft.com/office/drawing/2014/main" id="{C9E2BE36-8FAF-8323-0A2C-E76CD6B12C00}"/>
              </a:ext>
            </a:extLst>
          </p:cNvPr>
          <p:cNvSpPr/>
          <p:nvPr/>
        </p:nvSpPr>
        <p:spPr>
          <a:xfrm>
            <a:off x="5533551" y="1880174"/>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35" name="Google Shape;413;p43">
            <a:extLst>
              <a:ext uri="{FF2B5EF4-FFF2-40B4-BE49-F238E27FC236}">
                <a16:creationId xmlns:a16="http://schemas.microsoft.com/office/drawing/2014/main" id="{C477E589-D104-EE65-B995-958461C525BA}"/>
              </a:ext>
            </a:extLst>
          </p:cNvPr>
          <p:cNvSpPr txBox="1"/>
          <p:nvPr/>
        </p:nvSpPr>
        <p:spPr>
          <a:xfrm flipH="1">
            <a:off x="7302516" y="425039"/>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36" name="Google Shape;414;p43">
            <a:extLst>
              <a:ext uri="{FF2B5EF4-FFF2-40B4-BE49-F238E27FC236}">
                <a16:creationId xmlns:a16="http://schemas.microsoft.com/office/drawing/2014/main" id="{4CC3BE87-0E2E-72B6-115E-85AFD6DEF6A0}"/>
              </a:ext>
            </a:extLst>
          </p:cNvPr>
          <p:cNvSpPr txBox="1"/>
          <p:nvPr/>
        </p:nvSpPr>
        <p:spPr>
          <a:xfrm flipH="1">
            <a:off x="7331700" y="802762"/>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Intérêt de l’</a:t>
            </a:r>
            <a:r>
              <a:rPr lang="fr-FR" sz="1200" dirty="0" err="1">
                <a:solidFill>
                  <a:schemeClr val="dk1"/>
                </a:solidFill>
                <a:latin typeface="Quicksand Medium"/>
              </a:rPr>
              <a:t>energieSTARScore</a:t>
            </a:r>
            <a:endParaRPr lang="fr-FR" sz="1200" dirty="0">
              <a:solidFill>
                <a:srgbClr val="FF0000"/>
              </a:solidFill>
            </a:endParaRPr>
          </a:p>
        </p:txBody>
      </p:sp>
      <p:sp>
        <p:nvSpPr>
          <p:cNvPr id="9" name="ZoneTexte 9">
            <a:extLst>
              <a:ext uri="{FF2B5EF4-FFF2-40B4-BE49-F238E27FC236}">
                <a16:creationId xmlns:a16="http://schemas.microsoft.com/office/drawing/2014/main" id="{678CA1A6-B154-C8C8-27AC-C2C5EDEF75D9}"/>
              </a:ext>
            </a:extLst>
          </p:cNvPr>
          <p:cNvSpPr txBox="1"/>
          <p:nvPr/>
        </p:nvSpPr>
        <p:spPr>
          <a:xfrm>
            <a:off x="6764406" y="1122562"/>
            <a:ext cx="690074" cy="307777"/>
          </a:xfrm>
          <a:prstGeom prst="rect">
            <a:avLst/>
          </a:prstGeom>
          <a:noFill/>
        </p:spPr>
        <p:txBody>
          <a:bodyPr wrap="square">
            <a:spAutoFit/>
          </a:bodyPr>
          <a:lstStyle/>
          <a:p>
            <a:r>
              <a:rPr lang="fr-FR" b="1" dirty="0">
                <a:solidFill>
                  <a:srgbClr val="374151"/>
                </a:solidFill>
                <a:highlight>
                  <a:srgbClr val="53CFA2"/>
                </a:highlight>
                <a:latin typeface="Söhne"/>
              </a:rPr>
              <a:t>SHAP</a:t>
            </a:r>
            <a:endParaRPr lang="fr-FR" dirty="0">
              <a:highlight>
                <a:srgbClr val="53CFA2"/>
              </a:highlight>
            </a:endParaRPr>
          </a:p>
        </p:txBody>
      </p:sp>
      <p:sp>
        <p:nvSpPr>
          <p:cNvPr id="10" name="ZoneTexte 9">
            <a:extLst>
              <a:ext uri="{FF2B5EF4-FFF2-40B4-BE49-F238E27FC236}">
                <a16:creationId xmlns:a16="http://schemas.microsoft.com/office/drawing/2014/main" id="{E7793D97-C031-1EA9-A727-DBE8638FB83D}"/>
              </a:ext>
            </a:extLst>
          </p:cNvPr>
          <p:cNvSpPr txBox="1"/>
          <p:nvPr/>
        </p:nvSpPr>
        <p:spPr>
          <a:xfrm>
            <a:off x="204770" y="1398149"/>
            <a:ext cx="2620100" cy="307777"/>
          </a:xfrm>
          <a:prstGeom prst="rect">
            <a:avLst/>
          </a:prstGeom>
          <a:noFill/>
        </p:spPr>
        <p:txBody>
          <a:bodyPr wrap="square">
            <a:spAutoFit/>
          </a:bodyPr>
          <a:lstStyle/>
          <a:p>
            <a:r>
              <a:rPr lang="en-GB" b="1" dirty="0" err="1">
                <a:solidFill>
                  <a:srgbClr val="374151"/>
                </a:solidFill>
                <a:highlight>
                  <a:srgbClr val="53CFA2"/>
                </a:highlight>
                <a:latin typeface="Söhne"/>
              </a:rPr>
              <a:t>RandomForestRegressor</a:t>
            </a:r>
            <a:r>
              <a:rPr lang="en-GB" b="1" dirty="0">
                <a:solidFill>
                  <a:srgbClr val="374151"/>
                </a:solidFill>
                <a:highlight>
                  <a:srgbClr val="53CFA2"/>
                </a:highlight>
                <a:latin typeface="Söhne"/>
              </a:rPr>
              <a:t> </a:t>
            </a:r>
            <a:endParaRPr lang="fr-FR" b="1" dirty="0">
              <a:solidFill>
                <a:srgbClr val="374151"/>
              </a:solidFill>
              <a:highlight>
                <a:srgbClr val="53CFA2"/>
              </a:highlight>
              <a:latin typeface="Söhne"/>
            </a:endParaRPr>
          </a:p>
        </p:txBody>
      </p:sp>
      <p:pic>
        <p:nvPicPr>
          <p:cNvPr id="2" name="Picture 1" descr="A picture containing text, screenshot&#10;&#10;Description automatically generated">
            <a:extLst>
              <a:ext uri="{FF2B5EF4-FFF2-40B4-BE49-F238E27FC236}">
                <a16:creationId xmlns:a16="http://schemas.microsoft.com/office/drawing/2014/main" id="{DF549BB9-7E81-C6E2-6C32-034A7F16A330}"/>
              </a:ext>
            </a:extLst>
          </p:cNvPr>
          <p:cNvPicPr>
            <a:picLocks noChangeAspect="1"/>
          </p:cNvPicPr>
          <p:nvPr/>
        </p:nvPicPr>
        <p:blipFill>
          <a:blip r:embed="rId4"/>
          <a:stretch>
            <a:fillRect/>
          </a:stretch>
        </p:blipFill>
        <p:spPr>
          <a:xfrm>
            <a:off x="0" y="1993561"/>
            <a:ext cx="4514376" cy="2720381"/>
          </a:xfrm>
          <a:prstGeom prst="rect">
            <a:avLst/>
          </a:prstGeom>
        </p:spPr>
      </p:pic>
      <p:sp>
        <p:nvSpPr>
          <p:cNvPr id="11" name="Oval 10">
            <a:extLst>
              <a:ext uri="{FF2B5EF4-FFF2-40B4-BE49-F238E27FC236}">
                <a16:creationId xmlns:a16="http://schemas.microsoft.com/office/drawing/2014/main" id="{C0D06B67-C2CB-03D3-1B07-78078117B668}"/>
              </a:ext>
            </a:extLst>
          </p:cNvPr>
          <p:cNvSpPr/>
          <p:nvPr/>
        </p:nvSpPr>
        <p:spPr>
          <a:xfrm>
            <a:off x="657287" y="2324188"/>
            <a:ext cx="879188" cy="96561"/>
          </a:xfrm>
          <a:prstGeom prst="ellipse">
            <a:avLst/>
          </a:prstGeom>
          <a:noFill/>
          <a:ln>
            <a:solidFill>
              <a:srgbClr val="00B0F0">
                <a:alpha val="5098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 name="Oval 3">
            <a:extLst>
              <a:ext uri="{FF2B5EF4-FFF2-40B4-BE49-F238E27FC236}">
                <a16:creationId xmlns:a16="http://schemas.microsoft.com/office/drawing/2014/main" id="{1043EA23-8965-F9F7-75B8-C0C9220DC0BC}"/>
              </a:ext>
            </a:extLst>
          </p:cNvPr>
          <p:cNvSpPr/>
          <p:nvPr/>
        </p:nvSpPr>
        <p:spPr>
          <a:xfrm>
            <a:off x="5527800" y="2695292"/>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5" name="Oval 4">
            <a:extLst>
              <a:ext uri="{FF2B5EF4-FFF2-40B4-BE49-F238E27FC236}">
                <a16:creationId xmlns:a16="http://schemas.microsoft.com/office/drawing/2014/main" id="{7F74EB67-B0E2-5C91-EA40-BE8BA01D47AA}"/>
              </a:ext>
            </a:extLst>
          </p:cNvPr>
          <p:cNvSpPr/>
          <p:nvPr/>
        </p:nvSpPr>
        <p:spPr>
          <a:xfrm>
            <a:off x="725978" y="2405553"/>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7" name="Oval 6">
            <a:extLst>
              <a:ext uri="{FF2B5EF4-FFF2-40B4-BE49-F238E27FC236}">
                <a16:creationId xmlns:a16="http://schemas.microsoft.com/office/drawing/2014/main" id="{E58AA63B-343C-6930-4F1B-72B5BBC51D38}"/>
              </a:ext>
            </a:extLst>
          </p:cNvPr>
          <p:cNvSpPr/>
          <p:nvPr/>
        </p:nvSpPr>
        <p:spPr>
          <a:xfrm>
            <a:off x="763602" y="2789749"/>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Oval 11">
            <a:extLst>
              <a:ext uri="{FF2B5EF4-FFF2-40B4-BE49-F238E27FC236}">
                <a16:creationId xmlns:a16="http://schemas.microsoft.com/office/drawing/2014/main" id="{57019F0D-847B-4F09-8D1A-871E8F8DCE51}"/>
              </a:ext>
            </a:extLst>
          </p:cNvPr>
          <p:cNvSpPr/>
          <p:nvPr/>
        </p:nvSpPr>
        <p:spPr>
          <a:xfrm>
            <a:off x="763601" y="2871114"/>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Oval 12">
            <a:extLst>
              <a:ext uri="{FF2B5EF4-FFF2-40B4-BE49-F238E27FC236}">
                <a16:creationId xmlns:a16="http://schemas.microsoft.com/office/drawing/2014/main" id="{66C214F0-5CF6-76C5-4921-565165CF9C83}"/>
              </a:ext>
            </a:extLst>
          </p:cNvPr>
          <p:cNvSpPr/>
          <p:nvPr/>
        </p:nvSpPr>
        <p:spPr>
          <a:xfrm>
            <a:off x="725977" y="3945104"/>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4" name="Oval 13">
            <a:extLst>
              <a:ext uri="{FF2B5EF4-FFF2-40B4-BE49-F238E27FC236}">
                <a16:creationId xmlns:a16="http://schemas.microsoft.com/office/drawing/2014/main" id="{D190808B-7A15-C103-2FAC-4C3C77710B0A}"/>
              </a:ext>
            </a:extLst>
          </p:cNvPr>
          <p:cNvSpPr/>
          <p:nvPr/>
        </p:nvSpPr>
        <p:spPr>
          <a:xfrm>
            <a:off x="725976" y="3655284"/>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5" name="Oval 14">
            <a:extLst>
              <a:ext uri="{FF2B5EF4-FFF2-40B4-BE49-F238E27FC236}">
                <a16:creationId xmlns:a16="http://schemas.microsoft.com/office/drawing/2014/main" id="{426B474F-3587-5CD7-39FA-474D014A0370}"/>
              </a:ext>
            </a:extLst>
          </p:cNvPr>
          <p:cNvSpPr/>
          <p:nvPr/>
        </p:nvSpPr>
        <p:spPr>
          <a:xfrm>
            <a:off x="725975" y="4520819"/>
            <a:ext cx="741805" cy="96561"/>
          </a:xfrm>
          <a:prstGeom prst="ellipse">
            <a:avLst/>
          </a:prstGeom>
          <a:noFill/>
          <a:ln>
            <a:solidFill>
              <a:srgbClr val="00B0F0">
                <a:alpha val="59834"/>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7" name="Oval 16">
            <a:extLst>
              <a:ext uri="{FF2B5EF4-FFF2-40B4-BE49-F238E27FC236}">
                <a16:creationId xmlns:a16="http://schemas.microsoft.com/office/drawing/2014/main" id="{072301AC-4507-254C-5416-AC4BCC86627A}"/>
              </a:ext>
            </a:extLst>
          </p:cNvPr>
          <p:cNvSpPr/>
          <p:nvPr/>
        </p:nvSpPr>
        <p:spPr>
          <a:xfrm>
            <a:off x="5534020" y="4650127"/>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8" name="Oval 17">
            <a:extLst>
              <a:ext uri="{FF2B5EF4-FFF2-40B4-BE49-F238E27FC236}">
                <a16:creationId xmlns:a16="http://schemas.microsoft.com/office/drawing/2014/main" id="{1A687C56-9578-D812-F204-F9B5C542D83A}"/>
              </a:ext>
            </a:extLst>
          </p:cNvPr>
          <p:cNvSpPr/>
          <p:nvPr/>
        </p:nvSpPr>
        <p:spPr>
          <a:xfrm>
            <a:off x="5546964" y="2053715"/>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9" name="Oval 18">
            <a:extLst>
              <a:ext uri="{FF2B5EF4-FFF2-40B4-BE49-F238E27FC236}">
                <a16:creationId xmlns:a16="http://schemas.microsoft.com/office/drawing/2014/main" id="{F6CFA528-E9C6-5882-5F40-37C6A650A237}"/>
              </a:ext>
            </a:extLst>
          </p:cNvPr>
          <p:cNvSpPr/>
          <p:nvPr/>
        </p:nvSpPr>
        <p:spPr>
          <a:xfrm>
            <a:off x="5565625" y="3188802"/>
            <a:ext cx="1041400" cy="16494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9" name="Google Shape;359;p42"/>
          <p:cNvSpPr txBox="1">
            <a:spLocks noGrp="1"/>
          </p:cNvSpPr>
          <p:nvPr>
            <p:ph type="title"/>
          </p:nvPr>
        </p:nvSpPr>
        <p:spPr>
          <a:xfrm>
            <a:off x="1371600" y="213162"/>
            <a:ext cx="705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Impact de </a:t>
            </a:r>
            <a:r>
              <a:rPr lang="en-GB" sz="2400" dirty="0" err="1"/>
              <a:t>l'energieSTARScore</a:t>
            </a:r>
            <a:r>
              <a:rPr lang="en-GB" sz="2400" dirty="0"/>
              <a:t> sur la </a:t>
            </a:r>
            <a:r>
              <a:rPr lang="en-GB" sz="2400" dirty="0" err="1"/>
              <a:t>précision</a:t>
            </a:r>
            <a:r>
              <a:rPr lang="en-GB" sz="2400" dirty="0"/>
              <a:t> des </a:t>
            </a:r>
            <a:r>
              <a:rPr lang="en-GB" sz="2400" dirty="0" err="1"/>
              <a:t>prédictions</a:t>
            </a:r>
            <a:endParaRPr lang="en-GB" sz="2400" dirty="0"/>
          </a:p>
        </p:txBody>
      </p:sp>
      <p:sp>
        <p:nvSpPr>
          <p:cNvPr id="35" name="Google Shape;413;p43">
            <a:extLst>
              <a:ext uri="{FF2B5EF4-FFF2-40B4-BE49-F238E27FC236}">
                <a16:creationId xmlns:a16="http://schemas.microsoft.com/office/drawing/2014/main" id="{C477E589-D104-EE65-B995-958461C525BA}"/>
              </a:ext>
            </a:extLst>
          </p:cNvPr>
          <p:cNvSpPr txBox="1"/>
          <p:nvPr/>
        </p:nvSpPr>
        <p:spPr>
          <a:xfrm flipH="1">
            <a:off x="7302516" y="425039"/>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36" name="Google Shape;414;p43">
            <a:extLst>
              <a:ext uri="{FF2B5EF4-FFF2-40B4-BE49-F238E27FC236}">
                <a16:creationId xmlns:a16="http://schemas.microsoft.com/office/drawing/2014/main" id="{4CC3BE87-0E2E-72B6-115E-85AFD6DEF6A0}"/>
              </a:ext>
            </a:extLst>
          </p:cNvPr>
          <p:cNvSpPr txBox="1"/>
          <p:nvPr/>
        </p:nvSpPr>
        <p:spPr>
          <a:xfrm flipH="1">
            <a:off x="7331700" y="802762"/>
            <a:ext cx="1812300"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Intérêt de l’</a:t>
            </a:r>
            <a:r>
              <a:rPr lang="fr-FR" sz="1200" dirty="0" err="1">
                <a:solidFill>
                  <a:schemeClr val="dk1"/>
                </a:solidFill>
                <a:latin typeface="Quicksand Medium"/>
              </a:rPr>
              <a:t>energieSTARScore</a:t>
            </a:r>
            <a:endParaRPr lang="fr-FR" sz="1200" dirty="0">
              <a:solidFill>
                <a:srgbClr val="FF0000"/>
              </a:solidFill>
            </a:endParaRPr>
          </a:p>
        </p:txBody>
      </p:sp>
      <p:pic>
        <p:nvPicPr>
          <p:cNvPr id="5" name="Picture 4" descr="A graph of different colored squares&#10;&#10;Description automatically generated">
            <a:extLst>
              <a:ext uri="{FF2B5EF4-FFF2-40B4-BE49-F238E27FC236}">
                <a16:creationId xmlns:a16="http://schemas.microsoft.com/office/drawing/2014/main" id="{DA637D19-E00B-D19A-CBE5-1AFD8E9E9844}"/>
              </a:ext>
            </a:extLst>
          </p:cNvPr>
          <p:cNvPicPr>
            <a:picLocks noChangeAspect="1"/>
          </p:cNvPicPr>
          <p:nvPr/>
        </p:nvPicPr>
        <p:blipFill>
          <a:blip r:embed="rId3"/>
          <a:stretch>
            <a:fillRect/>
          </a:stretch>
        </p:blipFill>
        <p:spPr>
          <a:xfrm>
            <a:off x="465450" y="1061016"/>
            <a:ext cx="7772400" cy="257158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F9B5E34E-5C9A-78E3-E32E-B0FA9D3A549A}"/>
              </a:ext>
            </a:extLst>
          </p:cNvPr>
          <p:cNvPicPr>
            <a:picLocks noChangeAspect="1"/>
          </p:cNvPicPr>
          <p:nvPr/>
        </p:nvPicPr>
        <p:blipFill>
          <a:blip r:embed="rId4"/>
          <a:stretch>
            <a:fillRect/>
          </a:stretch>
        </p:blipFill>
        <p:spPr>
          <a:xfrm>
            <a:off x="162502" y="3479340"/>
            <a:ext cx="7365349" cy="1572450"/>
          </a:xfrm>
          <a:prstGeom prst="rect">
            <a:avLst/>
          </a:prstGeom>
        </p:spPr>
      </p:pic>
      <p:sp>
        <p:nvSpPr>
          <p:cNvPr id="20" name="ZoneTexte 9">
            <a:extLst>
              <a:ext uri="{FF2B5EF4-FFF2-40B4-BE49-F238E27FC236}">
                <a16:creationId xmlns:a16="http://schemas.microsoft.com/office/drawing/2014/main" id="{28CBDE99-B45C-3443-3EB3-E6B7851F78FF}"/>
              </a:ext>
            </a:extLst>
          </p:cNvPr>
          <p:cNvSpPr txBox="1"/>
          <p:nvPr/>
        </p:nvSpPr>
        <p:spPr>
          <a:xfrm>
            <a:off x="-122077" y="1020652"/>
            <a:ext cx="3804339" cy="307777"/>
          </a:xfrm>
          <a:prstGeom prst="rect">
            <a:avLst/>
          </a:prstGeom>
          <a:noFill/>
        </p:spPr>
        <p:txBody>
          <a:bodyPr wrap="square">
            <a:spAutoFit/>
          </a:bodyPr>
          <a:lstStyle/>
          <a:p>
            <a:r>
              <a:rPr lang="en-GB" b="1" dirty="0">
                <a:solidFill>
                  <a:srgbClr val="374151"/>
                </a:solidFill>
                <a:highlight>
                  <a:srgbClr val="53CFA2"/>
                </a:highlight>
                <a:latin typeface="Söhne"/>
              </a:rPr>
              <a:t>Meilleur </a:t>
            </a:r>
            <a:r>
              <a:rPr lang="en-GB" b="1" dirty="0" err="1">
                <a:solidFill>
                  <a:srgbClr val="374151"/>
                </a:solidFill>
                <a:highlight>
                  <a:srgbClr val="53CFA2"/>
                </a:highlight>
                <a:latin typeface="Söhne"/>
              </a:rPr>
              <a:t>modèle</a:t>
            </a:r>
            <a:r>
              <a:rPr lang="en-GB" b="1" dirty="0">
                <a:solidFill>
                  <a:srgbClr val="374151"/>
                </a:solidFill>
                <a:highlight>
                  <a:srgbClr val="53CFA2"/>
                </a:highlight>
                <a:latin typeface="Söhne"/>
              </a:rPr>
              <a:t> avec </a:t>
            </a:r>
            <a:r>
              <a:rPr lang="en-GB" b="1" dirty="0" err="1">
                <a:solidFill>
                  <a:srgbClr val="374151"/>
                </a:solidFill>
                <a:highlight>
                  <a:srgbClr val="53CFA2"/>
                </a:highlight>
                <a:latin typeface="Söhne"/>
              </a:rPr>
              <a:t>l’energieSTARSCORE</a:t>
            </a:r>
            <a:r>
              <a:rPr lang="en-GB" b="1" dirty="0">
                <a:solidFill>
                  <a:srgbClr val="374151"/>
                </a:solidFill>
                <a:highlight>
                  <a:srgbClr val="53CFA2"/>
                </a:highlight>
                <a:latin typeface="Söhne"/>
              </a:rPr>
              <a:t> </a:t>
            </a:r>
            <a:endParaRPr lang="fr-FR" b="1" dirty="0">
              <a:solidFill>
                <a:srgbClr val="374151"/>
              </a:solidFill>
              <a:highlight>
                <a:srgbClr val="53CFA2"/>
              </a:highlight>
              <a:latin typeface="Söhne"/>
            </a:endParaRPr>
          </a:p>
        </p:txBody>
      </p:sp>
      <p:sp>
        <p:nvSpPr>
          <p:cNvPr id="11" name="Oval 10">
            <a:extLst>
              <a:ext uri="{FF2B5EF4-FFF2-40B4-BE49-F238E27FC236}">
                <a16:creationId xmlns:a16="http://schemas.microsoft.com/office/drawing/2014/main" id="{D8ACB195-AA35-8C5A-041E-82C686FB28E7}"/>
              </a:ext>
            </a:extLst>
          </p:cNvPr>
          <p:cNvSpPr/>
          <p:nvPr/>
        </p:nvSpPr>
        <p:spPr>
          <a:xfrm>
            <a:off x="3679309" y="4518755"/>
            <a:ext cx="518160" cy="533035"/>
          </a:xfrm>
          <a:prstGeom prst="ellipse">
            <a:avLst/>
          </a:prstGeom>
          <a:noFill/>
          <a:ln w="76200">
            <a:solidFill>
              <a:srgbClr val="FFE1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2" name="Rectangle 11">
            <a:extLst>
              <a:ext uri="{FF2B5EF4-FFF2-40B4-BE49-F238E27FC236}">
                <a16:creationId xmlns:a16="http://schemas.microsoft.com/office/drawing/2014/main" id="{F990683B-024C-4386-90EC-360985D38A88}"/>
              </a:ext>
            </a:extLst>
          </p:cNvPr>
          <p:cNvSpPr/>
          <p:nvPr/>
        </p:nvSpPr>
        <p:spPr>
          <a:xfrm>
            <a:off x="0" y="4518755"/>
            <a:ext cx="1426220" cy="533035"/>
          </a:xfrm>
          <a:prstGeom prst="rect">
            <a:avLst/>
          </a:prstGeom>
          <a:noFill/>
          <a:ln w="76200">
            <a:solidFill>
              <a:srgbClr val="FFE1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13" name="ZoneTexte 9">
            <a:extLst>
              <a:ext uri="{FF2B5EF4-FFF2-40B4-BE49-F238E27FC236}">
                <a16:creationId xmlns:a16="http://schemas.microsoft.com/office/drawing/2014/main" id="{16AE9F6B-7956-75AB-1CAF-DC062CE8F5C1}"/>
              </a:ext>
            </a:extLst>
          </p:cNvPr>
          <p:cNvSpPr txBox="1"/>
          <p:nvPr/>
        </p:nvSpPr>
        <p:spPr>
          <a:xfrm>
            <a:off x="4537800" y="4789128"/>
            <a:ext cx="5355118" cy="307777"/>
          </a:xfrm>
          <a:prstGeom prst="rect">
            <a:avLst/>
          </a:prstGeom>
          <a:noFill/>
        </p:spPr>
        <p:txBody>
          <a:bodyPr wrap="square">
            <a:spAutoFit/>
          </a:bodyPr>
          <a:lstStyle/>
          <a:p>
            <a:r>
              <a:rPr lang="en-GB" b="1" dirty="0" err="1">
                <a:solidFill>
                  <a:srgbClr val="374151"/>
                </a:solidFill>
                <a:highlight>
                  <a:srgbClr val="53CFA2"/>
                </a:highlight>
                <a:latin typeface="Söhne"/>
              </a:rPr>
              <a:t>Résultat</a:t>
            </a:r>
            <a:r>
              <a:rPr lang="en-GB" b="1" dirty="0">
                <a:solidFill>
                  <a:srgbClr val="374151"/>
                </a:solidFill>
                <a:highlight>
                  <a:srgbClr val="53CFA2"/>
                </a:highlight>
                <a:latin typeface="Söhne"/>
              </a:rPr>
              <a:t> </a:t>
            </a:r>
            <a:r>
              <a:rPr lang="en-GB" b="1" dirty="0" err="1">
                <a:solidFill>
                  <a:srgbClr val="374151"/>
                </a:solidFill>
                <a:highlight>
                  <a:srgbClr val="53CFA2"/>
                </a:highlight>
                <a:latin typeface="Söhne"/>
              </a:rPr>
              <a:t>légèrement</a:t>
            </a:r>
            <a:r>
              <a:rPr lang="en-GB" b="1" dirty="0">
                <a:solidFill>
                  <a:srgbClr val="374151"/>
                </a:solidFill>
                <a:highlight>
                  <a:srgbClr val="53CFA2"/>
                </a:highlight>
                <a:latin typeface="Söhne"/>
              </a:rPr>
              <a:t> </a:t>
            </a:r>
            <a:r>
              <a:rPr lang="en-GB" b="1" dirty="0" err="1">
                <a:solidFill>
                  <a:srgbClr val="374151"/>
                </a:solidFill>
                <a:highlight>
                  <a:srgbClr val="53CFA2"/>
                </a:highlight>
                <a:latin typeface="Söhne"/>
              </a:rPr>
              <a:t>meilleur</a:t>
            </a:r>
            <a:r>
              <a:rPr lang="en-GB" b="1" dirty="0">
                <a:solidFill>
                  <a:srgbClr val="374151"/>
                </a:solidFill>
                <a:highlight>
                  <a:srgbClr val="53CFA2"/>
                </a:highlight>
                <a:latin typeface="Söhne"/>
              </a:rPr>
              <a:t> </a:t>
            </a:r>
            <a:r>
              <a:rPr lang="en-GB" b="1" dirty="0" err="1">
                <a:solidFill>
                  <a:srgbClr val="374151"/>
                </a:solidFill>
                <a:highlight>
                  <a:srgbClr val="53CFA2"/>
                </a:highlight>
                <a:latin typeface="Söhne"/>
              </a:rPr>
              <a:t>qu’avant</a:t>
            </a:r>
            <a:r>
              <a:rPr lang="en-GB" b="1" dirty="0">
                <a:solidFill>
                  <a:srgbClr val="374151"/>
                </a:solidFill>
                <a:highlight>
                  <a:srgbClr val="53CFA2"/>
                </a:highlight>
                <a:latin typeface="Söhne"/>
              </a:rPr>
              <a:t> le feature engineering</a:t>
            </a:r>
            <a:endParaRPr lang="fr-FR" b="1" dirty="0">
              <a:solidFill>
                <a:srgbClr val="374151"/>
              </a:solidFill>
              <a:highlight>
                <a:srgbClr val="53CFA2"/>
              </a:highlight>
              <a:latin typeface="Söhne"/>
            </a:endParaRPr>
          </a:p>
        </p:txBody>
      </p:sp>
      <p:pic>
        <p:nvPicPr>
          <p:cNvPr id="30" name="Graphic 29" descr="Magnifying glass with solid fill">
            <a:extLst>
              <a:ext uri="{FF2B5EF4-FFF2-40B4-BE49-F238E27FC236}">
                <a16:creationId xmlns:a16="http://schemas.microsoft.com/office/drawing/2014/main" id="{D0E2EEBA-BC1A-E6B4-E0B2-0C9C1BC815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16150" y="1519547"/>
            <a:ext cx="914400" cy="914400"/>
          </a:xfrm>
          <a:prstGeom prst="rect">
            <a:avLst/>
          </a:prstGeom>
        </p:spPr>
      </p:pic>
      <p:pic>
        <p:nvPicPr>
          <p:cNvPr id="32" name="Graphic 31" descr="Magnifying glass with solid fill">
            <a:extLst>
              <a:ext uri="{FF2B5EF4-FFF2-40B4-BE49-F238E27FC236}">
                <a16:creationId xmlns:a16="http://schemas.microsoft.com/office/drawing/2014/main" id="{EB225661-69EF-EF48-F3A9-751742400F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3451" y="1459422"/>
            <a:ext cx="914400" cy="914400"/>
          </a:xfrm>
          <a:prstGeom prst="rect">
            <a:avLst/>
          </a:prstGeom>
        </p:spPr>
      </p:pic>
      <p:sp>
        <p:nvSpPr>
          <p:cNvPr id="33" name="TextBox 32">
            <a:extLst>
              <a:ext uri="{FF2B5EF4-FFF2-40B4-BE49-F238E27FC236}">
                <a16:creationId xmlns:a16="http://schemas.microsoft.com/office/drawing/2014/main" id="{00FA3853-30CE-9D08-201D-8734C1234E4F}"/>
              </a:ext>
            </a:extLst>
          </p:cNvPr>
          <p:cNvSpPr txBox="1"/>
          <p:nvPr/>
        </p:nvSpPr>
        <p:spPr>
          <a:xfrm>
            <a:off x="665066" y="2040825"/>
            <a:ext cx="1314642" cy="523220"/>
          </a:xfrm>
          <a:prstGeom prst="rect">
            <a:avLst/>
          </a:prstGeom>
          <a:noFill/>
        </p:spPr>
        <p:txBody>
          <a:bodyPr wrap="square" rtlCol="0">
            <a:spAutoFit/>
          </a:bodyPr>
          <a:lstStyle/>
          <a:p>
            <a:r>
              <a:rPr lang="en-US" dirty="0">
                <a:highlight>
                  <a:srgbClr val="FF0000"/>
                </a:highlight>
              </a:rPr>
              <a:t>Avant feature engineering</a:t>
            </a:r>
          </a:p>
        </p:txBody>
      </p:sp>
      <p:sp>
        <p:nvSpPr>
          <p:cNvPr id="34" name="TextBox 33">
            <a:extLst>
              <a:ext uri="{FF2B5EF4-FFF2-40B4-BE49-F238E27FC236}">
                <a16:creationId xmlns:a16="http://schemas.microsoft.com/office/drawing/2014/main" id="{BAE63828-F57B-D3C0-17F2-A40717FE4795}"/>
              </a:ext>
            </a:extLst>
          </p:cNvPr>
          <p:cNvSpPr txBox="1"/>
          <p:nvPr/>
        </p:nvSpPr>
        <p:spPr>
          <a:xfrm>
            <a:off x="7302516" y="2185435"/>
            <a:ext cx="1812299" cy="954107"/>
          </a:xfrm>
          <a:prstGeom prst="rect">
            <a:avLst/>
          </a:prstGeom>
          <a:noFill/>
        </p:spPr>
        <p:txBody>
          <a:bodyPr wrap="square" rtlCol="0">
            <a:spAutoFit/>
          </a:bodyPr>
          <a:lstStyle/>
          <a:p>
            <a:r>
              <a:rPr lang="en-US" dirty="0">
                <a:highlight>
                  <a:srgbClr val="FF0000"/>
                </a:highlight>
              </a:rPr>
              <a:t>feature engineering </a:t>
            </a:r>
          </a:p>
          <a:p>
            <a:r>
              <a:rPr lang="en-US" dirty="0">
                <a:highlight>
                  <a:srgbClr val="FF0000"/>
                </a:highlight>
              </a:rPr>
              <a:t>type </a:t>
            </a:r>
            <a:r>
              <a:rPr lang="en-US" dirty="0" err="1">
                <a:highlight>
                  <a:srgbClr val="FF0000"/>
                </a:highlight>
              </a:rPr>
              <a:t>énergie</a:t>
            </a:r>
            <a:r>
              <a:rPr lang="en-US" dirty="0">
                <a:highlight>
                  <a:srgbClr val="FF0000"/>
                </a:highlight>
              </a:rPr>
              <a:t> + distance  </a:t>
            </a:r>
            <a:r>
              <a:rPr lang="en-US" dirty="0" err="1">
                <a:highlight>
                  <a:srgbClr val="FF0000"/>
                </a:highlight>
              </a:rPr>
              <a:t>centre-ville</a:t>
            </a:r>
            <a:endParaRPr lang="en-US" dirty="0">
              <a:highlight>
                <a:srgbClr val="FF0000"/>
              </a:highlight>
            </a:endParaRPr>
          </a:p>
          <a:p>
            <a:r>
              <a:rPr lang="en-US" dirty="0">
                <a:highlight>
                  <a:srgbClr val="FF0000"/>
                </a:highlight>
              </a:rPr>
              <a:t>+</a:t>
            </a:r>
            <a:r>
              <a:rPr lang="en-US" dirty="0" err="1">
                <a:highlight>
                  <a:srgbClr val="FF0000"/>
                </a:highlight>
              </a:rPr>
              <a:t>EnergystarScore</a:t>
            </a:r>
            <a:endParaRPr lang="en-US" dirty="0">
              <a:highlight>
                <a:srgbClr val="FF0000"/>
              </a:highlight>
            </a:endParaRPr>
          </a:p>
        </p:txBody>
      </p:sp>
      <p:sp>
        <p:nvSpPr>
          <p:cNvPr id="37" name="TextBox 36">
            <a:extLst>
              <a:ext uri="{FF2B5EF4-FFF2-40B4-BE49-F238E27FC236}">
                <a16:creationId xmlns:a16="http://schemas.microsoft.com/office/drawing/2014/main" id="{BA5B01D9-5AC6-357C-3B73-18D37B9F7EA0}"/>
              </a:ext>
            </a:extLst>
          </p:cNvPr>
          <p:cNvSpPr txBox="1"/>
          <p:nvPr/>
        </p:nvSpPr>
        <p:spPr>
          <a:xfrm>
            <a:off x="2365567" y="2801957"/>
            <a:ext cx="2627483" cy="523220"/>
          </a:xfrm>
          <a:prstGeom prst="rect">
            <a:avLst/>
          </a:prstGeom>
          <a:noFill/>
        </p:spPr>
        <p:txBody>
          <a:bodyPr wrap="square" rtlCol="0">
            <a:spAutoFit/>
          </a:bodyPr>
          <a:lstStyle/>
          <a:p>
            <a:r>
              <a:rPr lang="en-US" dirty="0">
                <a:highlight>
                  <a:srgbClr val="FF0000"/>
                </a:highlight>
              </a:rPr>
              <a:t>feature engineering </a:t>
            </a:r>
          </a:p>
          <a:p>
            <a:r>
              <a:rPr lang="en-US" dirty="0">
                <a:highlight>
                  <a:srgbClr val="FF0000"/>
                </a:highlight>
              </a:rPr>
              <a:t>type </a:t>
            </a:r>
            <a:r>
              <a:rPr lang="en-US" dirty="0" err="1">
                <a:highlight>
                  <a:srgbClr val="FF0000"/>
                </a:highlight>
              </a:rPr>
              <a:t>énergie</a:t>
            </a:r>
            <a:endParaRPr lang="en-US" dirty="0">
              <a:highlight>
                <a:srgbClr val="FF0000"/>
              </a:highlight>
            </a:endParaRPr>
          </a:p>
        </p:txBody>
      </p:sp>
      <p:sp>
        <p:nvSpPr>
          <p:cNvPr id="38" name="TextBox 37">
            <a:extLst>
              <a:ext uri="{FF2B5EF4-FFF2-40B4-BE49-F238E27FC236}">
                <a16:creationId xmlns:a16="http://schemas.microsoft.com/office/drawing/2014/main" id="{361C2ECE-25CA-2BB4-3B91-862AF75E3C98}"/>
              </a:ext>
            </a:extLst>
          </p:cNvPr>
          <p:cNvSpPr txBox="1"/>
          <p:nvPr/>
        </p:nvSpPr>
        <p:spPr>
          <a:xfrm>
            <a:off x="3941626" y="1745687"/>
            <a:ext cx="2627483" cy="738664"/>
          </a:xfrm>
          <a:prstGeom prst="rect">
            <a:avLst/>
          </a:prstGeom>
          <a:noFill/>
        </p:spPr>
        <p:txBody>
          <a:bodyPr wrap="square" rtlCol="0">
            <a:spAutoFit/>
          </a:bodyPr>
          <a:lstStyle/>
          <a:p>
            <a:r>
              <a:rPr lang="en-US" dirty="0">
                <a:highlight>
                  <a:srgbClr val="FF0000"/>
                </a:highlight>
              </a:rPr>
              <a:t>feature engineering </a:t>
            </a:r>
          </a:p>
          <a:p>
            <a:r>
              <a:rPr lang="en-US" dirty="0">
                <a:highlight>
                  <a:srgbClr val="FF0000"/>
                </a:highlight>
              </a:rPr>
              <a:t>type </a:t>
            </a:r>
            <a:r>
              <a:rPr lang="en-US" dirty="0" err="1">
                <a:highlight>
                  <a:srgbClr val="FF0000"/>
                </a:highlight>
              </a:rPr>
              <a:t>énergie</a:t>
            </a:r>
            <a:r>
              <a:rPr lang="en-US" dirty="0">
                <a:highlight>
                  <a:srgbClr val="FF0000"/>
                </a:highlight>
              </a:rPr>
              <a:t> + distance  </a:t>
            </a:r>
            <a:r>
              <a:rPr lang="en-US" dirty="0" err="1">
                <a:highlight>
                  <a:srgbClr val="FF0000"/>
                </a:highlight>
              </a:rPr>
              <a:t>centre-ville</a:t>
            </a:r>
            <a:endParaRPr lang="en-US" dirty="0">
              <a:highlight>
                <a:srgbClr val="FF0000"/>
              </a:highlight>
            </a:endParaRPr>
          </a:p>
        </p:txBody>
      </p:sp>
    </p:spTree>
    <p:extLst>
      <p:ext uri="{BB962C8B-B14F-4D97-AF65-F5344CB8AC3E}">
        <p14:creationId xmlns:p14="http://schemas.microsoft.com/office/powerpoint/2010/main" val="3925721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13;p31">
            <a:extLst>
              <a:ext uri="{FF2B5EF4-FFF2-40B4-BE49-F238E27FC236}">
                <a16:creationId xmlns:a16="http://schemas.microsoft.com/office/drawing/2014/main" id="{0AF65A34-78F7-77AC-E62A-E80A1ABFD1F5}"/>
              </a:ext>
            </a:extLst>
          </p:cNvPr>
          <p:cNvSpPr txBox="1">
            <a:spLocks noGrp="1"/>
          </p:cNvSpPr>
          <p:nvPr>
            <p:ph type="title"/>
          </p:nvPr>
        </p:nvSpPr>
        <p:spPr>
          <a:xfrm>
            <a:off x="720000" y="16162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dirty="0" err="1"/>
              <a:t>Interprétation</a:t>
            </a:r>
            <a:r>
              <a:rPr lang="en-GB" sz="1800" dirty="0"/>
              <a:t> des </a:t>
            </a:r>
            <a:r>
              <a:rPr lang="en-GB" sz="1800" dirty="0" err="1"/>
              <a:t>résultats</a:t>
            </a:r>
            <a:r>
              <a:rPr lang="en-GB" sz="1800" dirty="0"/>
              <a:t> et implications </a:t>
            </a:r>
            <a:br>
              <a:rPr lang="en-GB" sz="1800" dirty="0"/>
            </a:br>
            <a:r>
              <a:rPr lang="en-GB" sz="1800" dirty="0"/>
              <a:t>pour la </a:t>
            </a:r>
            <a:r>
              <a:rPr lang="en-GB" sz="1800" dirty="0" err="1"/>
              <a:t>prévision</a:t>
            </a:r>
            <a:r>
              <a:rPr lang="en-GB" sz="1800" dirty="0"/>
              <a:t> de </a:t>
            </a:r>
            <a:r>
              <a:rPr lang="en-GB" sz="1800" dirty="0" err="1"/>
              <a:t>l'émission</a:t>
            </a:r>
            <a:r>
              <a:rPr lang="en-GB" sz="1800" dirty="0"/>
              <a:t> de CO2 </a:t>
            </a:r>
            <a:br>
              <a:rPr lang="en-GB" sz="1800" dirty="0"/>
            </a:br>
            <a:r>
              <a:rPr lang="en-GB" sz="1800" dirty="0"/>
              <a:t>et de la </a:t>
            </a:r>
            <a:r>
              <a:rPr lang="en-GB" sz="1800" dirty="0" err="1"/>
              <a:t>consommation</a:t>
            </a:r>
            <a:r>
              <a:rPr lang="en-GB" sz="1800" dirty="0"/>
              <a:t> </a:t>
            </a:r>
            <a:r>
              <a:rPr lang="en-GB" sz="1800" dirty="0" err="1"/>
              <a:t>d'énergie</a:t>
            </a:r>
            <a:endParaRPr sz="1800" dirty="0"/>
          </a:p>
        </p:txBody>
      </p:sp>
      <p:sp>
        <p:nvSpPr>
          <p:cNvPr id="6" name="Google Shape;407;p43">
            <a:extLst>
              <a:ext uri="{FF2B5EF4-FFF2-40B4-BE49-F238E27FC236}">
                <a16:creationId xmlns:a16="http://schemas.microsoft.com/office/drawing/2014/main" id="{27E9C035-A2C5-AB28-13EE-86826E4A36CB}"/>
              </a:ext>
            </a:extLst>
          </p:cNvPr>
          <p:cNvSpPr txBox="1"/>
          <p:nvPr/>
        </p:nvSpPr>
        <p:spPr>
          <a:xfrm flipH="1">
            <a:off x="7319253" y="619091"/>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 </a:t>
            </a:r>
            <a:r>
              <a:rPr lang="en" sz="3500" dirty="0">
                <a:solidFill>
                  <a:schemeClr val="dk2"/>
                </a:solidFill>
                <a:latin typeface="Quicksand SemiBold"/>
                <a:ea typeface="Quicksand SemiBold"/>
                <a:cs typeface="Quicksand SemiBold"/>
                <a:sym typeface="Quicksand SemiBold"/>
              </a:rPr>
              <a:t>7</a:t>
            </a:r>
            <a:endParaRPr sz="3500" dirty="0">
              <a:solidFill>
                <a:schemeClr val="dk2"/>
              </a:solidFill>
              <a:latin typeface="Quicksand SemiBold"/>
              <a:ea typeface="Quicksand SemiBold"/>
              <a:cs typeface="Quicksand SemiBold"/>
              <a:sym typeface="Quicksand SemiBold"/>
            </a:endParaRPr>
          </a:p>
        </p:txBody>
      </p:sp>
      <p:sp>
        <p:nvSpPr>
          <p:cNvPr id="7" name="Google Shape;408;p43">
            <a:extLst>
              <a:ext uri="{FF2B5EF4-FFF2-40B4-BE49-F238E27FC236}">
                <a16:creationId xmlns:a16="http://schemas.microsoft.com/office/drawing/2014/main" id="{712429E8-F8E2-79BA-2D9A-512FA11439E2}"/>
              </a:ext>
            </a:extLst>
          </p:cNvPr>
          <p:cNvSpPr txBox="1"/>
          <p:nvPr/>
        </p:nvSpPr>
        <p:spPr>
          <a:xfrm flipH="1">
            <a:off x="7319253" y="967239"/>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err="1">
                <a:solidFill>
                  <a:schemeClr val="dk1"/>
                </a:solidFill>
                <a:latin typeface="Quicksand SemiBold"/>
                <a:ea typeface="Quicksand SemiBold"/>
                <a:cs typeface="Quicksand SemiBold"/>
                <a:sym typeface="Quicksand SemiBold"/>
              </a:rPr>
              <a:t>Synthèse</a:t>
            </a:r>
            <a:endParaRPr lang="fr-FR" sz="1200" dirty="0">
              <a:solidFill>
                <a:schemeClr val="dk1"/>
              </a:solidFill>
              <a:latin typeface="Quicksand Medium"/>
              <a:ea typeface="Quicksand Medium"/>
              <a:cs typeface="Quicksand Medium"/>
              <a:sym typeface="Quicksand Medium"/>
            </a:endParaRPr>
          </a:p>
        </p:txBody>
      </p:sp>
      <p:sp>
        <p:nvSpPr>
          <p:cNvPr id="4" name="Google Shape;561;p50">
            <a:extLst>
              <a:ext uri="{FF2B5EF4-FFF2-40B4-BE49-F238E27FC236}">
                <a16:creationId xmlns:a16="http://schemas.microsoft.com/office/drawing/2014/main" id="{13549C70-0673-22B1-6E9B-41F18F1E0C74}"/>
              </a:ext>
            </a:extLst>
          </p:cNvPr>
          <p:cNvSpPr txBox="1">
            <a:spLocks/>
          </p:cNvSpPr>
          <p:nvPr/>
        </p:nvSpPr>
        <p:spPr>
          <a:xfrm>
            <a:off x="836342" y="1287039"/>
            <a:ext cx="7041666" cy="27030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9pPr>
          </a:lstStyle>
          <a:p>
            <a:pPr marL="152400" indent="0">
              <a:buNone/>
            </a:pPr>
            <a:r>
              <a:rPr lang="en-US" b="1" dirty="0" err="1">
                <a:solidFill>
                  <a:srgbClr val="374151"/>
                </a:solidFill>
                <a:latin typeface="Söhne"/>
              </a:rPr>
              <a:t>Résultat</a:t>
            </a:r>
            <a:r>
              <a:rPr lang="en-US" b="1" dirty="0">
                <a:solidFill>
                  <a:srgbClr val="374151"/>
                </a:solidFill>
                <a:latin typeface="Söhne"/>
              </a:rPr>
              <a:t> </a:t>
            </a:r>
            <a:r>
              <a:rPr lang="en-US" b="1" dirty="0" err="1">
                <a:solidFill>
                  <a:srgbClr val="374151"/>
                </a:solidFill>
                <a:latin typeface="Söhne"/>
              </a:rPr>
              <a:t>modélisation</a:t>
            </a:r>
            <a:r>
              <a:rPr lang="en-US" b="1" dirty="0">
                <a:solidFill>
                  <a:srgbClr val="374151"/>
                </a:solidFill>
                <a:latin typeface="Söhne"/>
              </a:rPr>
              <a:t> </a:t>
            </a:r>
            <a:r>
              <a:rPr lang="en-US" b="1" dirty="0" err="1">
                <a:solidFill>
                  <a:srgbClr val="374151"/>
                </a:solidFill>
                <a:latin typeface="Söhne"/>
              </a:rPr>
              <a:t>prédiction</a:t>
            </a:r>
            <a:r>
              <a:rPr lang="en-US" b="1" dirty="0">
                <a:solidFill>
                  <a:srgbClr val="374151"/>
                </a:solidFill>
                <a:latin typeface="Söhne"/>
              </a:rPr>
              <a:t>:</a:t>
            </a:r>
            <a:endParaRPr lang="en-US" dirty="0">
              <a:solidFill>
                <a:srgbClr val="374151"/>
              </a:solidFill>
              <a:latin typeface="Söhne"/>
            </a:endParaRPr>
          </a:p>
          <a:p>
            <a:pPr lvl="1"/>
            <a:r>
              <a:rPr lang="fr-FR" dirty="0">
                <a:solidFill>
                  <a:srgbClr val="374151"/>
                </a:solidFill>
                <a:latin typeface="Söhne"/>
              </a:rPr>
              <a:t>Modèle développé basé sur les données relatives aux bâtiments.</a:t>
            </a:r>
          </a:p>
          <a:p>
            <a:pPr lvl="1"/>
            <a:r>
              <a:rPr lang="fr-FR" dirty="0">
                <a:solidFill>
                  <a:srgbClr val="374151"/>
                </a:solidFill>
                <a:latin typeface="Söhne"/>
              </a:rPr>
              <a:t>Précision du modèle assez élevée.</a:t>
            </a:r>
          </a:p>
          <a:p>
            <a:pPr lvl="1"/>
            <a:r>
              <a:rPr lang="fr-FR" dirty="0">
                <a:solidFill>
                  <a:srgbClr val="374151"/>
                </a:solidFill>
                <a:latin typeface="Söhne"/>
              </a:rPr>
              <a:t>Coût d'utilisation nettement inférieur à celui de l'ENERGYSTARSCORE.</a:t>
            </a:r>
          </a:p>
          <a:p>
            <a:pPr lvl="1"/>
            <a:r>
              <a:rPr lang="fr-FR" dirty="0">
                <a:solidFill>
                  <a:srgbClr val="374151"/>
                </a:solidFill>
                <a:latin typeface="Söhne"/>
              </a:rPr>
              <a:t>Prédiction rentable et efficace.</a:t>
            </a:r>
            <a:endParaRPr lang="en-US" dirty="0">
              <a:solidFill>
                <a:srgbClr val="374151"/>
              </a:solidFill>
              <a:latin typeface="Söhne"/>
            </a:endParaRPr>
          </a:p>
          <a:p>
            <a:r>
              <a:rPr lang="en-US" b="1" dirty="0" err="1">
                <a:solidFill>
                  <a:srgbClr val="374151"/>
                </a:solidFill>
                <a:latin typeface="Söhne"/>
              </a:rPr>
              <a:t>Limites</a:t>
            </a:r>
            <a:r>
              <a:rPr lang="en-US" b="1" dirty="0">
                <a:solidFill>
                  <a:srgbClr val="374151"/>
                </a:solidFill>
                <a:latin typeface="Söhne"/>
              </a:rPr>
              <a:t>:</a:t>
            </a:r>
            <a:r>
              <a:rPr lang="en-US" dirty="0">
                <a:solidFill>
                  <a:srgbClr val="374151"/>
                </a:solidFill>
                <a:latin typeface="Söhne"/>
              </a:rPr>
              <a:t> 	 </a:t>
            </a:r>
          </a:p>
          <a:p>
            <a:pPr lvl="1"/>
            <a:r>
              <a:rPr lang="en-US" dirty="0" err="1">
                <a:solidFill>
                  <a:srgbClr val="374151"/>
                </a:solidFill>
                <a:latin typeface="Söhne"/>
              </a:rPr>
              <a:t>Surapprentissage</a:t>
            </a:r>
            <a:r>
              <a:rPr lang="en-US" dirty="0">
                <a:solidFill>
                  <a:srgbClr val="374151"/>
                </a:solidFill>
                <a:latin typeface="Söhne"/>
              </a:rPr>
              <a:t> : Le </a:t>
            </a:r>
            <a:r>
              <a:rPr lang="en-US" dirty="0" err="1">
                <a:solidFill>
                  <a:srgbClr val="374151"/>
                </a:solidFill>
                <a:latin typeface="Söhne"/>
              </a:rPr>
              <a:t>risque</a:t>
            </a:r>
            <a:r>
              <a:rPr lang="en-US" dirty="0">
                <a:solidFill>
                  <a:srgbClr val="374151"/>
                </a:solidFill>
                <a:latin typeface="Söhne"/>
              </a:rPr>
              <a:t> de </a:t>
            </a:r>
            <a:r>
              <a:rPr lang="en-US" dirty="0" err="1">
                <a:solidFill>
                  <a:srgbClr val="374151"/>
                </a:solidFill>
                <a:latin typeface="Söhne"/>
              </a:rPr>
              <a:t>surapprentissage</a:t>
            </a:r>
            <a:r>
              <a:rPr lang="en-US" dirty="0">
                <a:solidFill>
                  <a:srgbClr val="374151"/>
                </a:solidFill>
                <a:latin typeface="Söhne"/>
              </a:rPr>
              <a:t> </a:t>
            </a:r>
            <a:r>
              <a:rPr lang="en-US" dirty="0" err="1">
                <a:solidFill>
                  <a:srgbClr val="374151"/>
                </a:solidFill>
                <a:latin typeface="Söhne"/>
              </a:rPr>
              <a:t>est</a:t>
            </a:r>
            <a:r>
              <a:rPr lang="en-US" dirty="0">
                <a:solidFill>
                  <a:srgbClr val="374151"/>
                </a:solidFill>
                <a:latin typeface="Söhne"/>
              </a:rPr>
              <a:t> </a:t>
            </a:r>
            <a:r>
              <a:rPr lang="en-US" dirty="0" err="1">
                <a:solidFill>
                  <a:srgbClr val="374151"/>
                </a:solidFill>
                <a:latin typeface="Söhne"/>
              </a:rPr>
              <a:t>présent</a:t>
            </a:r>
            <a:r>
              <a:rPr lang="en-US" dirty="0">
                <a:solidFill>
                  <a:srgbClr val="374151"/>
                </a:solidFill>
                <a:latin typeface="Söhne"/>
              </a:rPr>
              <a:t> - </a:t>
            </a:r>
            <a:r>
              <a:rPr lang="en-US" dirty="0" err="1">
                <a:solidFill>
                  <a:srgbClr val="374151"/>
                </a:solidFill>
                <a:latin typeface="Söhne"/>
              </a:rPr>
              <a:t>cela</a:t>
            </a:r>
            <a:r>
              <a:rPr lang="en-US" dirty="0">
                <a:solidFill>
                  <a:srgbClr val="374151"/>
                </a:solidFill>
                <a:latin typeface="Söhne"/>
              </a:rPr>
              <a:t> </a:t>
            </a:r>
            <a:r>
              <a:rPr lang="en-US" dirty="0" err="1">
                <a:solidFill>
                  <a:srgbClr val="374151"/>
                </a:solidFill>
                <a:latin typeface="Söhne"/>
              </a:rPr>
              <a:t>signifie</a:t>
            </a:r>
            <a:r>
              <a:rPr lang="en-US" dirty="0">
                <a:solidFill>
                  <a:srgbClr val="374151"/>
                </a:solidFill>
                <a:latin typeface="Söhne"/>
              </a:rPr>
              <a:t> que </a:t>
            </a:r>
            <a:r>
              <a:rPr lang="en-US" dirty="0" err="1">
                <a:solidFill>
                  <a:srgbClr val="374151"/>
                </a:solidFill>
                <a:latin typeface="Söhne"/>
              </a:rPr>
              <a:t>notre</a:t>
            </a:r>
            <a:r>
              <a:rPr lang="en-US" dirty="0">
                <a:solidFill>
                  <a:srgbClr val="374151"/>
                </a:solidFill>
                <a:latin typeface="Söhne"/>
              </a:rPr>
              <a:t> </a:t>
            </a:r>
            <a:r>
              <a:rPr lang="en-US" dirty="0" err="1">
                <a:solidFill>
                  <a:srgbClr val="374151"/>
                </a:solidFill>
                <a:latin typeface="Söhne"/>
              </a:rPr>
              <a:t>modèle</a:t>
            </a:r>
            <a:r>
              <a:rPr lang="en-US" dirty="0">
                <a:solidFill>
                  <a:srgbClr val="374151"/>
                </a:solidFill>
                <a:latin typeface="Söhne"/>
              </a:rPr>
              <a:t> a </a:t>
            </a:r>
            <a:r>
              <a:rPr lang="en-US" dirty="0" err="1">
                <a:solidFill>
                  <a:srgbClr val="374151"/>
                </a:solidFill>
                <a:latin typeface="Söhne"/>
              </a:rPr>
              <a:t>potentiellement</a:t>
            </a:r>
            <a:r>
              <a:rPr lang="en-US" dirty="0">
                <a:solidFill>
                  <a:srgbClr val="374151"/>
                </a:solidFill>
                <a:latin typeface="Söhne"/>
              </a:rPr>
              <a:t> </a:t>
            </a:r>
            <a:r>
              <a:rPr lang="en-US" dirty="0" err="1">
                <a:solidFill>
                  <a:srgbClr val="374151"/>
                </a:solidFill>
                <a:latin typeface="Söhne"/>
              </a:rPr>
              <a:t>intégré</a:t>
            </a:r>
            <a:r>
              <a:rPr lang="en-US" dirty="0">
                <a:solidFill>
                  <a:srgbClr val="374151"/>
                </a:solidFill>
                <a:latin typeface="Söhne"/>
              </a:rPr>
              <a:t> le bruit et les </a:t>
            </a:r>
            <a:r>
              <a:rPr lang="en-US" dirty="0" err="1">
                <a:solidFill>
                  <a:srgbClr val="374151"/>
                </a:solidFill>
                <a:latin typeface="Söhne"/>
              </a:rPr>
              <a:t>erreurs</a:t>
            </a:r>
            <a:r>
              <a:rPr lang="en-US" dirty="0">
                <a:solidFill>
                  <a:srgbClr val="374151"/>
                </a:solidFill>
                <a:latin typeface="Söhne"/>
              </a:rPr>
              <a:t> </a:t>
            </a:r>
            <a:r>
              <a:rPr lang="en-US" dirty="0" err="1">
                <a:solidFill>
                  <a:srgbClr val="374151"/>
                </a:solidFill>
                <a:latin typeface="Söhne"/>
              </a:rPr>
              <a:t>spécifiques</a:t>
            </a:r>
            <a:r>
              <a:rPr lang="en-US" dirty="0">
                <a:solidFill>
                  <a:srgbClr val="374151"/>
                </a:solidFill>
                <a:latin typeface="Söhne"/>
              </a:rPr>
              <a:t> aux </a:t>
            </a:r>
            <a:r>
              <a:rPr lang="en-US" dirty="0" err="1">
                <a:solidFill>
                  <a:srgbClr val="374151"/>
                </a:solidFill>
                <a:latin typeface="Söhne"/>
              </a:rPr>
              <a:t>données</a:t>
            </a:r>
            <a:r>
              <a:rPr lang="en-US" dirty="0">
                <a:solidFill>
                  <a:srgbClr val="374151"/>
                </a:solidFill>
                <a:latin typeface="Söhne"/>
              </a:rPr>
              <a:t> </a:t>
            </a:r>
            <a:r>
              <a:rPr lang="en-US" dirty="0" err="1">
                <a:solidFill>
                  <a:srgbClr val="374151"/>
                </a:solidFill>
                <a:latin typeface="Söhne"/>
              </a:rPr>
              <a:t>d'entraînement</a:t>
            </a:r>
            <a:r>
              <a:rPr lang="en-US" dirty="0">
                <a:solidFill>
                  <a:srgbClr val="374151"/>
                </a:solidFill>
                <a:latin typeface="Söhne"/>
              </a:rPr>
              <a:t>.</a:t>
            </a:r>
          </a:p>
          <a:p>
            <a:pPr lvl="1"/>
            <a:r>
              <a:rPr lang="en-US" dirty="0">
                <a:solidFill>
                  <a:srgbClr val="374151"/>
                </a:solidFill>
                <a:latin typeface="Söhne"/>
              </a:rPr>
              <a:t>Dataset de taille </a:t>
            </a:r>
            <a:r>
              <a:rPr lang="en-US" dirty="0" err="1">
                <a:solidFill>
                  <a:srgbClr val="374151"/>
                </a:solidFill>
                <a:latin typeface="Söhne"/>
              </a:rPr>
              <a:t>limitée</a:t>
            </a:r>
            <a:r>
              <a:rPr lang="en-US" dirty="0">
                <a:solidFill>
                  <a:srgbClr val="374151"/>
                </a:solidFill>
                <a:latin typeface="Söhne"/>
              </a:rPr>
              <a:t> : </a:t>
            </a:r>
            <a:r>
              <a:rPr lang="en-US" dirty="0" err="1">
                <a:solidFill>
                  <a:srgbClr val="374151"/>
                </a:solidFill>
                <a:latin typeface="Söhne"/>
              </a:rPr>
              <a:t>l'ensemble</a:t>
            </a:r>
            <a:r>
              <a:rPr lang="en-US" dirty="0">
                <a:solidFill>
                  <a:srgbClr val="374151"/>
                </a:solidFill>
                <a:latin typeface="Söhne"/>
              </a:rPr>
              <a:t> de </a:t>
            </a:r>
            <a:r>
              <a:rPr lang="en-US" dirty="0" err="1">
                <a:solidFill>
                  <a:srgbClr val="374151"/>
                </a:solidFill>
                <a:latin typeface="Söhne"/>
              </a:rPr>
              <a:t>données</a:t>
            </a:r>
            <a:r>
              <a:rPr lang="en-US" dirty="0">
                <a:solidFill>
                  <a:srgbClr val="374151"/>
                </a:solidFill>
                <a:latin typeface="Söhne"/>
              </a:rPr>
              <a:t> </a:t>
            </a:r>
            <a:r>
              <a:rPr lang="en-US" dirty="0" err="1">
                <a:solidFill>
                  <a:srgbClr val="374151"/>
                </a:solidFill>
                <a:latin typeface="Söhne"/>
              </a:rPr>
              <a:t>restreint</a:t>
            </a:r>
            <a:r>
              <a:rPr lang="en-US" dirty="0">
                <a:solidFill>
                  <a:srgbClr val="374151"/>
                </a:solidFill>
                <a:latin typeface="Söhne"/>
              </a:rPr>
              <a:t> </a:t>
            </a:r>
            <a:r>
              <a:rPr lang="en-US" dirty="0" err="1">
                <a:solidFill>
                  <a:srgbClr val="374151"/>
                </a:solidFill>
                <a:latin typeface="Söhne"/>
              </a:rPr>
              <a:t>peut</a:t>
            </a:r>
            <a:r>
              <a:rPr lang="en-US" dirty="0">
                <a:solidFill>
                  <a:srgbClr val="374151"/>
                </a:solidFill>
                <a:latin typeface="Söhne"/>
              </a:rPr>
              <a:t> influencer la </a:t>
            </a:r>
            <a:r>
              <a:rPr lang="en-US" dirty="0" err="1">
                <a:solidFill>
                  <a:srgbClr val="374151"/>
                </a:solidFill>
                <a:latin typeface="Söhne"/>
              </a:rPr>
              <a:t>précision</a:t>
            </a:r>
            <a:r>
              <a:rPr lang="en-US" dirty="0">
                <a:solidFill>
                  <a:srgbClr val="374151"/>
                </a:solidFill>
                <a:latin typeface="Söhne"/>
              </a:rPr>
              <a:t> et la </a:t>
            </a:r>
            <a:r>
              <a:rPr lang="en-US" dirty="0" err="1">
                <a:solidFill>
                  <a:srgbClr val="374151"/>
                </a:solidFill>
                <a:latin typeface="Söhne"/>
              </a:rPr>
              <a:t>généralisabilité</a:t>
            </a:r>
            <a:r>
              <a:rPr lang="en-US" dirty="0">
                <a:solidFill>
                  <a:srgbClr val="374151"/>
                </a:solidFill>
                <a:latin typeface="Söhne"/>
              </a:rPr>
              <a:t> du </a:t>
            </a:r>
            <a:r>
              <a:rPr lang="en-US" dirty="0" err="1">
                <a:solidFill>
                  <a:srgbClr val="374151"/>
                </a:solidFill>
                <a:latin typeface="Söhne"/>
              </a:rPr>
              <a:t>modèle</a:t>
            </a:r>
            <a:r>
              <a:rPr lang="en-US" dirty="0">
                <a:solidFill>
                  <a:srgbClr val="374151"/>
                </a:solidFill>
                <a:latin typeface="Söhne"/>
              </a:rPr>
              <a:t>.</a:t>
            </a:r>
          </a:p>
          <a:p>
            <a:pPr marL="152400" indent="0">
              <a:buNone/>
            </a:pPr>
            <a:endParaRPr lang="en-US" dirty="0">
              <a:solidFill>
                <a:srgbClr val="374151"/>
              </a:solidFill>
              <a:latin typeface="Söhne"/>
            </a:endParaRPr>
          </a:p>
          <a:p>
            <a:pPr marL="152400" indent="0">
              <a:buNone/>
            </a:pPr>
            <a:r>
              <a:rPr lang="fr-FR" dirty="0">
                <a:cs typeface="Arial"/>
                <a:sym typeface="Arial"/>
              </a:rPr>
              <a:t>Le modèle nous permettra d'orienter les décisions et d'agir de manière efficace en ce qui concerne ces structures afin d’aller vers notre objectif de réaliser une ville neutre en carbone d'ici 2050.</a:t>
            </a:r>
            <a:endParaRPr lang="en-US" dirty="0">
              <a:cs typeface="Arial"/>
              <a:sym typeface="Arial"/>
            </a:endParaRPr>
          </a:p>
          <a:p>
            <a:pPr>
              <a:spcBef>
                <a:spcPts val="1000"/>
              </a:spcBef>
            </a:pPr>
            <a:endParaRPr lang="fr-FR" dirty="0">
              <a:uFill>
                <a:noFill/>
              </a:uFill>
            </a:endParaRPr>
          </a:p>
          <a:p>
            <a:pPr marL="0" indent="0">
              <a:buFont typeface="Nunito Light"/>
              <a:buNone/>
            </a:pPr>
            <a:endParaRPr lang="en-GB" sz="1000" dirty="0">
              <a:solidFill>
                <a:srgbClr val="271A38"/>
              </a:solidFill>
              <a:latin typeface="Inter"/>
            </a:endParaRPr>
          </a:p>
        </p:txBody>
      </p:sp>
      <p:sp>
        <p:nvSpPr>
          <p:cNvPr id="8" name="Google Shape;207;p30">
            <a:extLst>
              <a:ext uri="{FF2B5EF4-FFF2-40B4-BE49-F238E27FC236}">
                <a16:creationId xmlns:a16="http://schemas.microsoft.com/office/drawing/2014/main" id="{BB5AE011-D530-F56E-7DA1-F655AFC84C5A}"/>
              </a:ext>
            </a:extLst>
          </p:cNvPr>
          <p:cNvSpPr txBox="1"/>
          <p:nvPr/>
        </p:nvSpPr>
        <p:spPr>
          <a:xfrm>
            <a:off x="176776" y="4370251"/>
            <a:ext cx="4636477" cy="85310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solidFill>
                  <a:schemeClr val="dk1"/>
                </a:solidFill>
                <a:latin typeface="Quicksand Medium"/>
                <a:ea typeface="Quicksand Medium"/>
                <a:cs typeface="Quicksand Medium"/>
                <a:sym typeface="Quicksand Medium"/>
              </a:rPr>
              <a:t>Notions </a:t>
            </a:r>
            <a:r>
              <a:rPr lang="en" sz="1000" dirty="0" err="1">
                <a:solidFill>
                  <a:schemeClr val="dk1"/>
                </a:solidFill>
                <a:latin typeface="Quicksand Medium"/>
                <a:ea typeface="Quicksand Medium"/>
                <a:cs typeface="Quicksand Medium"/>
                <a:sym typeface="Quicksand Medium"/>
              </a:rPr>
              <a:t>abordées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a:solidFill>
                  <a:schemeClr val="dk1"/>
                </a:solidFill>
                <a:uFill>
                  <a:noFill/>
                </a:uFill>
                <a:latin typeface="Quicksand"/>
                <a:ea typeface="Quicksand"/>
                <a:cs typeface="Quicksand"/>
                <a:sym typeface="Quicksand"/>
                <a:hlinkClick r:id="rId3">
                  <a:extLst>
                    <a:ext uri="{A12FA001-AC4F-418D-AE19-62706E023703}">
                      <ahyp:hlinkClr xmlns:ahyp="http://schemas.microsoft.com/office/drawing/2018/hyperlinkcolor" val="tx"/>
                    </a:ext>
                  </a:extLst>
                </a:hlinkClick>
              </a:rPr>
              <a:t>KNN imputer</a:t>
            </a:r>
            <a:r>
              <a:rPr lang="en" sz="1000" b="1" dirty="0">
                <a:solidFill>
                  <a:schemeClr val="dk1"/>
                </a:solidFill>
                <a:latin typeface="Quicksand"/>
                <a:ea typeface="Quicksand"/>
                <a:cs typeface="Quicksand"/>
                <a:sym typeface="Quicksand"/>
              </a:rPr>
              <a:t>| </a:t>
            </a:r>
            <a:r>
              <a:rPr lang="en" sz="1000" b="1" dirty="0" err="1">
                <a:solidFill>
                  <a:schemeClr val="dk1"/>
                </a:solidFill>
                <a:latin typeface="Quicksand"/>
                <a:ea typeface="Quicksand"/>
                <a:cs typeface="Quicksand"/>
                <a:sym typeface="Quicksand"/>
              </a:rPr>
              <a:t>Regréssion</a:t>
            </a:r>
            <a:r>
              <a:rPr lang="en" sz="1000" b="1" dirty="0">
                <a:solidFill>
                  <a:schemeClr val="dk1"/>
                </a:solidFill>
                <a:latin typeface="Quicksand"/>
                <a:ea typeface="Quicksand"/>
                <a:cs typeface="Quicksand"/>
                <a:sym typeface="Quicksand"/>
              </a:rPr>
              <a:t> </a:t>
            </a:r>
            <a:r>
              <a:rPr lang="en" sz="1000" b="1" dirty="0" err="1">
                <a:solidFill>
                  <a:schemeClr val="dk1"/>
                </a:solidFill>
                <a:latin typeface="Quicksand"/>
                <a:ea typeface="Quicksand"/>
                <a:cs typeface="Quicksand"/>
                <a:sym typeface="Quicksand"/>
              </a:rPr>
              <a:t>linéaire</a:t>
            </a:r>
            <a:r>
              <a:rPr lang="en" sz="1000" b="1" dirty="0">
                <a:solidFill>
                  <a:schemeClr val="dk1"/>
                </a:solidFill>
                <a:latin typeface="Quicksand"/>
                <a:ea typeface="Quicksand"/>
                <a:cs typeface="Quicksand"/>
                <a:sym typeface="Quicksand"/>
              </a:rPr>
              <a:t> | </a:t>
            </a:r>
            <a:r>
              <a:rPr lang="en" sz="1000" b="1" dirty="0" err="1">
                <a:solidFill>
                  <a:schemeClr val="dk1"/>
                </a:solidFill>
                <a:latin typeface="Quicksand"/>
                <a:ea typeface="Quicksand"/>
                <a:cs typeface="Quicksand"/>
                <a:sym typeface="Quicksand"/>
              </a:rPr>
              <a:t>GradientBooster</a:t>
            </a:r>
            <a:r>
              <a:rPr lang="en" sz="1000" b="1" dirty="0">
                <a:solidFill>
                  <a:schemeClr val="dk1"/>
                </a:solidFill>
                <a:latin typeface="Quicksand"/>
                <a:ea typeface="Quicksand"/>
                <a:cs typeface="Quicksand"/>
                <a:sym typeface="Quicksand"/>
              </a:rPr>
              <a:t> | </a:t>
            </a:r>
          </a:p>
          <a:p>
            <a:pPr marL="0" lvl="0" indent="0" algn="ctr" rtl="0">
              <a:spcBef>
                <a:spcPts val="0"/>
              </a:spcBef>
              <a:spcAft>
                <a:spcPts val="0"/>
              </a:spcAft>
              <a:buNone/>
            </a:pPr>
            <a:r>
              <a:rPr lang="en" sz="1000" b="1" dirty="0">
                <a:solidFill>
                  <a:schemeClr val="dk1"/>
                </a:solidFill>
                <a:uFill>
                  <a:noFill/>
                </a:uFill>
                <a:latin typeface="Quicksand"/>
                <a:ea typeface="Quicksand"/>
                <a:cs typeface="Quicksand"/>
                <a:sym typeface="Quicksand"/>
              </a:rPr>
              <a:t>Lasso </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rPr>
              <a:t>Ridge</a:t>
            </a:r>
            <a:r>
              <a:rPr lang="en" sz="1000" b="1" dirty="0">
                <a:solidFill>
                  <a:schemeClr val="dk1"/>
                </a:solidFill>
                <a:latin typeface="Quicksand"/>
                <a:ea typeface="Quicksand"/>
                <a:cs typeface="Quicksand"/>
                <a:sym typeface="Quicksand"/>
              </a:rPr>
              <a:t> | </a:t>
            </a:r>
          </a:p>
        </p:txBody>
      </p:sp>
      <p:sp>
        <p:nvSpPr>
          <p:cNvPr id="9" name="Google Shape;208;p30">
            <a:extLst>
              <a:ext uri="{FF2B5EF4-FFF2-40B4-BE49-F238E27FC236}">
                <a16:creationId xmlns:a16="http://schemas.microsoft.com/office/drawing/2014/main" id="{693A94F9-291D-3F70-0295-3FC5BF76DB68}"/>
              </a:ext>
            </a:extLst>
          </p:cNvPr>
          <p:cNvSpPr txBox="1"/>
          <p:nvPr/>
        </p:nvSpPr>
        <p:spPr>
          <a:xfrm>
            <a:off x="4802652" y="4320368"/>
            <a:ext cx="4083315"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000" dirty="0">
                <a:solidFill>
                  <a:schemeClr val="dk1"/>
                </a:solidFill>
                <a:latin typeface="Quicksand Medium"/>
                <a:ea typeface="Quicksand Medium"/>
                <a:cs typeface="Quicksand Medium"/>
                <a:sym typeface="Quicksand Medium"/>
              </a:rPr>
              <a:t>L</a:t>
            </a:r>
            <a:r>
              <a:rPr lang="en" sz="1000" dirty="0" err="1">
                <a:solidFill>
                  <a:schemeClr val="dk1"/>
                </a:solidFill>
                <a:latin typeface="Quicksand Medium"/>
                <a:ea typeface="Quicksand Medium"/>
                <a:cs typeface="Quicksand Medium"/>
                <a:sym typeface="Quicksand Medium"/>
              </a:rPr>
              <a:t>ibrairies</a:t>
            </a:r>
            <a:r>
              <a:rPr lang="en" sz="1000" dirty="0">
                <a:solidFill>
                  <a:schemeClr val="dk1"/>
                </a:solidFill>
                <a:latin typeface="Quicksand Medium"/>
                <a:ea typeface="Quicksand Medium"/>
                <a:cs typeface="Quicksand Medium"/>
                <a:sym typeface="Quicksand Medium"/>
              </a:rPr>
              <a:t> </a:t>
            </a:r>
            <a:r>
              <a:rPr lang="en" sz="1000" dirty="0" err="1">
                <a:solidFill>
                  <a:schemeClr val="dk1"/>
                </a:solidFill>
                <a:latin typeface="Quicksand Medium"/>
                <a:ea typeface="Quicksand Medium"/>
                <a:cs typeface="Quicksand Medium"/>
                <a:sym typeface="Quicksand Medium"/>
              </a:rPr>
              <a:t>utilisées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a:solidFill>
                  <a:schemeClr val="dk1"/>
                </a:solidFill>
                <a:uFill>
                  <a:noFill/>
                </a:uFill>
                <a:latin typeface="Quicksand"/>
                <a:ea typeface="Quicksand"/>
                <a:cs typeface="Quicksand"/>
                <a:sym typeface="Quicksand"/>
              </a:rPr>
              <a:t>Pandas</a:t>
            </a:r>
            <a:r>
              <a:rPr lang="en" sz="1000" b="1" dirty="0">
                <a:solidFill>
                  <a:schemeClr val="dk1"/>
                </a:solidFill>
                <a:latin typeface="Quicksand"/>
                <a:ea typeface="Quicksand"/>
                <a:cs typeface="Quicksand"/>
                <a:sym typeface="Quicksand"/>
              </a:rPr>
              <a:t> | </a:t>
            </a:r>
            <a:r>
              <a:rPr lang="en" sz="1000" b="1" dirty="0" err="1">
                <a:solidFill>
                  <a:schemeClr val="dk1"/>
                </a:solidFill>
                <a:uFill>
                  <a:noFill/>
                </a:uFill>
                <a:latin typeface="Quicksand"/>
                <a:ea typeface="Quicksand"/>
                <a:cs typeface="Quicksand"/>
                <a:sym typeface="Quicksand"/>
              </a:rPr>
              <a:t>Numpy</a:t>
            </a:r>
            <a:r>
              <a:rPr lang="en" sz="1000" b="1" dirty="0">
                <a:solidFill>
                  <a:schemeClr val="dk1"/>
                </a:solidFill>
                <a:latin typeface="Quicksand"/>
                <a:ea typeface="Quicksand"/>
                <a:cs typeface="Quicksand"/>
                <a:sym typeface="Quicksand"/>
              </a:rPr>
              <a:t> | </a:t>
            </a:r>
            <a:r>
              <a:rPr lang="en" sz="1000" b="1" dirty="0" err="1">
                <a:solidFill>
                  <a:schemeClr val="dk1"/>
                </a:solidFill>
                <a:uFill>
                  <a:noFill/>
                </a:uFill>
                <a:latin typeface="Quicksand"/>
                <a:ea typeface="Quicksand"/>
                <a:cs typeface="Quicksand"/>
                <a:sym typeface="Quicksand"/>
              </a:rPr>
              <a:t>Sklearn</a:t>
            </a:r>
            <a:r>
              <a:rPr lang="en" sz="1000" b="1" dirty="0">
                <a:solidFill>
                  <a:schemeClr val="dk1"/>
                </a:solidFill>
                <a:latin typeface="Quicksand"/>
                <a:ea typeface="Quicksand"/>
                <a:cs typeface="Quicksand"/>
                <a:sym typeface="Quicksand"/>
              </a:rPr>
              <a:t> | </a:t>
            </a:r>
            <a:r>
              <a:rPr lang="en" sz="1000" b="1" dirty="0" err="1">
                <a:solidFill>
                  <a:schemeClr val="dk1"/>
                </a:solidFill>
                <a:uFill>
                  <a:noFill/>
                </a:uFill>
                <a:latin typeface="Quicksand"/>
                <a:ea typeface="Quicksand"/>
                <a:cs typeface="Quicksand"/>
                <a:sym typeface="Quicksand"/>
              </a:rPr>
              <a:t>OneHotEncoder</a:t>
            </a:r>
            <a:r>
              <a:rPr lang="en" sz="1000" b="1" dirty="0">
                <a:solidFill>
                  <a:schemeClr val="dk1"/>
                </a:solidFill>
                <a:latin typeface="Quicksand"/>
                <a:ea typeface="Quicksand"/>
                <a:cs typeface="Quicksand"/>
                <a:sym typeface="Quicksand"/>
              </a:rPr>
              <a:t> | </a:t>
            </a:r>
            <a:r>
              <a:rPr lang="en" sz="1000" b="1" dirty="0">
                <a:solidFill>
                  <a:schemeClr val="dk1"/>
                </a:solidFill>
                <a:uFill>
                  <a:noFill/>
                </a:uFill>
                <a:latin typeface="Quicksand"/>
                <a:ea typeface="Quicksand"/>
                <a:cs typeface="Quicksand"/>
                <a:sym typeface="Quicksand"/>
                <a:hlinkClick r:id="rId4">
                  <a:extLst>
                    <a:ext uri="{A12FA001-AC4F-418D-AE19-62706E023703}">
                      <ahyp:hlinkClr xmlns:ahyp="http://schemas.microsoft.com/office/drawing/2018/hyperlinkcolor" val="tx"/>
                    </a:ext>
                  </a:extLst>
                </a:hlinkClick>
              </a:rPr>
              <a:t>S</a:t>
            </a:r>
            <a:r>
              <a:rPr lang="en" sz="1000" b="1" dirty="0">
                <a:solidFill>
                  <a:schemeClr val="dk1"/>
                </a:solidFill>
                <a:uFill>
                  <a:noFill/>
                </a:uFill>
                <a:latin typeface="Quicksand"/>
                <a:ea typeface="Quicksand"/>
                <a:cs typeface="Quicksand"/>
                <a:sym typeface="Quicksand"/>
              </a:rPr>
              <a:t>EABORN</a:t>
            </a:r>
            <a:r>
              <a:rPr lang="en" sz="1000" b="1" dirty="0">
                <a:solidFill>
                  <a:schemeClr val="dk1"/>
                </a:solidFill>
                <a:latin typeface="Quicksand"/>
                <a:ea typeface="Quicksand"/>
                <a:cs typeface="Quicksand"/>
                <a:sym typeface="Quicksand"/>
              </a:rPr>
              <a:t> | </a:t>
            </a:r>
            <a:r>
              <a:rPr lang="fr-FR" sz="1000" b="1" dirty="0" err="1">
                <a:solidFill>
                  <a:schemeClr val="dk1"/>
                </a:solidFill>
                <a:uFill>
                  <a:noFill/>
                </a:uFill>
                <a:latin typeface="Quicksand"/>
                <a:ea typeface="Quicksand"/>
                <a:cs typeface="Quicksand"/>
                <a:sym typeface="Quicksand"/>
              </a:rPr>
              <a:t>matplotlib</a:t>
            </a:r>
            <a:r>
              <a:rPr lang="fr-FR" sz="1000" b="1" dirty="0">
                <a:solidFill>
                  <a:schemeClr val="dk1"/>
                </a:solidFill>
                <a:uFill>
                  <a:noFill/>
                </a:uFill>
                <a:latin typeface="Quicksand"/>
                <a:ea typeface="Quicksand"/>
                <a:cs typeface="Quicksand"/>
                <a:sym typeface="Quicksand"/>
              </a:rPr>
              <a:t> | </a:t>
            </a:r>
            <a:r>
              <a:rPr lang="fr-FR" sz="1000" b="1" dirty="0" err="1">
                <a:solidFill>
                  <a:schemeClr val="dk1"/>
                </a:solidFill>
                <a:uFill>
                  <a:noFill/>
                </a:uFill>
                <a:latin typeface="Quicksand"/>
                <a:ea typeface="Quicksand"/>
                <a:cs typeface="Quicksand"/>
                <a:sym typeface="Quicksand"/>
              </a:rPr>
              <a:t>folium</a:t>
            </a:r>
            <a:endParaRPr sz="1000" b="1" dirty="0">
              <a:solidFill>
                <a:schemeClr val="dk1"/>
              </a:solidFill>
              <a:latin typeface="Quicksand"/>
              <a:ea typeface="Quicksand"/>
              <a:cs typeface="Quicksand"/>
              <a:sym typeface="Quicksand"/>
            </a:endParaRPr>
          </a:p>
        </p:txBody>
      </p:sp>
    </p:spTree>
    <p:extLst>
      <p:ext uri="{BB962C8B-B14F-4D97-AF65-F5344CB8AC3E}">
        <p14:creationId xmlns:p14="http://schemas.microsoft.com/office/powerpoint/2010/main" val="110013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M</a:t>
            </a:r>
            <a:r>
              <a:rPr lang="en" dirty="0" err="1"/>
              <a:t>erci</a:t>
            </a:r>
            <a:r>
              <a:rPr lang="en" dirty="0"/>
              <a:t> !</a:t>
            </a:r>
            <a:endParaRPr dirty="0"/>
          </a:p>
        </p:txBody>
      </p:sp>
      <p:sp>
        <p:nvSpPr>
          <p:cNvPr id="516" name="Google Shape;516;p48"/>
          <p:cNvSpPr/>
          <p:nvPr/>
        </p:nvSpPr>
        <p:spPr>
          <a:xfrm rot="5400000">
            <a:off x="5138400" y="2293495"/>
            <a:ext cx="11304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8"/>
          <p:cNvSpPr/>
          <p:nvPr/>
        </p:nvSpPr>
        <p:spPr>
          <a:xfrm>
            <a:off x="1796475" y="-900275"/>
            <a:ext cx="2184900" cy="218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8"/>
          <p:cNvSpPr/>
          <p:nvPr/>
        </p:nvSpPr>
        <p:spPr>
          <a:xfrm rot="2700000">
            <a:off x="1653673" y="576473"/>
            <a:ext cx="633002" cy="633002"/>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8"/>
          <p:cNvSpPr/>
          <p:nvPr/>
        </p:nvSpPr>
        <p:spPr>
          <a:xfrm rot="-5400000">
            <a:off x="3577267" y="-512975"/>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Minimalist Geometric Shapes Style Pitch Deck by Slidesgo">
  <a:themeElements>
    <a:clrScheme name="Personnalisé 1">
      <a:dk1>
        <a:srgbClr val="C57863"/>
      </a:dk1>
      <a:lt1>
        <a:srgbClr val="FFFBF8"/>
      </a:lt1>
      <a:dk2>
        <a:srgbClr val="E4D6C6"/>
      </a:dk2>
      <a:lt2>
        <a:srgbClr val="DDD4CE"/>
      </a:lt2>
      <a:accent1>
        <a:srgbClr val="FFFFFF"/>
      </a:accent1>
      <a:accent2>
        <a:srgbClr val="FFFFFF"/>
      </a:accent2>
      <a:accent3>
        <a:srgbClr val="FFFFFF"/>
      </a:accent3>
      <a:accent4>
        <a:srgbClr val="FFFFFF"/>
      </a:accent4>
      <a:accent5>
        <a:srgbClr val="FFFFFF"/>
      </a:accent5>
      <a:accent6>
        <a:srgbClr val="FFFFFF"/>
      </a:accent6>
      <a:hlink>
        <a:srgbClr val="453D3B"/>
      </a:hlink>
      <a:folHlink>
        <a:srgbClr val="C578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32827</TotalTime>
  <Words>3903</Words>
  <Application>Microsoft Macintosh PowerPoint</Application>
  <PresentationFormat>On-screen Show (16:9)</PresentationFormat>
  <Paragraphs>306</Paragraphs>
  <Slides>24</Slides>
  <Notes>22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24</vt:i4>
      </vt:variant>
    </vt:vector>
  </HeadingPairs>
  <TitlesOfParts>
    <vt:vector size="38" baseType="lpstr">
      <vt:lpstr>Arial</vt:lpstr>
      <vt:lpstr>Anaheim</vt:lpstr>
      <vt:lpstr>Nunito Light</vt:lpstr>
      <vt:lpstr>Söhne</vt:lpstr>
      <vt:lpstr>Poppins Medium</vt:lpstr>
      <vt:lpstr>Quicksand Medium</vt:lpstr>
      <vt:lpstr>Inter</vt:lpstr>
      <vt:lpstr>Wingdings</vt:lpstr>
      <vt:lpstr>Quicksand</vt:lpstr>
      <vt:lpstr>Chalkboard</vt:lpstr>
      <vt:lpstr>Bebas Neue</vt:lpstr>
      <vt:lpstr>Quicksand SemiBold</vt:lpstr>
      <vt:lpstr>-apple-system</vt:lpstr>
      <vt:lpstr>Minimalist Geometric Shapes Style Pitch Deck by Slidesgo</vt:lpstr>
      <vt:lpstr>Prédire l’émission de CO2 et la consommation d’énergie</vt:lpstr>
      <vt:lpstr>Introduction</vt:lpstr>
      <vt:lpstr>Timeline</vt:lpstr>
      <vt:lpstr>PowerPoint Presentation</vt:lpstr>
      <vt:lpstr>PowerPoint Presentation</vt:lpstr>
      <vt:lpstr>PowerPoint Presentation</vt:lpstr>
      <vt:lpstr>PowerPoint Presentation</vt:lpstr>
      <vt:lpstr>Modélisations et prédictions</vt:lpstr>
      <vt:lpstr>PowerPoint Presentation</vt:lpstr>
      <vt:lpstr>PowerPoint Presentation</vt:lpstr>
      <vt:lpstr>PowerPoint Presentation</vt:lpstr>
      <vt:lpstr>PowerPoint Presentation</vt:lpstr>
      <vt:lpstr>PowerPoint Presentation</vt:lpstr>
      <vt:lpstr>PowerPoint Presentation</vt:lpstr>
      <vt:lpstr>Analyse de la performance  des modèles de prédiction </vt:lpstr>
      <vt:lpstr>Analyse de la performance  des modèles de prédiction </vt:lpstr>
      <vt:lpstr>Analyse de la performance  des modèles de prédiction </vt:lpstr>
      <vt:lpstr>Analyse de la performance  des modèles de prédiction </vt:lpstr>
      <vt:lpstr>Analyse de la performance  des modèles de prédiction </vt:lpstr>
      <vt:lpstr>Analyse de la performance  des modèles de prédiction </vt:lpstr>
      <vt:lpstr>Impact de l'energieSTARScore sur la précision des prédictions</vt:lpstr>
      <vt:lpstr>Impact de l'energieSTARScore sur la précision des prédictions</vt:lpstr>
      <vt:lpstr>Interprétation des résultats et implications  pour la prévision de l'émission de CO2  et de la consommation d'énergie</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Geometric Shapes Style Pitch Deck</dc:title>
  <cp:lastModifiedBy>Laure Agrech</cp:lastModifiedBy>
  <cp:revision>405</cp:revision>
  <dcterms:modified xsi:type="dcterms:W3CDTF">2023-07-13T06:50:33Z</dcterms:modified>
</cp:coreProperties>
</file>